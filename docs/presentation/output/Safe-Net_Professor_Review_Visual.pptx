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186d4be8b4d49ee" /><Relationship Type="http://schemas.openxmlformats.org/officeDocument/2006/relationships/extended-properties" Target="/docProps/app.xml" Id="Rf84bade60df945d1" /><Relationship Type="http://schemas.openxmlformats.org/officeDocument/2006/relationships/officeDocument" Target="/ppt/presentation.xml" Id="R64ed15caca45461c" /></Relationships>
</file>

<file path=ppt/presentation.xml><?xml version="1.0" encoding="utf-8"?>
<p:presentation xmlns:p="http://schemas.openxmlformats.org/presentationml/2006/main">
  <p:sldMasterIdLst>
    <p:sldMasterId xmlns:r="http://schemas.openxmlformats.org/officeDocument/2006/relationships" id="2147483648" r:id="Ra6259a8d82d34855"/>
  </p:sldMasterIdLst>
  <p:notesMasterIdLst>
    <p:notesMasterId xmlns:r="http://schemas.openxmlformats.org/officeDocument/2006/relationships" r:id="Rdd84e4a422694491"/>
  </p:notesMasterIdLst>
  <p:sldIdLst>
    <p:sldId xmlns:r="http://schemas.openxmlformats.org/officeDocument/2006/relationships" id="256" r:id="R5468b1925aa849c7"/>
    <p:sldId xmlns:r="http://schemas.openxmlformats.org/officeDocument/2006/relationships" id="257" r:id="R38fff5ba34ac4f37"/>
    <p:sldId xmlns:r="http://schemas.openxmlformats.org/officeDocument/2006/relationships" id="258" r:id="Rd4cf7339fcef4d83"/>
    <p:sldId xmlns:r="http://schemas.openxmlformats.org/officeDocument/2006/relationships" id="259" r:id="Rf64df8464553470b"/>
    <p:sldId xmlns:r="http://schemas.openxmlformats.org/officeDocument/2006/relationships" id="260" r:id="R952604854ef74c52"/>
    <p:sldId xmlns:r="http://schemas.openxmlformats.org/officeDocument/2006/relationships" id="261" r:id="R7a62c56d58824fd1"/>
    <p:sldId xmlns:r="http://schemas.openxmlformats.org/officeDocument/2006/relationships" id="262" r:id="R955dfdce333d427e"/>
    <p:sldId xmlns:r="http://schemas.openxmlformats.org/officeDocument/2006/relationships" id="263" r:id="Rff7952badc7643d9"/>
    <p:sldId xmlns:r="http://schemas.openxmlformats.org/officeDocument/2006/relationships" id="264" r:id="R772efca9df9a43e4"/>
    <p:sldId xmlns:r="http://schemas.openxmlformats.org/officeDocument/2006/relationships" id="265" r:id="R8e8948cbb1d4458a"/>
    <p:sldId xmlns:r="http://schemas.openxmlformats.org/officeDocument/2006/relationships" id="266" r:id="R386f1c1f42084046"/>
    <p:sldId xmlns:r="http://schemas.openxmlformats.org/officeDocument/2006/relationships" id="267" r:id="Rddac59d08bfb40b1"/>
    <p:sldId xmlns:r="http://schemas.openxmlformats.org/officeDocument/2006/relationships" id="268" r:id="R02291446b3554502"/>
    <p:sldId xmlns:r="http://schemas.openxmlformats.org/officeDocument/2006/relationships" id="269" r:id="R4ae34fc739214f8c"/>
    <p:sldId xmlns:r="http://schemas.openxmlformats.org/officeDocument/2006/relationships" id="270" r:id="R4d44556f800347a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cd6101d59f44253" /><Relationship Type="http://schemas.openxmlformats.org/officeDocument/2006/relationships/slideMaster" Target="/ppt/slideMasters/slideMaster1.xml" Id="Ra6259a8d82d34855" /><Relationship Type="http://schemas.openxmlformats.org/officeDocument/2006/relationships/notesMaster" Target="/ppt/notesMasters/notesMaster1.xml" Id="Rdd84e4a422694491" /><Relationship Type="http://schemas.openxmlformats.org/officeDocument/2006/relationships/presProps" Target="/ppt/presProps.xml" Id="R5e71fad54b4b4139" /><Relationship Type="http://schemas.openxmlformats.org/officeDocument/2006/relationships/tableStyles" Target="/ppt/tableStyles.xml" Id="R36907b8e6c7447a6" /><Relationship Type="http://schemas.openxmlformats.org/officeDocument/2006/relationships/slide" Target="/ppt/slides/slide1.xml" Id="R5468b1925aa849c7" /><Relationship Type="http://schemas.openxmlformats.org/officeDocument/2006/relationships/slide" Target="/ppt/slides/slide2.xml" Id="R38fff5ba34ac4f37" /><Relationship Type="http://schemas.openxmlformats.org/officeDocument/2006/relationships/slide" Target="/ppt/slides/slide3.xml" Id="Rd4cf7339fcef4d83" /><Relationship Type="http://schemas.openxmlformats.org/officeDocument/2006/relationships/slide" Target="/ppt/slides/slide4.xml" Id="Rf64df8464553470b" /><Relationship Type="http://schemas.openxmlformats.org/officeDocument/2006/relationships/slide" Target="/ppt/slides/slide5.xml" Id="R952604854ef74c52" /><Relationship Type="http://schemas.openxmlformats.org/officeDocument/2006/relationships/slide" Target="/ppt/slides/slide6.xml" Id="R7a62c56d58824fd1" /><Relationship Type="http://schemas.openxmlformats.org/officeDocument/2006/relationships/slide" Target="/ppt/slides/slide7.xml" Id="R955dfdce333d427e" /><Relationship Type="http://schemas.openxmlformats.org/officeDocument/2006/relationships/slide" Target="/ppt/slides/slide8.xml" Id="Rff7952badc7643d9" /><Relationship Type="http://schemas.openxmlformats.org/officeDocument/2006/relationships/slide" Target="/ppt/slides/slide9.xml" Id="R772efca9df9a43e4" /><Relationship Type="http://schemas.openxmlformats.org/officeDocument/2006/relationships/slide" Target="/ppt/slides/slide10.xml" Id="R8e8948cbb1d4458a" /><Relationship Type="http://schemas.openxmlformats.org/officeDocument/2006/relationships/slide" Target="/ppt/slides/slide11.xml" Id="R386f1c1f42084046" /><Relationship Type="http://schemas.openxmlformats.org/officeDocument/2006/relationships/slide" Target="/ppt/slides/slide12.xml" Id="Rddac59d08bfb40b1" /><Relationship Type="http://schemas.openxmlformats.org/officeDocument/2006/relationships/slide" Target="/ppt/slides/slide13.xml" Id="R02291446b3554502" /><Relationship Type="http://schemas.openxmlformats.org/officeDocument/2006/relationships/slide" Target="/ppt/slides/slide14.xml" Id="R4ae34fc739214f8c" /><Relationship Type="http://schemas.openxmlformats.org/officeDocument/2006/relationships/slide" Target="/ppt/slides/slide15.xml" Id="R4d44556f800347a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59b76558fd34ee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339ff9bd4b54191" /><Relationship Type="http://schemas.openxmlformats.org/officeDocument/2006/relationships/notesMaster" Target="/ppt/notesMasters/notesMaster1.xml" Id="R099e2564412843fb" /></Relationships>
</file>

<file path=ppt/notesSlides/_rels/notesSlide2.xml.rels>&#65279;<?xml version="1.0" encoding="utf-8"?><Relationships xmlns="http://schemas.openxmlformats.org/package/2006/relationships"><Relationship Type="http://schemas.openxmlformats.org/officeDocument/2006/relationships/slide" Target="/ppt/slides/slide2.xml" Id="R517e59e589b1430b" /><Relationship Type="http://schemas.openxmlformats.org/officeDocument/2006/relationships/notesMaster" Target="/ppt/notesMasters/notesMaster1.xml" Id="R8c9d1bc246864847" /></Relationships>
</file>

<file path=ppt/notesSlides/_rels/notesSlide3.xml.rels>&#65279;<?xml version="1.0" encoding="utf-8"?><Relationships xmlns="http://schemas.openxmlformats.org/package/2006/relationships"><Relationship Type="http://schemas.openxmlformats.org/officeDocument/2006/relationships/slide" Target="/ppt/slides/slide3.xml" Id="R921d678709ea43e9" /><Relationship Type="http://schemas.openxmlformats.org/officeDocument/2006/relationships/notesMaster" Target="/ppt/notesMasters/notesMaster1.xml" Id="R3aca7522e14a47c0" /></Relationships>
</file>

<file path=ppt/notesSlides/_rels/notesSlide4.xml.rels>&#65279;<?xml version="1.0" encoding="utf-8"?><Relationships xmlns="http://schemas.openxmlformats.org/package/2006/relationships"><Relationship Type="http://schemas.openxmlformats.org/officeDocument/2006/relationships/slide" Target="/ppt/slides/slide4.xml" Id="R8d3ae8d702f74d2f" /><Relationship Type="http://schemas.openxmlformats.org/officeDocument/2006/relationships/notesMaster" Target="/ppt/notesMasters/notesMaster1.xml" Id="R8243a0914cc64a96" /></Relationships>
</file>

<file path=ppt/notesSlides/_rels/notesSlide5.xml.rels>&#65279;<?xml version="1.0" encoding="utf-8"?><Relationships xmlns="http://schemas.openxmlformats.org/package/2006/relationships"><Relationship Type="http://schemas.openxmlformats.org/officeDocument/2006/relationships/slide" Target="/ppt/slides/slide5.xml" Id="R22a2de2aa7dd4d57" /><Relationship Type="http://schemas.openxmlformats.org/officeDocument/2006/relationships/notesMaster" Target="/ppt/notesMasters/notesMaster1.xml" Id="R71fb4ca76898462c" /></Relationships>
</file>

<file path=ppt/notesSlides/_rels/notesSlide6.xml.rels>&#65279;<?xml version="1.0" encoding="utf-8"?><Relationships xmlns="http://schemas.openxmlformats.org/package/2006/relationships"><Relationship Type="http://schemas.openxmlformats.org/officeDocument/2006/relationships/slide" Target="/ppt/slides/slide6.xml" Id="R75f40211fff34913" /><Relationship Type="http://schemas.openxmlformats.org/officeDocument/2006/relationships/notesMaster" Target="/ppt/notesMasters/notesMaster1.xml" Id="R29b7d19833a54490" /></Relationships>
</file>

<file path=ppt/notesSlides/_rels/notesSlide7.xml.rels>&#65279;<?xml version="1.0" encoding="utf-8"?><Relationships xmlns="http://schemas.openxmlformats.org/package/2006/relationships"><Relationship Type="http://schemas.openxmlformats.org/officeDocument/2006/relationships/slide" Target="/ppt/slides/slide7.xml" Id="R0c8a1d88ade84ea8" /><Relationship Type="http://schemas.openxmlformats.org/officeDocument/2006/relationships/notesMaster" Target="/ppt/notesMasters/notesMaster1.xml" Id="R8044b05842cb4083" /></Relationships>
</file>

<file path=ppt/notesSlides/_rels/notesSlide8.xml.rels>&#65279;<?xml version="1.0" encoding="utf-8"?><Relationships xmlns="http://schemas.openxmlformats.org/package/2006/relationships"><Relationship Type="http://schemas.openxmlformats.org/officeDocument/2006/relationships/slide" Target="/ppt/slides/slide8.xml" Id="Rf88c0f1bc89a42a0" /><Relationship Type="http://schemas.openxmlformats.org/officeDocument/2006/relationships/notesMaster" Target="/ppt/notesMasters/notesMaster1.xml" Id="R05ef77a9916f41fe" /></Relationships>
</file>

<file path=ppt/notesSlides/_rels/notesSlide9.xml.rels>&#65279;<?xml version="1.0" encoding="utf-8"?><Relationships xmlns="http://schemas.openxmlformats.org/package/2006/relationships"><Relationship Type="http://schemas.openxmlformats.org/officeDocument/2006/relationships/slide" Target="/ppt/slides/slide9.xml" Id="Re844f9b3ead54a93" /><Relationship Type="http://schemas.openxmlformats.org/officeDocument/2006/relationships/notesMaster" Target="/ppt/notesMasters/notesMaster1.xml" Id="R4b86f3872b034e7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38001f77fba40b4" /><Relationship Type="http://schemas.openxmlformats.org/officeDocument/2006/relationships/notesMaster" Target="/ppt/notesMasters/notesMaster1.xml" Id="R41b2f5ee69054e6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77b75b1700e42e4" /><Relationship Type="http://schemas.openxmlformats.org/officeDocument/2006/relationships/notesMaster" Target="/ppt/notesMasters/notesMaster1.xml" Id="R1c78440b2159460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b6d29f8dd6d46ad" /><Relationship Type="http://schemas.openxmlformats.org/officeDocument/2006/relationships/notesMaster" Target="/ppt/notesMasters/notesMaster1.xml" Id="R56e9864f6d8141a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0016a1d3617440a" /><Relationship Type="http://schemas.openxmlformats.org/officeDocument/2006/relationships/notesMaster" Target="/ppt/notesMasters/notesMaster1.xml" Id="Rdacf1cd60d0f4ca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8ce10456ea6432f" /><Relationship Type="http://schemas.openxmlformats.org/officeDocument/2006/relationships/notesMaster" Target="/ppt/notesMasters/notesMaster1.xml" Id="Rd890eeb0a611434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79f6e7d2df14173" /><Relationship Type="http://schemas.openxmlformats.org/officeDocument/2006/relationships/notesMaster" Target="/ppt/notesMasters/notesMaster1.xml" Id="R51a9f87f475b470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Safe-Net is a local engineering prototype. This deck requests methodological feedback. It does not claim a deployed service, independent detection accuracy or a completed study. Presenter: Volkov Artem Aleksandrovich, high-school student. Local source commit 8d1b2dc. Evidence: docs/audits/LOCAL_VERIFICATION_2026-09-30.md. Repository: https://github.com/safe-net-org/Safe-Net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Hypothesis only. No human study or learning-gain measurement has been conducted. Protocol: docs/RESEARCH_PROTOCOL_DRAFT.md.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diagram shows actual components. The learning API persists progress in PostgreSQL. The web scanner and extension import guard-core directly. The optional Python service mirrors the rules and can add a model opinion. It is not a shared binary. Sources: docs/ARCHITECTURE.md; packages/guard-core/src; extension/src; server/src.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directory responsibilities: client (Next.js), server (NestJS and Prisma), extension (WXT and Manifest V3), packages/guard-core (TypeScript), ml-service (FastAPI), server/content (versioned content). Project author/presenter: Volkov Artem Aleksandrovich. Third-party model attribution: ml-service/MODEL_CARD.md. AI assistance is described in the package README; this slide does not attribute upstream code or model training to the presenter.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source commit 8d1b2dc. Evidence: docs/audits/LOCAL_VERIFICATION_2026-09-30.md. Repository: https://github.com/safe-net-org/Safe-Net The screenshot is a synthetic local learner completing the VPN course, not participant data. The correct answers were known for this engineering acceptance check. The 100% result measures the test flow, not learning improvement.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from the synthetic local learner. The task had already been completed; answering it again awarded 0 XP. This is an engineering demonstration, not participant data or evidence of learning gains. Sources: client lesson/task dialog and server task-answer evaluator.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phishing simulator sends selected field/text spans. The API evaluates answers against an answer key excluded from the learner payload. Completion and XP awards persist per user. Sources: server/src/learning/answers/task-answer.evaluator.ts; server/src/learning/services/progress.service.ts; tools/test-http-integration.cjs. Diagram is an illustrative flow, not a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local scanner screenshot, 30 September 2026. Input https://micros0ft-alerts.com/login; score 88, danger, brand_token_leet and suspicious_word. Sources: packages/guard-core/src/model/score.ts and src/lib/url-analyzer.ts. A synthetic illustration, not an independently labelled benchmark. The example is scored as text; it is not visited.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certificate for a synthetic local learner. Certificate belongs to the user account and records completion within SafeNet, not professional accreditation. API constraints prevent duplicate certificates. The score and certificate are acceptance-flow evidence, not a study outcome. Sources: server learning services; local verification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extension/src/shared/lib/url-privacy.ts; extension/src/shared/i18n/messages.ts; ml-service/MODEL_CARD.md; packages/guard-core/src/model/blend.ts. Default local rule analysis. Optional model endpoint receives scheme, host, port, path and query names; removes credentials, query values and fragment. Host and path can still be sensitive. Upstream checkpoint is ealvaradob/bert-finetuned-phishing pinned to fa8fb73a007174c410ab7160d4e4c6e6b8d998d4. No claim that Artem trained BERT.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source commit 8d1b2dc. Evidence: docs/audits/LOCAL_VERIFICATION_2026-09-30.md. Repository: https://github.com/safe-net-org/Safe-Net Counts are engineering checks, not scientific results. The 30 curated URLs test TypeScript/Python rule parity, not real-world accuracy. All configured local checks passed before these presentation-only files were created.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participants recruited, no human outcome dataset, no independent detector benchmark. Remaining release checks documented in FIX.md and docs/EVIDENCE_AND_LIMITATIONS.md. Local SMTP capture does not prove delivery to an external inbox. Installed Chrome extension behavior and hosted CI remain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Design proposal, not approved or conducted research. Source: docs/RESEARCH_PROTOCOL_DRAFT.md. Random assignment and equal duration. Distinct domains and templates across baseline, immediate and delayed item sets. Delayed interval and sample size need justification before collection. Prefer an adult pilot with appropriate review/consent before minors. Freeze exclusions, missingness handling and primary outcome.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independent detector experiment, not an existing result. Distinguish detector evaluation from the learner study. Public dataset release depends on licensing, safety and privacy. Do not publish live malicious links or personal information. All future outcome numbers must derive from actual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request for narrow methodological feedback, not a request for a recommendation, endorsement, admissions support or guaranteed supervision. Repo link is source entry point, not a claim that unpublished local fixes are visible on GitHub. Local source commit: 8d1b2dc.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3981db73683466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29ba01335964121" /><Relationship Type="http://schemas.openxmlformats.org/officeDocument/2006/relationships/slideLayout" Target="/ppt/slideLayouts/slideLayout1.xml" Id="R0efce854a16f4ed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efce854a16f4ed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efa0f2ff34f46f2" /><Relationship Type="http://schemas.openxmlformats.org/officeDocument/2006/relationships/image" Target="/ppt/media/image.jpeg" Id="R3b14b9907cf24d40" /><Relationship Type="http://schemas.openxmlformats.org/officeDocument/2006/relationships/notesSlide" Target="/ppt/notesSlides/notesSlide1.xml" Id="R2ea984f9af844d1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9def197b98c41cd" /><Relationship Type="http://schemas.openxmlformats.org/officeDocument/2006/relationships/notesSlide" Target="/ppt/notesSlides/notesSlide2.xml" Id="R75c817a11d96474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3bfd8ac513b49b9" /><Relationship Type="http://schemas.openxmlformats.org/officeDocument/2006/relationships/notesSlide" Target="/ppt/notesSlides/notesSlide3.xml" Id="R3d1c2d05f9c34a4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dcc5d905279457c" /><Relationship Type="http://schemas.openxmlformats.org/officeDocument/2006/relationships/notesSlide" Target="/ppt/notesSlides/notesSlide4.xml" Id="Ree29e5d1a3c7402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1371c282b5a4aa2" /><Relationship Type="http://schemas.openxmlformats.org/officeDocument/2006/relationships/image" Target="/ppt/media/image2.jpeg" Id="R4fbed25c91724206" /><Relationship Type="http://schemas.openxmlformats.org/officeDocument/2006/relationships/notesSlide" Target="/ppt/notesSlides/notesSlide5.xml" Id="Rd61bfbf36452486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4a3868d03a84ac1" /><Relationship Type="http://schemas.openxmlformats.org/officeDocument/2006/relationships/image" Target="/ppt/media/image3.jpeg" Id="R0c8782cc1bcb4a26" /><Relationship Type="http://schemas.openxmlformats.org/officeDocument/2006/relationships/image" Target="/ppt/media/image4.jpeg" Id="Rb563bee845da4df8" /><Relationship Type="http://schemas.openxmlformats.org/officeDocument/2006/relationships/notesSlide" Target="/ppt/notesSlides/notesSlide6.xml" Id="R2751755321b24d2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c76cea556f84e48" /><Relationship Type="http://schemas.openxmlformats.org/officeDocument/2006/relationships/notesSlide" Target="/ppt/notesSlides/notesSlide7.xml" Id="Rda55ca4f1a46433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9f73098582a4c26" /><Relationship Type="http://schemas.openxmlformats.org/officeDocument/2006/relationships/image" Target="/ppt/media/image5.jpeg" Id="Ra2e03c5ca2364b44" /><Relationship Type="http://schemas.openxmlformats.org/officeDocument/2006/relationships/notesSlide" Target="/ppt/notesSlides/notesSlide8.xml" Id="R25a179ce5cfe402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d2bfc9d865245dc" /><Relationship Type="http://schemas.openxmlformats.org/officeDocument/2006/relationships/image" Target="/ppt/media/image6.jpeg" Id="R45cb34fdd1d2436d" /><Relationship Type="http://schemas.openxmlformats.org/officeDocument/2006/relationships/notesSlide" Target="/ppt/notesSlides/notesSlide9.xml" Id="Ra0f39253dc40453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5a3adb1d22f4a67" /><Relationship Type="http://schemas.openxmlformats.org/officeDocument/2006/relationships/notesSlide" Target="/ppt/notesSlides/notesSlide10.xml" Id="Ra942706d5ea8431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3b38af9a5be45a3" /><Relationship Type="http://schemas.openxmlformats.org/officeDocument/2006/relationships/notesSlide" Target="/ppt/notesSlides/notesSlide11.xml" Id="Rec5f87b407c341d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462b087a2914b7a" /><Relationship Type="http://schemas.openxmlformats.org/officeDocument/2006/relationships/notesSlide" Target="/ppt/notesSlides/notesSlide12.xml" Id="R1229262fbdd845a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d471648c3f2458f" /><Relationship Type="http://schemas.openxmlformats.org/officeDocument/2006/relationships/notesSlide" Target="/ppt/notesSlides/notesSlide13.xml" Id="R0c34937bef96457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240863c0c3a4efd" /><Relationship Type="http://schemas.openxmlformats.org/officeDocument/2006/relationships/notesSlide" Target="/ppt/notesSlides/notesSlide14.xml" Id="R4c3d7f3d583c415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4a458e312f5482b" /><Relationship Type="http://schemas.openxmlformats.org/officeDocument/2006/relationships/notesSlide" Target="/ppt/notesSlides/notesSlide15.xml" Id="R80b56cdbf99a4894" /></Relationships>
</file>

<file path=ppt/slides/slide1.xml><?xml version="1.0" encoding="utf-8"?>
<p:sld xmlns:p="http://schemas.openxmlformats.org/presentationml/2006/main">
  <p:cSld>
    <p:bg>
      <p:bgPr>
        <a:solidFill xmlns:a="http://schemas.openxmlformats.org/drawingml/2006/main">
          <a:srgbClr val="101E2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6F01DB0-6C93-4968-AB90-BC6AF42A91FC}"/>
              </a:ext>
            </a:extLst>
          </p:cNvPr>
          <p:cNvSpPr>
            <a:spLocks xmlns:a="http://schemas.openxmlformats.org/drawingml/2006/main" noGrp="1"/>
          </p:cNvSpPr>
          <p:nvPr/>
        </p:nvSpPr>
        <p:spPr>
          <a:xfrm xmlns:a="http://schemas.openxmlformats.org/drawingml/2006/main">
            <a:off x="111442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B7E6C2"/>
                </a:solidFill>
                <a:latin typeface="Helvetica Neue"/>
                <a:ea typeface="Helvetica Neue"/>
                <a:cs typeface="Helvetica Neue"/>
              </a:defRPr>
            </a:pPr>
            <a:r>
              <a:rPr sz="1200" b="0">
                <a:solidFill>
                  <a:srgbClr val="B7E6C2"/>
                </a:solidFill>
                <a:latin typeface="Helvetica Neue"/>
                <a:ea typeface="Helvetica Neue"/>
                <a:cs typeface="Helvetica Neue"/>
              </a:rPr>
              <a:t>01</a:t>
            </a:r>
          </a:p>
        </p:txBody>
      </p:sp>
      <p:sp>
        <p:nvSpPr>
          <p:cNvPr id="2" name="">
            <a:extLst xmlns:a="http://schemas.openxmlformats.org/drawingml/2006/main">
              <a:ext uri="{FF2B5EF4-FFF2-40B4-BE49-F238E27FC236}">
                <a16:creationId xmlns:a16="http://schemas.microsoft.com/office/drawing/2014/main" id="{24642C16-D203-49C3-92B8-46182A9A0F18}"/>
              </a:ext>
            </a:extLst>
          </p:cNvPr>
          <p:cNvSpPr>
            <a:spLocks xmlns:a="http://schemas.openxmlformats.org/drawingml/2006/main" noGrp="1"/>
          </p:cNvSpPr>
          <p:nvPr/>
        </p:nvSpPr>
        <p:spPr>
          <a:xfrm xmlns:a="http://schemas.openxmlformats.org/drawingml/2006/main">
            <a:off x="609600" y="6858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B7E6C2"/>
                </a:solidFill>
                <a:latin typeface="Helvetica Neue"/>
                <a:ea typeface="Helvetica Neue"/>
                <a:cs typeface="Helvetica Neue"/>
              </a:defRPr>
            </a:pPr>
            <a:r>
              <a:rPr sz="1500" b="0">
                <a:solidFill>
                  <a:srgbClr val="B7E6C2"/>
                </a:solidFill>
                <a:latin typeface="Helvetica Neue"/>
                <a:ea typeface="Helvetica Neue"/>
                <a:cs typeface="Helvetica Neue"/>
              </a:rPr>
              <a:t>STUDENT PROJECT / SEPTEMBER 2026</a:t>
            </a:r>
          </a:p>
        </p:txBody>
      </p:sp>
      <p:sp>
        <p:nvSpPr>
          <p:cNvPr id="3" name="">
            <a:extLst xmlns:a="http://schemas.openxmlformats.org/drawingml/2006/main">
              <a:ext uri="{FF2B5EF4-FFF2-40B4-BE49-F238E27FC236}">
                <a16:creationId xmlns:a16="http://schemas.microsoft.com/office/drawing/2014/main" id="{D6F497BA-E3F4-46CB-8A39-98824DD3502E}"/>
              </a:ext>
            </a:extLst>
          </p:cNvPr>
          <p:cNvSpPr>
            <a:spLocks xmlns:a="http://schemas.openxmlformats.org/drawingml/2006/main" noGrp="1"/>
          </p:cNvSpPr>
          <p:nvPr/>
        </p:nvSpPr>
        <p:spPr>
          <a:xfrm xmlns:a="http://schemas.openxmlformats.org/drawingml/2006/main">
            <a:off x="609600" y="1762125"/>
            <a:ext cx="5143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6600" b="1">
                <a:solidFill>
                  <a:srgbClr val="FFFFFF"/>
                </a:solidFill>
                <a:latin typeface="Helvetica Neue"/>
                <a:ea typeface="Helvetica Neue"/>
                <a:cs typeface="Helvetica Neue"/>
              </a:defRPr>
            </a:pPr>
            <a:r>
              <a:rPr sz="6600" b="1">
                <a:solidFill>
                  <a:srgbClr val="FFFFFF"/>
                </a:solidFill>
                <a:latin typeface="Helvetica Neue"/>
                <a:ea typeface="Helvetica Neue"/>
                <a:cs typeface="Helvetica Neue"/>
              </a:rPr>
              <a:t>Safe-Net</a:t>
            </a:r>
          </a:p>
        </p:txBody>
      </p:sp>
      <p:sp>
        <p:nvSpPr>
          <p:cNvPr id="4" name="">
            <a:extLst xmlns:a="http://schemas.openxmlformats.org/drawingml/2006/main">
              <a:ext uri="{FF2B5EF4-FFF2-40B4-BE49-F238E27FC236}">
                <a16:creationId xmlns:a16="http://schemas.microsoft.com/office/drawing/2014/main" id="{09ACBC27-0B47-4AA7-AE1A-AE53A2DD221B}"/>
              </a:ext>
            </a:extLst>
          </p:cNvPr>
          <p:cNvSpPr>
            <a:spLocks xmlns:a="http://schemas.openxmlformats.org/drawingml/2006/main" noGrp="1"/>
          </p:cNvSpPr>
          <p:nvPr/>
        </p:nvSpPr>
        <p:spPr>
          <a:xfrm xmlns:a="http://schemas.openxmlformats.org/drawingml/2006/main">
            <a:off x="647700" y="3114675"/>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925" b="0">
                <a:solidFill>
                  <a:srgbClr val="B7E6C2"/>
                </a:solidFill>
                <a:latin typeface="Helvetica Neue"/>
                <a:ea typeface="Helvetica Neue"/>
                <a:cs typeface="Helvetica Neue"/>
              </a:defRPr>
            </a:pPr>
            <a:r>
              <a:rPr sz="2925" b="0">
                <a:solidFill>
                  <a:srgbClr val="B7E6C2"/>
                </a:solidFill>
                <a:latin typeface="Helvetica Neue"/>
                <a:ea typeface="Helvetica Neue"/>
                <a:cs typeface="Helvetica Neue"/>
              </a:rPr>
              <a:t>Cybersecurity practice.</a:t>
            </a:r>
          </a:p>
          <a:p xmlns:a="http://schemas.openxmlformats.org/drawingml/2006/main">
            <a:pPr>
              <a:defRPr sz="2925" b="0">
                <a:solidFill>
                  <a:srgbClr val="B7E6C2"/>
                </a:solidFill>
                <a:latin typeface="Helvetica Neue"/>
                <a:ea typeface="Helvetica Neue"/>
                <a:cs typeface="Helvetica Neue"/>
              </a:defRPr>
            </a:pPr>
            <a:r>
              <a:rPr sz="2925" b="0">
                <a:solidFill>
                  <a:srgbClr val="B7E6C2"/>
                </a:solidFill>
                <a:latin typeface="Helvetica Neue"/>
                <a:ea typeface="Helvetica Neue"/>
                <a:cs typeface="Helvetica Neue"/>
              </a:rPr>
              <a:t>URL warnings explained.</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3b14b9907cf24d40"/>
          <a:stretch xmlns:a="http://schemas.openxmlformats.org/drawingml/2006/main"/>
        </p:blipFill>
        <p:spPr>
          <a:xfrm xmlns:a="http://schemas.openxmlformats.org/drawingml/2006/main">
            <a:off x="5972175" y="1840706"/>
            <a:ext cx="5715000" cy="3214688"/>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9702D25-3DC2-416E-AE51-2413FFDE7F9E}"/>
              </a:ext>
            </a:extLst>
          </p:cNvPr>
          <p:cNvSpPr>
            <a:spLocks xmlns:a="http://schemas.openxmlformats.org/drawingml/2006/main" noGrp="1"/>
          </p:cNvSpPr>
          <p:nvPr/>
        </p:nvSpPr>
        <p:spPr>
          <a:xfrm xmlns:a="http://schemas.openxmlformats.org/drawingml/2006/main">
            <a:off x="609600" y="5381625"/>
            <a:ext cx="10953750" cy="0"/>
          </a:xfrm>
          <a:prstGeom xmlns:a="http://schemas.openxmlformats.org/drawingml/2006/main" prst="line">
            <a:avLst/>
          </a:prstGeom>
          <a:noFill xmlns:a="http://schemas.openxmlformats.org/drawingml/2006/main"/>
          <a:ln xmlns:a="http://schemas.openxmlformats.org/drawingml/2006/main" w="9525">
            <a:solidFill>
              <a:srgbClr val="53616A"/>
            </a:solidFill>
          </a:ln>
        </p:spPr>
      </p:sp>
      <p:sp>
        <p:nvSpPr>
          <p:cNvPr id="7" name="">
            <a:extLst xmlns:a="http://schemas.openxmlformats.org/drawingml/2006/main">
              <a:ext uri="{FF2B5EF4-FFF2-40B4-BE49-F238E27FC236}">
                <a16:creationId xmlns:a16="http://schemas.microsoft.com/office/drawing/2014/main" id="{5856A2C8-23DE-4010-A99E-5F509AE0A77B}"/>
              </a:ext>
            </a:extLst>
          </p:cNvPr>
          <p:cNvSpPr>
            <a:spLocks xmlns:a="http://schemas.openxmlformats.org/drawingml/2006/main" noGrp="1"/>
          </p:cNvSpPr>
          <p:nvPr/>
        </p:nvSpPr>
        <p:spPr>
          <a:xfrm xmlns:a="http://schemas.openxmlformats.org/drawingml/2006/main">
            <a:off x="647700" y="568642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Volkov Artem Aleksandrovich</a:t>
            </a:r>
          </a:p>
        </p:txBody>
      </p:sp>
      <p:sp>
        <p:nvSpPr>
          <p:cNvPr id="8" name="">
            <a:extLst xmlns:a="http://schemas.openxmlformats.org/drawingml/2006/main">
              <a:ext uri="{FF2B5EF4-FFF2-40B4-BE49-F238E27FC236}">
                <a16:creationId xmlns:a16="http://schemas.microsoft.com/office/drawing/2014/main" id="{604E5090-29D2-4D2E-88F5-41E5C1BFCA56}"/>
              </a:ext>
            </a:extLst>
          </p:cNvPr>
          <p:cNvSpPr>
            <a:spLocks xmlns:a="http://schemas.openxmlformats.org/drawingml/2006/main" noGrp="1"/>
          </p:cNvSpPr>
          <p:nvPr/>
        </p:nvSpPr>
        <p:spPr>
          <a:xfrm xmlns:a="http://schemas.openxmlformats.org/drawingml/2006/main">
            <a:off x="647700" y="6200775"/>
            <a:ext cx="971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B7E6C2"/>
                </a:solidFill>
                <a:latin typeface="Helvetica Neue"/>
                <a:ea typeface="Helvetica Neue"/>
                <a:cs typeface="Helvetica Neue"/>
              </a:defRPr>
            </a:pPr>
            <a:r>
              <a:rPr sz="1500" b="0">
                <a:solidFill>
                  <a:srgbClr val="B7E6C2"/>
                </a:solidFill>
                <a:latin typeface="Helvetica Neue"/>
                <a:ea typeface="Helvetica Neue"/>
                <a:cs typeface="Helvetica Neue"/>
              </a:rPr>
              <a:t>Learning web app  ·  Guard extension  ·  Local prototype</a:t>
            </a:r>
          </a:p>
        </p:txBody>
      </p:sp>
    </p:spTree>
    <p:extLst>
      <p:ext uri="{BB962C8B-B14F-4D97-AF65-F5344CB8AC3E}">
        <p14:creationId xmlns:p14="http://schemas.microsoft.com/office/powerpoint/2010/main" val="835517134"/>
      </p:ext>
    </p:extLst>
  </p:cSld>
</p:sld>
</file>

<file path=ppt/slides/slide2.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F52ECFC-9209-4EE7-BD0E-D8194E5DC8FF}"/>
              </a:ext>
            </a:extLst>
          </p:cNvPr>
          <p:cNvSpPr>
            <a:spLocks xmlns:a="http://schemas.openxmlformats.org/drawingml/2006/main" noGrp="1"/>
          </p:cNvSpPr>
          <p:nvPr/>
        </p:nvSpPr>
        <p:spPr>
          <a:xfrm xmlns:a="http://schemas.openxmlformats.org/drawingml/2006/main">
            <a:off x="609600" y="51435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162C3D"/>
                </a:solidFill>
                <a:latin typeface="Helvetica Neue"/>
                <a:ea typeface="Helvetica Neue"/>
                <a:cs typeface="Helvetica Neue"/>
              </a:defRPr>
            </a:pPr>
            <a:r>
              <a:rPr sz="3450" b="1">
                <a:solidFill>
                  <a:srgbClr val="162C3D"/>
                </a:solidFill>
                <a:latin typeface="Helvetica Neue"/>
                <a:ea typeface="Helvetica Neue"/>
                <a:cs typeface="Helvetica Neue"/>
              </a:rPr>
              <a:t>The research question</a:t>
            </a:r>
          </a:p>
        </p:txBody>
      </p:sp>
      <p:sp>
        <p:nvSpPr>
          <p:cNvPr id="2" name="">
            <a:extLst xmlns:a="http://schemas.openxmlformats.org/drawingml/2006/main">
              <a:ext uri="{FF2B5EF4-FFF2-40B4-BE49-F238E27FC236}">
                <a16:creationId xmlns:a16="http://schemas.microsoft.com/office/drawing/2014/main" id="{766A14BE-C888-4B12-BE5A-2EF9BB80F91E}"/>
              </a:ext>
            </a:extLst>
          </p:cNvPr>
          <p:cNvSpPr>
            <a:spLocks xmlns:a="http://schemas.openxmlformats.org/drawingml/2006/main" noGrp="1"/>
          </p:cNvSpPr>
          <p:nvPr/>
        </p:nvSpPr>
        <p:spPr>
          <a:xfrm xmlns:a="http://schemas.openxmlformats.org/drawingml/2006/main">
            <a:off x="111442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53616A"/>
                </a:solidFill>
                <a:latin typeface="Helvetica Neue"/>
                <a:ea typeface="Helvetica Neue"/>
                <a:cs typeface="Helvetica Neue"/>
              </a:defRPr>
            </a:pPr>
            <a:r>
              <a:rPr sz="1200" b="0">
                <a:solidFill>
                  <a:srgbClr val="53616A"/>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2BE54CF7-4A23-4219-8C2E-D9333A28D141}"/>
              </a:ext>
            </a:extLst>
          </p:cNvPr>
          <p:cNvSpPr>
            <a:spLocks xmlns:a="http://schemas.openxmlformats.org/drawingml/2006/main" noGrp="1"/>
          </p:cNvSpPr>
          <p:nvPr/>
        </p:nvSpPr>
        <p:spPr>
          <a:xfrm xmlns:a="http://schemas.openxmlformats.org/drawingml/2006/main">
            <a:off x="609600" y="1724025"/>
            <a:ext cx="108394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200" b="1">
                <a:solidFill>
                  <a:srgbClr val="162C3D"/>
                </a:solidFill>
                <a:latin typeface="Helvetica Neue"/>
                <a:ea typeface="Helvetica Neue"/>
                <a:cs typeface="Helvetica Neue"/>
              </a:defRPr>
            </a:pPr>
            <a:r>
              <a:rPr sz="4200" b="1">
                <a:solidFill>
                  <a:srgbClr val="162C3D"/>
                </a:solidFill>
                <a:latin typeface="Helvetica Neue"/>
                <a:ea typeface="Helvetica Neue"/>
                <a:cs typeface="Helvetica Neue"/>
              </a:rPr>
              <a:t>Can practice with explanations improve</a:t>
            </a:r>
          </a:p>
          <a:p xmlns:a="http://schemas.openxmlformats.org/drawingml/2006/main">
            <a:pPr>
              <a:defRPr sz="4200" b="1">
                <a:solidFill>
                  <a:srgbClr val="162C3D"/>
                </a:solidFill>
                <a:latin typeface="Helvetica Neue"/>
                <a:ea typeface="Helvetica Neue"/>
                <a:cs typeface="Helvetica Neue"/>
              </a:defRPr>
            </a:pPr>
            <a:r>
              <a:rPr sz="4200" b="1">
                <a:solidFill>
                  <a:srgbClr val="162C3D"/>
                </a:solidFill>
                <a:latin typeface="Helvetica Neue"/>
                <a:ea typeface="Helvetica Neue"/>
                <a:cs typeface="Helvetica Neue"/>
              </a:rPr>
              <a:t>recognition of unfamiliar phishing cues?</a:t>
            </a:r>
          </a:p>
        </p:txBody>
      </p:sp>
      <p:sp>
        <p:nvSpPr>
          <p:cNvPr id="4" name="">
            <a:extLst xmlns:a="http://schemas.openxmlformats.org/drawingml/2006/main">
              <a:ext uri="{FF2B5EF4-FFF2-40B4-BE49-F238E27FC236}">
                <a16:creationId xmlns:a16="http://schemas.microsoft.com/office/drawing/2014/main" id="{76DC2ABB-EB45-4906-BF43-2361D4AB50F6}"/>
              </a:ext>
            </a:extLst>
          </p:cNvPr>
          <p:cNvSpPr>
            <a:spLocks xmlns:a="http://schemas.openxmlformats.org/drawingml/2006/main" noGrp="1"/>
          </p:cNvSpPr>
          <p:nvPr/>
        </p:nvSpPr>
        <p:spPr>
          <a:xfrm xmlns:a="http://schemas.openxmlformats.org/drawingml/2006/main">
            <a:off x="609600" y="3886200"/>
            <a:ext cx="10953750" cy="0"/>
          </a:xfrm>
          <a:prstGeom xmlns:a="http://schemas.openxmlformats.org/drawingml/2006/main" prst="line">
            <a:avLst/>
          </a:prstGeom>
          <a:noFill xmlns:a="http://schemas.openxmlformats.org/drawingml/2006/main"/>
          <a:ln xmlns:a="http://schemas.openxmlformats.org/drawingml/2006/main" w="9525">
            <a:solidFill>
              <a:srgbClr val="CAD3CF"/>
            </a:solidFill>
          </a:ln>
        </p:spPr>
      </p:sp>
      <p:sp>
        <p:nvSpPr>
          <p:cNvPr id="5" name="">
            <a:extLst xmlns:a="http://schemas.openxmlformats.org/drawingml/2006/main">
              <a:ext uri="{FF2B5EF4-FFF2-40B4-BE49-F238E27FC236}">
                <a16:creationId xmlns:a16="http://schemas.microsoft.com/office/drawing/2014/main" id="{02751919-1905-4212-9CF8-63A9AE1F9674}"/>
              </a:ext>
            </a:extLst>
          </p:cNvPr>
          <p:cNvSpPr>
            <a:spLocks xmlns:a="http://schemas.openxmlformats.org/drawingml/2006/main" noGrp="1"/>
          </p:cNvSpPr>
          <p:nvPr/>
        </p:nvSpPr>
        <p:spPr>
          <a:xfrm xmlns:a="http://schemas.openxmlformats.org/drawingml/2006/main">
            <a:off x="609600" y="4305300"/>
            <a:ext cx="371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247A64"/>
                </a:solidFill>
                <a:latin typeface="Helvetica Neue"/>
                <a:ea typeface="Helvetica Neue"/>
                <a:cs typeface="Helvetica Neue"/>
              </a:defRPr>
            </a:pPr>
            <a:r>
              <a:rPr sz="1950" b="1">
                <a:solidFill>
                  <a:srgbClr val="247A64"/>
                </a:solidFill>
                <a:latin typeface="Helvetica Neue"/>
                <a:ea typeface="Helvetica Neue"/>
                <a:cs typeface="Helvetica Neue"/>
              </a:rPr>
              <a:t>Proposed comparison</a:t>
            </a:r>
          </a:p>
        </p:txBody>
      </p:sp>
      <p:sp>
        <p:nvSpPr>
          <p:cNvPr id="6" name="">
            <a:extLst xmlns:a="http://schemas.openxmlformats.org/drawingml/2006/main">
              <a:ext uri="{FF2B5EF4-FFF2-40B4-BE49-F238E27FC236}">
                <a16:creationId xmlns:a16="http://schemas.microsoft.com/office/drawing/2014/main" id="{8B4C3176-3998-405F-80A7-BB546A373843}"/>
              </a:ext>
            </a:extLst>
          </p:cNvPr>
          <p:cNvSpPr>
            <a:spLocks xmlns:a="http://schemas.openxmlformats.org/drawingml/2006/main" noGrp="1"/>
          </p:cNvSpPr>
          <p:nvPr/>
        </p:nvSpPr>
        <p:spPr>
          <a:xfrm xmlns:a="http://schemas.openxmlformats.org/drawingml/2006/main">
            <a:off x="609600" y="4819650"/>
            <a:ext cx="10477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0">
                <a:solidFill>
                  <a:srgbClr val="162C3D"/>
                </a:solidFill>
                <a:latin typeface="Helvetica Neue"/>
                <a:ea typeface="Helvetica Neue"/>
                <a:cs typeface="Helvetica Neue"/>
              </a:defRPr>
            </a:pPr>
            <a:r>
              <a:rPr sz="2325" b="0">
                <a:solidFill>
                  <a:srgbClr val="162C3D"/>
                </a:solidFill>
                <a:latin typeface="Helvetica Neue"/>
                <a:ea typeface="Helvetica Neue"/>
                <a:cs typeface="Helvetica Neue"/>
              </a:rPr>
              <a:t>Interactive practice versus an equal-duration text lesson.</a:t>
            </a:r>
          </a:p>
          <a:p xmlns:a="http://schemas.openxmlformats.org/drawingml/2006/main">
            <a:pPr>
              <a:defRPr sz="2325" b="0">
                <a:solidFill>
                  <a:srgbClr val="162C3D"/>
                </a:solidFill>
                <a:latin typeface="Helvetica Neue"/>
                <a:ea typeface="Helvetica Neue"/>
                <a:cs typeface="Helvetica Neue"/>
              </a:defRPr>
            </a:pPr>
            <a:r>
              <a:rPr sz="2325" b="0">
                <a:solidFill>
                  <a:srgbClr val="162C3D"/>
                </a:solidFill>
                <a:latin typeface="Helvetica Neue"/>
                <a:ea typeface="Helvetica Neue"/>
                <a:cs typeface="Helvetica Neue"/>
              </a:rPr>
              <a:t>Assess new examples immediately and after a delay.</a:t>
            </a:r>
          </a:p>
        </p:txBody>
      </p:sp>
    </p:spTree>
    <p:extLst>
      <p:ext uri="{BB962C8B-B14F-4D97-AF65-F5344CB8AC3E}">
        <p14:creationId xmlns:p14="http://schemas.microsoft.com/office/powerpoint/2010/main" val="876301135"/>
      </p:ext>
    </p:extLst>
  </p:cSld>
</p:sld>
</file>

<file path=ppt/slides/slide3.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cxnSp>
        <p:nvCxnSpPr>
          <p:cNvPr id="30" name=""/>
          <p:cNvCxnSpPr>
            <a:stCxn xmlns:a="http://schemas.openxmlformats.org/drawingml/2006/main" id="15" idx="2"/>
            <a:endCxn xmlns:a="http://schemas.openxmlformats.org/drawingml/2006/main" id="21" idx="0"/>
          </p:cNvCxnSpPr>
          <p:nvPr/>
        </p:nvCxnSpPr>
        <p:spPr>
          <a:xfrm xmlns:a="http://schemas.openxmlformats.org/drawingml/2006/main" flipH="1">
            <a:off x="9534525" y="5248275"/>
            <a:ext cx="533400" cy="161925"/>
          </a:xfrm>
          <a:prstGeom xmlns:a="http://schemas.openxmlformats.org/drawingml/2006/main" prst="bentConnector4">
            <a:avLst>
              <a:gd name="adj1" fmla="val 0"/>
              <a:gd name="adj2" fmla="val 50000"/>
            </a:avLst>
          </a:prstGeom>
          <a:ln xmlns:a="http://schemas.openxmlformats.org/drawingml/2006/main" w="19050">
            <a:solidFill>
              <a:srgbClr val="247A64"/>
            </a:solidFill>
          </a:ln>
        </p:spPr>
      </p:cxnSp>
      <p:cxnSp>
        <p:nvCxnSpPr>
          <p:cNvPr id="31" name=""/>
          <p:cNvCxnSpPr>
            <a:stCxn xmlns:a="http://schemas.openxmlformats.org/drawingml/2006/main" id="12" idx="2"/>
            <a:endCxn xmlns:a="http://schemas.openxmlformats.org/drawingml/2006/main" id="18" idx="0"/>
          </p:cNvCxnSpPr>
          <p:nvPr/>
        </p:nvCxnSpPr>
        <p:spPr>
          <a:xfrm xmlns:a="http://schemas.openxmlformats.org/drawingml/2006/main">
            <a:off x="2124075" y="5248275"/>
            <a:ext cx="533400" cy="161925"/>
          </a:xfrm>
          <a:prstGeom xmlns:a="http://schemas.openxmlformats.org/drawingml/2006/main" prst="bentConnector4">
            <a:avLst>
              <a:gd name="adj1" fmla="val 0"/>
              <a:gd name="adj2" fmla="val 50000"/>
            </a:avLst>
          </a:prstGeom>
          <a:ln xmlns:a="http://schemas.openxmlformats.org/drawingml/2006/main" w="19050">
            <a:solidFill>
              <a:srgbClr val="247A64"/>
            </a:solidFill>
          </a:ln>
        </p:spPr>
      </p:cxnSp>
      <p:cxnSp>
        <p:nvCxnSpPr>
          <p:cNvPr id="32" name=""/>
          <p:cNvCxnSpPr>
            <a:stCxn xmlns:a="http://schemas.openxmlformats.org/drawingml/2006/main" id="3" idx="3"/>
            <a:endCxn xmlns:a="http://schemas.openxmlformats.org/drawingml/2006/main" id="15" idx="1"/>
          </p:cNvCxnSpPr>
          <p:nvPr/>
        </p:nvCxnSpPr>
        <p:spPr>
          <a:xfrm xmlns:a="http://schemas.openxmlformats.org/drawingml/2006/main">
            <a:off x="7734300" y="3405188"/>
            <a:ext cx="819150" cy="1309688"/>
          </a:xfrm>
          <a:prstGeom xmlns:a="http://schemas.openxmlformats.org/drawingml/2006/main" prst="bentConnector3">
            <a:avLst>
              <a:gd name="adj1" fmla="val 50000"/>
            </a:avLst>
          </a:prstGeom>
          <a:ln xmlns:a="http://schemas.openxmlformats.org/drawingml/2006/main" w="19050">
            <a:solidFill>
              <a:srgbClr val="247A64"/>
            </a:solidFill>
          </a:ln>
        </p:spPr>
      </p:cxnSp>
      <p:cxnSp>
        <p:nvCxnSpPr>
          <p:cNvPr id="33" name=""/>
          <p:cNvCxnSpPr>
            <a:stCxn xmlns:a="http://schemas.openxmlformats.org/drawingml/2006/main" id="12" idx="3"/>
            <a:endCxn xmlns:a="http://schemas.openxmlformats.org/drawingml/2006/main" id="3" idx="1"/>
          </p:cNvCxnSpPr>
          <p:nvPr/>
        </p:nvCxnSpPr>
        <p:spPr>
          <a:xfrm xmlns:a="http://schemas.openxmlformats.org/drawingml/2006/main" flipV="1">
            <a:off x="3638550" y="3405188"/>
            <a:ext cx="819150" cy="1309688"/>
          </a:xfrm>
          <a:prstGeom xmlns:a="http://schemas.openxmlformats.org/drawingml/2006/main" prst="bentConnector3">
            <a:avLst>
              <a:gd name="adj1" fmla="val 50000"/>
            </a:avLst>
          </a:prstGeom>
          <a:ln xmlns:a="http://schemas.openxmlformats.org/drawingml/2006/main" w="19050">
            <a:solidFill>
              <a:srgbClr val="247A64"/>
            </a:solidFill>
          </a:ln>
        </p:spPr>
      </p:cxnSp>
      <p:cxnSp>
        <p:nvCxnSpPr>
          <p:cNvPr id="34" name=""/>
          <p:cNvCxnSpPr>
            <a:stCxn xmlns:a="http://schemas.openxmlformats.org/drawingml/2006/main" id="3" idx="3"/>
            <a:endCxn xmlns:a="http://schemas.openxmlformats.org/drawingml/2006/main" id="9" idx="1"/>
          </p:cNvCxnSpPr>
          <p:nvPr/>
        </p:nvCxnSpPr>
        <p:spPr>
          <a:xfrm xmlns:a="http://schemas.openxmlformats.org/drawingml/2006/main" flipV="1">
            <a:off x="7734300" y="2181225"/>
            <a:ext cx="819150" cy="1223963"/>
          </a:xfrm>
          <a:prstGeom xmlns:a="http://schemas.openxmlformats.org/drawingml/2006/main" prst="bentConnector3">
            <a:avLst>
              <a:gd name="adj1" fmla="val 50000"/>
            </a:avLst>
          </a:prstGeom>
          <a:ln xmlns:a="http://schemas.openxmlformats.org/drawingml/2006/main" w="19050">
            <a:solidFill>
              <a:srgbClr val="247A64"/>
            </a:solidFill>
          </a:ln>
        </p:spPr>
      </p:cxnSp>
      <p:cxnSp>
        <p:nvCxnSpPr>
          <p:cNvPr id="35" name=""/>
          <p:cNvCxnSpPr>
            <a:stCxn xmlns:a="http://schemas.openxmlformats.org/drawingml/2006/main" id="6" idx="3"/>
            <a:endCxn xmlns:a="http://schemas.openxmlformats.org/drawingml/2006/main" id="3" idx="1"/>
          </p:cNvCxnSpPr>
          <p:nvPr/>
        </p:nvCxnSpPr>
        <p:spPr>
          <a:xfrm xmlns:a="http://schemas.openxmlformats.org/drawingml/2006/main">
            <a:off x="3638550" y="2181225"/>
            <a:ext cx="819150" cy="1223963"/>
          </a:xfrm>
          <a:prstGeom xmlns:a="http://schemas.openxmlformats.org/drawingml/2006/main" prst="bentConnector3">
            <a:avLst>
              <a:gd name="adj1" fmla="val 50000"/>
            </a:avLst>
          </a:prstGeom>
          <a:ln xmlns:a="http://schemas.openxmlformats.org/drawingml/2006/main" w="19050">
            <a:solidFill>
              <a:srgbClr val="247A64"/>
            </a:solidFill>
          </a:ln>
        </p:spPr>
      </p:cxnSp>
      <p:sp>
        <p:nvSpPr>
          <p:cNvPr id="36" name="">
            <a:extLst xmlns:a="http://schemas.openxmlformats.org/drawingml/2006/main">
              <a:ext uri="{FF2B5EF4-FFF2-40B4-BE49-F238E27FC236}">
                <a16:creationId xmlns:a16="http://schemas.microsoft.com/office/drawing/2014/main" id="{CD35B83B-52DF-433E-BCD7-D9333DF4FED4}"/>
              </a:ext>
            </a:extLst>
          </p:cNvPr>
          <p:cNvSpPr>
            <a:spLocks xmlns:a="http://schemas.openxmlformats.org/drawingml/2006/main" noGrp="1"/>
          </p:cNvSpPr>
          <p:nvPr/>
        </p:nvSpPr>
        <p:spPr>
          <a:xfrm xmlns:a="http://schemas.openxmlformats.org/drawingml/2006/main">
            <a:off x="609600" y="51435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162C3D"/>
                </a:solidFill>
                <a:latin typeface="Helvetica Neue"/>
                <a:ea typeface="Helvetica Neue"/>
                <a:cs typeface="Helvetica Neue"/>
              </a:defRPr>
            </a:pPr>
            <a:r>
              <a:rPr sz="3450" b="1">
                <a:solidFill>
                  <a:srgbClr val="162C3D"/>
                </a:solidFill>
                <a:latin typeface="Helvetica Neue"/>
                <a:ea typeface="Helvetica Neue"/>
                <a:cs typeface="Helvetica Neue"/>
              </a:rPr>
              <a:t>How the system works</a:t>
            </a:r>
          </a:p>
        </p:txBody>
      </p:sp>
      <p:sp>
        <p:nvSpPr>
          <p:cNvPr id="2" name="">
            <a:extLst xmlns:a="http://schemas.openxmlformats.org/drawingml/2006/main">
              <a:ext uri="{FF2B5EF4-FFF2-40B4-BE49-F238E27FC236}">
                <a16:creationId xmlns:a16="http://schemas.microsoft.com/office/drawing/2014/main" id="{C4E796BC-FE53-403B-9A5B-C3E13057952E}"/>
              </a:ext>
            </a:extLst>
          </p:cNvPr>
          <p:cNvSpPr>
            <a:spLocks xmlns:a="http://schemas.openxmlformats.org/drawingml/2006/main" noGrp="1"/>
          </p:cNvSpPr>
          <p:nvPr/>
        </p:nvSpPr>
        <p:spPr>
          <a:xfrm xmlns:a="http://schemas.openxmlformats.org/drawingml/2006/main">
            <a:off x="111442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53616A"/>
                </a:solidFill>
                <a:latin typeface="Helvetica Neue"/>
                <a:ea typeface="Helvetica Neue"/>
                <a:cs typeface="Helvetica Neue"/>
              </a:defRPr>
            </a:pPr>
            <a:r>
              <a:rPr sz="1200" b="0">
                <a:solidFill>
                  <a:srgbClr val="53616A"/>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6D7A7AF1-8E02-4207-B063-75D4D2D7F7A1}"/>
              </a:ext>
            </a:extLst>
          </p:cNvPr>
          <p:cNvSpPr>
            <a:spLocks xmlns:a="http://schemas.openxmlformats.org/drawingml/2006/main" noGrp="1"/>
          </p:cNvSpPr>
          <p:nvPr/>
        </p:nvSpPr>
        <p:spPr>
          <a:xfrm xmlns:a="http://schemas.openxmlformats.org/drawingml/2006/main">
            <a:off x="4457700" y="2857500"/>
            <a:ext cx="3276600" cy="1095375"/>
          </a:xfrm>
          <a:prstGeom xmlns:a="http://schemas.openxmlformats.org/drawingml/2006/main" prst="rect">
            <a:avLst/>
          </a:prstGeom>
          <a:solidFill xmlns:a="http://schemas.openxmlformats.org/drawingml/2006/main">
            <a:srgbClr val="F5F3EE"/>
          </a:solidFill>
          <a:ln xmlns:a="http://schemas.openxmlformats.org/drawingml/2006/main" w="11430">
            <a:solidFill>
              <a:srgbClr val="247A64"/>
            </a:solidFill>
          </a:ln>
        </p:spPr>
      </p:sp>
      <p:sp>
        <p:nvSpPr>
          <p:cNvPr id="4" name="">
            <a:extLst xmlns:a="http://schemas.openxmlformats.org/drawingml/2006/main">
              <a:ext uri="{FF2B5EF4-FFF2-40B4-BE49-F238E27FC236}">
                <a16:creationId xmlns:a16="http://schemas.microsoft.com/office/drawing/2014/main" id="{9452FF44-57BB-4E89-A7C7-4FC5D3F25E79}"/>
              </a:ext>
            </a:extLst>
          </p:cNvPr>
          <p:cNvSpPr>
            <a:spLocks xmlns:a="http://schemas.openxmlformats.org/drawingml/2006/main" noGrp="1"/>
          </p:cNvSpPr>
          <p:nvPr/>
        </p:nvSpPr>
        <p:spPr>
          <a:xfrm xmlns:a="http://schemas.openxmlformats.org/drawingml/2006/main">
            <a:off x="4629150" y="3009900"/>
            <a:ext cx="2933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62C3D"/>
                </a:solidFill>
                <a:latin typeface="Helvetica Neue"/>
                <a:ea typeface="Helvetica Neue"/>
                <a:cs typeface="Helvetica Neue"/>
              </a:defRPr>
            </a:pPr>
            <a:r>
              <a:rPr sz="2025" b="1">
                <a:solidFill>
                  <a:srgbClr val="162C3D"/>
                </a:solidFill>
                <a:latin typeface="Helvetica Neue"/>
                <a:ea typeface="Helvetica Neue"/>
                <a:cs typeface="Helvetica Neue"/>
              </a:rPr>
              <a:t>Safe-Net</a:t>
            </a:r>
          </a:p>
        </p:txBody>
      </p:sp>
      <p:sp>
        <p:nvSpPr>
          <p:cNvPr id="5" name="">
            <a:extLst xmlns:a="http://schemas.openxmlformats.org/drawingml/2006/main">
              <a:ext uri="{FF2B5EF4-FFF2-40B4-BE49-F238E27FC236}">
                <a16:creationId xmlns:a16="http://schemas.microsoft.com/office/drawing/2014/main" id="{3D9787ED-732E-413C-A96C-C975DA50E6E6}"/>
              </a:ext>
            </a:extLst>
          </p:cNvPr>
          <p:cNvSpPr>
            <a:spLocks xmlns:a="http://schemas.openxmlformats.org/drawingml/2006/main" noGrp="1"/>
          </p:cNvSpPr>
          <p:nvPr/>
        </p:nvSpPr>
        <p:spPr>
          <a:xfrm xmlns:a="http://schemas.openxmlformats.org/drawingml/2006/main">
            <a:off x="4629150" y="3400425"/>
            <a:ext cx="29337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16A"/>
                </a:solidFill>
                <a:latin typeface="Helvetica Neue"/>
                <a:ea typeface="Helvetica Neue"/>
                <a:cs typeface="Helvetica Neue"/>
              </a:defRPr>
            </a:pPr>
            <a:r>
              <a:rPr sz="1500" b="0">
                <a:solidFill>
                  <a:srgbClr val="53616A"/>
                </a:solidFill>
                <a:latin typeface="Helvetica Neue"/>
                <a:ea typeface="Helvetica Neue"/>
                <a:cs typeface="Helvetica Neue"/>
              </a:rPr>
              <a:t>Learn a cue. Explain a warning.</a:t>
            </a:r>
          </a:p>
        </p:txBody>
      </p:sp>
      <p:sp>
        <p:nvSpPr>
          <p:cNvPr id="6" name="">
            <a:extLst xmlns:a="http://schemas.openxmlformats.org/drawingml/2006/main">
              <a:ext uri="{FF2B5EF4-FFF2-40B4-BE49-F238E27FC236}">
                <a16:creationId xmlns:a16="http://schemas.microsoft.com/office/drawing/2014/main" id="{B57A55C3-49B0-416C-B638-64E129A7A920}"/>
              </a:ext>
            </a:extLst>
          </p:cNvPr>
          <p:cNvSpPr>
            <a:spLocks xmlns:a="http://schemas.openxmlformats.org/drawingml/2006/main" noGrp="1"/>
          </p:cNvSpPr>
          <p:nvPr/>
        </p:nvSpPr>
        <p:spPr>
          <a:xfrm xmlns:a="http://schemas.openxmlformats.org/drawingml/2006/main">
            <a:off x="609600" y="1647825"/>
            <a:ext cx="3028950" cy="1066800"/>
          </a:xfrm>
          <a:prstGeom xmlns:a="http://schemas.openxmlformats.org/drawingml/2006/main" prst="rect">
            <a:avLst/>
          </a:prstGeom>
          <a:solidFill xmlns:a="http://schemas.openxmlformats.org/drawingml/2006/main">
            <a:srgbClr val="F5F3EE"/>
          </a:solidFill>
          <a:ln xmlns:a="http://schemas.openxmlformats.org/drawingml/2006/main" w="11430">
            <a:solidFill>
              <a:srgbClr val="247A64"/>
            </a:solidFill>
          </a:ln>
        </p:spPr>
      </p:sp>
      <p:sp>
        <p:nvSpPr>
          <p:cNvPr id="7" name="">
            <a:extLst xmlns:a="http://schemas.openxmlformats.org/drawingml/2006/main">
              <a:ext uri="{FF2B5EF4-FFF2-40B4-BE49-F238E27FC236}">
                <a16:creationId xmlns:a16="http://schemas.microsoft.com/office/drawing/2014/main" id="{D21112E0-23E5-42E2-B61F-4F68235CEF71}"/>
              </a:ext>
            </a:extLst>
          </p:cNvPr>
          <p:cNvSpPr>
            <a:spLocks xmlns:a="http://schemas.openxmlformats.org/drawingml/2006/main" noGrp="1"/>
          </p:cNvSpPr>
          <p:nvPr/>
        </p:nvSpPr>
        <p:spPr>
          <a:xfrm xmlns:a="http://schemas.openxmlformats.org/drawingml/2006/main">
            <a:off x="781050" y="1800225"/>
            <a:ext cx="2686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62C3D"/>
                </a:solidFill>
                <a:latin typeface="Helvetica Neue"/>
                <a:ea typeface="Helvetica Neue"/>
                <a:cs typeface="Helvetica Neue"/>
              </a:defRPr>
            </a:pPr>
            <a:r>
              <a:rPr sz="2025" b="1">
                <a:solidFill>
                  <a:srgbClr val="162C3D"/>
                </a:solidFill>
                <a:latin typeface="Helvetica Neue"/>
                <a:ea typeface="Helvetica Neue"/>
                <a:cs typeface="Helvetica Neue"/>
              </a:rPr>
              <a:t>Learning web app</a:t>
            </a:r>
          </a:p>
        </p:txBody>
      </p:sp>
      <p:sp>
        <p:nvSpPr>
          <p:cNvPr id="8" name="">
            <a:extLst xmlns:a="http://schemas.openxmlformats.org/drawingml/2006/main">
              <a:ext uri="{FF2B5EF4-FFF2-40B4-BE49-F238E27FC236}">
                <a16:creationId xmlns:a16="http://schemas.microsoft.com/office/drawing/2014/main" id="{0A3D0B6D-C172-4499-A54C-2DA925501496}"/>
              </a:ext>
            </a:extLst>
          </p:cNvPr>
          <p:cNvSpPr>
            <a:spLocks xmlns:a="http://schemas.openxmlformats.org/drawingml/2006/main" noGrp="1"/>
          </p:cNvSpPr>
          <p:nvPr/>
        </p:nvSpPr>
        <p:spPr>
          <a:xfrm xmlns:a="http://schemas.openxmlformats.org/drawingml/2006/main">
            <a:off x="781050" y="2190750"/>
            <a:ext cx="2686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16A"/>
                </a:solidFill>
                <a:latin typeface="Helvetica Neue"/>
                <a:ea typeface="Helvetica Neue"/>
                <a:cs typeface="Helvetica Neue"/>
              </a:defRPr>
            </a:pPr>
            <a:r>
              <a:rPr sz="1500" b="0">
                <a:solidFill>
                  <a:srgbClr val="53616A"/>
                </a:solidFill>
                <a:latin typeface="Helvetica Neue"/>
                <a:ea typeface="Helvetica Neue"/>
                <a:cs typeface="Helvetica Neue"/>
              </a:rPr>
              <a:t>EN/RU courses and simulations</a:t>
            </a:r>
          </a:p>
        </p:txBody>
      </p:sp>
      <p:sp>
        <p:nvSpPr>
          <p:cNvPr id="9" name="">
            <a:extLst xmlns:a="http://schemas.openxmlformats.org/drawingml/2006/main">
              <a:ext uri="{FF2B5EF4-FFF2-40B4-BE49-F238E27FC236}">
                <a16:creationId xmlns:a16="http://schemas.microsoft.com/office/drawing/2014/main" id="{1F3C0A5A-AEB7-4AA6-8F74-33B7C7222374}"/>
              </a:ext>
            </a:extLst>
          </p:cNvPr>
          <p:cNvSpPr>
            <a:spLocks xmlns:a="http://schemas.openxmlformats.org/drawingml/2006/main" noGrp="1"/>
          </p:cNvSpPr>
          <p:nvPr/>
        </p:nvSpPr>
        <p:spPr>
          <a:xfrm xmlns:a="http://schemas.openxmlformats.org/drawingml/2006/main">
            <a:off x="8553450" y="1647825"/>
            <a:ext cx="3028950" cy="1066800"/>
          </a:xfrm>
          <a:prstGeom xmlns:a="http://schemas.openxmlformats.org/drawingml/2006/main" prst="rect">
            <a:avLst/>
          </a:prstGeom>
          <a:solidFill xmlns:a="http://schemas.openxmlformats.org/drawingml/2006/main">
            <a:srgbClr val="F5F3EE"/>
          </a:solidFill>
          <a:ln xmlns:a="http://schemas.openxmlformats.org/drawingml/2006/main" w="11430">
            <a:solidFill>
              <a:srgbClr val="247A64"/>
            </a:solidFill>
          </a:ln>
        </p:spPr>
      </p:sp>
      <p:sp>
        <p:nvSpPr>
          <p:cNvPr id="10" name="">
            <a:extLst xmlns:a="http://schemas.openxmlformats.org/drawingml/2006/main">
              <a:ext uri="{FF2B5EF4-FFF2-40B4-BE49-F238E27FC236}">
                <a16:creationId xmlns:a16="http://schemas.microsoft.com/office/drawing/2014/main" id="{28F017B3-1780-46C6-9386-8BCBA1DFBFB3}"/>
              </a:ext>
            </a:extLst>
          </p:cNvPr>
          <p:cNvSpPr>
            <a:spLocks xmlns:a="http://schemas.openxmlformats.org/drawingml/2006/main" noGrp="1"/>
          </p:cNvSpPr>
          <p:nvPr/>
        </p:nvSpPr>
        <p:spPr>
          <a:xfrm xmlns:a="http://schemas.openxmlformats.org/drawingml/2006/main">
            <a:off x="8724900" y="1800225"/>
            <a:ext cx="2686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62C3D"/>
                </a:solidFill>
                <a:latin typeface="Helvetica Neue"/>
                <a:ea typeface="Helvetica Neue"/>
                <a:cs typeface="Helvetica Neue"/>
              </a:defRPr>
            </a:pPr>
            <a:r>
              <a:rPr sz="2025" b="1">
                <a:solidFill>
                  <a:srgbClr val="162C3D"/>
                </a:solidFill>
                <a:latin typeface="Helvetica Neue"/>
                <a:ea typeface="Helvetica Neue"/>
                <a:cs typeface="Helvetica Neue"/>
              </a:rPr>
              <a:t>Guard extension</a:t>
            </a:r>
          </a:p>
        </p:txBody>
      </p:sp>
      <p:sp>
        <p:nvSpPr>
          <p:cNvPr id="11" name="">
            <a:extLst xmlns:a="http://schemas.openxmlformats.org/drawingml/2006/main">
              <a:ext uri="{FF2B5EF4-FFF2-40B4-BE49-F238E27FC236}">
                <a16:creationId xmlns:a16="http://schemas.microsoft.com/office/drawing/2014/main" id="{F3EB0A85-8379-4F5D-96F9-C1713A30173B}"/>
              </a:ext>
            </a:extLst>
          </p:cNvPr>
          <p:cNvSpPr>
            <a:spLocks xmlns:a="http://schemas.openxmlformats.org/drawingml/2006/main" noGrp="1"/>
          </p:cNvSpPr>
          <p:nvPr/>
        </p:nvSpPr>
        <p:spPr>
          <a:xfrm xmlns:a="http://schemas.openxmlformats.org/drawingml/2006/main">
            <a:off x="8724900" y="2190750"/>
            <a:ext cx="2686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16A"/>
                </a:solidFill>
                <a:latin typeface="Helvetica Neue"/>
                <a:ea typeface="Helvetica Neue"/>
                <a:cs typeface="Helvetica Neue"/>
              </a:defRPr>
            </a:pPr>
            <a:r>
              <a:rPr sz="1500" b="0">
                <a:solidFill>
                  <a:srgbClr val="53616A"/>
                </a:solidFill>
                <a:latin typeface="Helvetica Neue"/>
                <a:ea typeface="Helvetica Neue"/>
                <a:cs typeface="Helvetica Neue"/>
              </a:rPr>
              <a:t>Local URL rules and explanations</a:t>
            </a:r>
          </a:p>
        </p:txBody>
      </p:sp>
      <p:sp>
        <p:nvSpPr>
          <p:cNvPr id="12" name="">
            <a:extLst xmlns:a="http://schemas.openxmlformats.org/drawingml/2006/main">
              <a:ext uri="{FF2B5EF4-FFF2-40B4-BE49-F238E27FC236}">
                <a16:creationId xmlns:a16="http://schemas.microsoft.com/office/drawing/2014/main" id="{E492EFC5-AECF-4820-A26E-86A2336E8580}"/>
              </a:ext>
            </a:extLst>
          </p:cNvPr>
          <p:cNvSpPr>
            <a:spLocks xmlns:a="http://schemas.openxmlformats.org/drawingml/2006/main" noGrp="1"/>
          </p:cNvSpPr>
          <p:nvPr/>
        </p:nvSpPr>
        <p:spPr>
          <a:xfrm xmlns:a="http://schemas.openxmlformats.org/drawingml/2006/main">
            <a:off x="609600" y="4181475"/>
            <a:ext cx="3028950" cy="1066800"/>
          </a:xfrm>
          <a:prstGeom xmlns:a="http://schemas.openxmlformats.org/drawingml/2006/main" prst="rect">
            <a:avLst/>
          </a:prstGeom>
          <a:solidFill xmlns:a="http://schemas.openxmlformats.org/drawingml/2006/main">
            <a:srgbClr val="F5F3EE"/>
          </a:solidFill>
          <a:ln xmlns:a="http://schemas.openxmlformats.org/drawingml/2006/main" w="11430">
            <a:solidFill>
              <a:srgbClr val="247A64"/>
            </a:solidFill>
          </a:ln>
        </p:spPr>
      </p:sp>
      <p:sp>
        <p:nvSpPr>
          <p:cNvPr id="13" name="">
            <a:extLst xmlns:a="http://schemas.openxmlformats.org/drawingml/2006/main">
              <a:ext uri="{FF2B5EF4-FFF2-40B4-BE49-F238E27FC236}">
                <a16:creationId xmlns:a16="http://schemas.microsoft.com/office/drawing/2014/main" id="{35FC5297-AF9D-4EAB-BFBF-4F3D5247B9A0}"/>
              </a:ext>
            </a:extLst>
          </p:cNvPr>
          <p:cNvSpPr>
            <a:spLocks xmlns:a="http://schemas.openxmlformats.org/drawingml/2006/main" noGrp="1"/>
          </p:cNvSpPr>
          <p:nvPr/>
        </p:nvSpPr>
        <p:spPr>
          <a:xfrm xmlns:a="http://schemas.openxmlformats.org/drawingml/2006/main">
            <a:off x="781050" y="4333875"/>
            <a:ext cx="2686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62C3D"/>
                </a:solidFill>
                <a:latin typeface="Helvetica Neue"/>
                <a:ea typeface="Helvetica Neue"/>
                <a:cs typeface="Helvetica Neue"/>
              </a:defRPr>
            </a:pPr>
            <a:r>
              <a:rPr sz="2025" b="1">
                <a:solidFill>
                  <a:srgbClr val="162C3D"/>
                </a:solidFill>
                <a:latin typeface="Helvetica Neue"/>
                <a:ea typeface="Helvetica Neue"/>
                <a:cs typeface="Helvetica Neue"/>
              </a:rPr>
              <a:t>Learning API</a:t>
            </a:r>
          </a:p>
        </p:txBody>
      </p:sp>
      <p:sp>
        <p:nvSpPr>
          <p:cNvPr id="14" name="">
            <a:extLst xmlns:a="http://schemas.openxmlformats.org/drawingml/2006/main">
              <a:ext uri="{FF2B5EF4-FFF2-40B4-BE49-F238E27FC236}">
                <a16:creationId xmlns:a16="http://schemas.microsoft.com/office/drawing/2014/main" id="{C3875607-E256-4B2A-AD9D-76A031E5D287}"/>
              </a:ext>
            </a:extLst>
          </p:cNvPr>
          <p:cNvSpPr>
            <a:spLocks xmlns:a="http://schemas.openxmlformats.org/drawingml/2006/main" noGrp="1"/>
          </p:cNvSpPr>
          <p:nvPr/>
        </p:nvSpPr>
        <p:spPr>
          <a:xfrm xmlns:a="http://schemas.openxmlformats.org/drawingml/2006/main">
            <a:off x="781050" y="4724400"/>
            <a:ext cx="2686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16A"/>
                </a:solidFill>
                <a:latin typeface="Helvetica Neue"/>
                <a:ea typeface="Helvetica Neue"/>
                <a:cs typeface="Helvetica Neue"/>
              </a:defRPr>
            </a:pPr>
            <a:r>
              <a:rPr sz="1500" b="0">
                <a:solidFill>
                  <a:srgbClr val="53616A"/>
                </a:solidFill>
                <a:latin typeface="Helvetica Neue"/>
                <a:ea typeface="Helvetica Neue"/>
                <a:cs typeface="Helvetica Neue"/>
              </a:rPr>
              <a:t>Auth and server-side grading</a:t>
            </a:r>
          </a:p>
        </p:txBody>
      </p:sp>
      <p:sp>
        <p:nvSpPr>
          <p:cNvPr id="15" name="">
            <a:extLst xmlns:a="http://schemas.openxmlformats.org/drawingml/2006/main">
              <a:ext uri="{FF2B5EF4-FFF2-40B4-BE49-F238E27FC236}">
                <a16:creationId xmlns:a16="http://schemas.microsoft.com/office/drawing/2014/main" id="{BDA2EE0E-FA12-499E-8F89-F05A2BD4D0CD}"/>
              </a:ext>
            </a:extLst>
          </p:cNvPr>
          <p:cNvSpPr>
            <a:spLocks xmlns:a="http://schemas.openxmlformats.org/drawingml/2006/main" noGrp="1"/>
          </p:cNvSpPr>
          <p:nvPr/>
        </p:nvSpPr>
        <p:spPr>
          <a:xfrm xmlns:a="http://schemas.openxmlformats.org/drawingml/2006/main">
            <a:off x="8553450" y="4181475"/>
            <a:ext cx="3028950" cy="1066800"/>
          </a:xfrm>
          <a:prstGeom xmlns:a="http://schemas.openxmlformats.org/drawingml/2006/main" prst="rect">
            <a:avLst/>
          </a:prstGeom>
          <a:solidFill xmlns:a="http://schemas.openxmlformats.org/drawingml/2006/main">
            <a:srgbClr val="F5F3EE"/>
          </a:solidFill>
          <a:ln xmlns:a="http://schemas.openxmlformats.org/drawingml/2006/main" w="11430">
            <a:solidFill>
              <a:srgbClr val="247A64"/>
            </a:solidFill>
          </a:ln>
        </p:spPr>
      </p:sp>
      <p:sp>
        <p:nvSpPr>
          <p:cNvPr id="16" name="">
            <a:extLst xmlns:a="http://schemas.openxmlformats.org/drawingml/2006/main">
              <a:ext uri="{FF2B5EF4-FFF2-40B4-BE49-F238E27FC236}">
                <a16:creationId xmlns:a16="http://schemas.microsoft.com/office/drawing/2014/main" id="{32ADB27D-4242-44E4-8267-B4712DFF123F}"/>
              </a:ext>
            </a:extLst>
          </p:cNvPr>
          <p:cNvSpPr>
            <a:spLocks xmlns:a="http://schemas.openxmlformats.org/drawingml/2006/main" noGrp="1"/>
          </p:cNvSpPr>
          <p:nvPr/>
        </p:nvSpPr>
        <p:spPr>
          <a:xfrm xmlns:a="http://schemas.openxmlformats.org/drawingml/2006/main">
            <a:off x="8724900" y="4333875"/>
            <a:ext cx="2686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62C3D"/>
                </a:solidFill>
                <a:latin typeface="Helvetica Neue"/>
                <a:ea typeface="Helvetica Neue"/>
                <a:cs typeface="Helvetica Neue"/>
              </a:defRPr>
            </a:pPr>
            <a:r>
              <a:rPr sz="2025" b="1">
                <a:solidFill>
                  <a:srgbClr val="162C3D"/>
                </a:solidFill>
                <a:latin typeface="Helvetica Neue"/>
                <a:ea typeface="Helvetica Neue"/>
                <a:cs typeface="Helvetica Neue"/>
              </a:rPr>
              <a:t>Shared rule engine</a:t>
            </a:r>
          </a:p>
        </p:txBody>
      </p:sp>
      <p:sp>
        <p:nvSpPr>
          <p:cNvPr id="17" name="">
            <a:extLst xmlns:a="http://schemas.openxmlformats.org/drawingml/2006/main">
              <a:ext uri="{FF2B5EF4-FFF2-40B4-BE49-F238E27FC236}">
                <a16:creationId xmlns:a16="http://schemas.microsoft.com/office/drawing/2014/main" id="{D46DB8BB-A73E-4B57-BEF7-7406716BD791}"/>
              </a:ext>
            </a:extLst>
          </p:cNvPr>
          <p:cNvSpPr>
            <a:spLocks xmlns:a="http://schemas.openxmlformats.org/drawingml/2006/main" noGrp="1"/>
          </p:cNvSpPr>
          <p:nvPr/>
        </p:nvSpPr>
        <p:spPr>
          <a:xfrm xmlns:a="http://schemas.openxmlformats.org/drawingml/2006/main">
            <a:off x="8724900" y="4724400"/>
            <a:ext cx="2686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16A"/>
                </a:solidFill>
                <a:latin typeface="Helvetica Neue"/>
                <a:ea typeface="Helvetica Neue"/>
                <a:cs typeface="Helvetica Neue"/>
              </a:defRPr>
            </a:pPr>
            <a:r>
              <a:rPr sz="1500" b="0">
                <a:solidFill>
                  <a:srgbClr val="53616A"/>
                </a:solidFill>
                <a:latin typeface="Helvetica Neue"/>
                <a:ea typeface="Helvetica Neue"/>
                <a:cs typeface="Helvetica Neue"/>
              </a:rPr>
              <a:t>Web scanner and extension</a:t>
            </a:r>
          </a:p>
        </p:txBody>
      </p:sp>
      <p:sp>
        <p:nvSpPr>
          <p:cNvPr id="18" name="">
            <a:extLst xmlns:a="http://schemas.openxmlformats.org/drawingml/2006/main">
              <a:ext uri="{FF2B5EF4-FFF2-40B4-BE49-F238E27FC236}">
                <a16:creationId xmlns:a16="http://schemas.microsoft.com/office/drawing/2014/main" id="{5070EAE9-3217-4D97-8A5F-4577A27C83A6}"/>
              </a:ext>
            </a:extLst>
          </p:cNvPr>
          <p:cNvSpPr>
            <a:spLocks xmlns:a="http://schemas.openxmlformats.org/drawingml/2006/main" noGrp="1"/>
          </p:cNvSpPr>
          <p:nvPr/>
        </p:nvSpPr>
        <p:spPr>
          <a:xfrm xmlns:a="http://schemas.openxmlformats.org/drawingml/2006/main">
            <a:off x="609600" y="5410200"/>
            <a:ext cx="4095750" cy="809625"/>
          </a:xfrm>
          <a:prstGeom xmlns:a="http://schemas.openxmlformats.org/drawingml/2006/main" prst="rect">
            <a:avLst/>
          </a:prstGeom>
          <a:solidFill xmlns:a="http://schemas.openxmlformats.org/drawingml/2006/main">
            <a:srgbClr val="F5F3EE"/>
          </a:solidFill>
          <a:ln xmlns:a="http://schemas.openxmlformats.org/drawingml/2006/main" w="11430">
            <a:solidFill>
              <a:srgbClr val="247A64"/>
            </a:solidFill>
          </a:ln>
        </p:spPr>
      </p:sp>
      <p:sp>
        <p:nvSpPr>
          <p:cNvPr id="19" name="">
            <a:extLst xmlns:a="http://schemas.openxmlformats.org/drawingml/2006/main">
              <a:ext uri="{FF2B5EF4-FFF2-40B4-BE49-F238E27FC236}">
                <a16:creationId xmlns:a16="http://schemas.microsoft.com/office/drawing/2014/main" id="{DD4DC245-49BB-4145-8CD2-09FBD953049F}"/>
              </a:ext>
            </a:extLst>
          </p:cNvPr>
          <p:cNvSpPr>
            <a:spLocks xmlns:a="http://schemas.openxmlformats.org/drawingml/2006/main" noGrp="1"/>
          </p:cNvSpPr>
          <p:nvPr/>
        </p:nvSpPr>
        <p:spPr>
          <a:xfrm xmlns:a="http://schemas.openxmlformats.org/drawingml/2006/main">
            <a:off x="781050" y="5562600"/>
            <a:ext cx="3752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62C3D"/>
                </a:solidFill>
                <a:latin typeface="Helvetica Neue"/>
                <a:ea typeface="Helvetica Neue"/>
                <a:cs typeface="Helvetica Neue"/>
              </a:defRPr>
            </a:pPr>
            <a:r>
              <a:rPr sz="2025" b="1">
                <a:solidFill>
                  <a:srgbClr val="162C3D"/>
                </a:solidFill>
                <a:latin typeface="Helvetica Neue"/>
                <a:ea typeface="Helvetica Neue"/>
                <a:cs typeface="Helvetica Neue"/>
              </a:rPr>
              <a:t>PostgreSQL</a:t>
            </a:r>
          </a:p>
        </p:txBody>
      </p:sp>
      <p:sp>
        <p:nvSpPr>
          <p:cNvPr id="20" name="">
            <a:extLst xmlns:a="http://schemas.openxmlformats.org/drawingml/2006/main">
              <a:ext uri="{FF2B5EF4-FFF2-40B4-BE49-F238E27FC236}">
                <a16:creationId xmlns:a16="http://schemas.microsoft.com/office/drawing/2014/main" id="{89AF7FB6-068B-4CA7-B9FA-09507AB59914}"/>
              </a:ext>
            </a:extLst>
          </p:cNvPr>
          <p:cNvSpPr>
            <a:spLocks xmlns:a="http://schemas.openxmlformats.org/drawingml/2006/main" noGrp="1"/>
          </p:cNvSpPr>
          <p:nvPr/>
        </p:nvSpPr>
        <p:spPr>
          <a:xfrm xmlns:a="http://schemas.openxmlformats.org/drawingml/2006/main">
            <a:off x="781050" y="5953125"/>
            <a:ext cx="37528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16A"/>
                </a:solidFill>
                <a:latin typeface="Helvetica Neue"/>
                <a:ea typeface="Helvetica Neue"/>
                <a:cs typeface="Helvetica Neue"/>
              </a:defRPr>
            </a:pPr>
            <a:r>
              <a:rPr sz="1500" b="0">
                <a:solidFill>
                  <a:srgbClr val="53616A"/>
                </a:solidFill>
                <a:latin typeface="Helvetica Neue"/>
                <a:ea typeface="Helvetica Neue"/>
                <a:cs typeface="Helvetica Neue"/>
              </a:rPr>
              <a:t>Per-user progress and certificates</a:t>
            </a:r>
          </a:p>
        </p:txBody>
      </p:sp>
      <p:sp>
        <p:nvSpPr>
          <p:cNvPr id="21" name="">
            <a:extLst xmlns:a="http://schemas.openxmlformats.org/drawingml/2006/main">
              <a:ext uri="{FF2B5EF4-FFF2-40B4-BE49-F238E27FC236}">
                <a16:creationId xmlns:a16="http://schemas.microsoft.com/office/drawing/2014/main" id="{E90BB5D0-1207-436E-81D1-64AAA40B2522}"/>
              </a:ext>
            </a:extLst>
          </p:cNvPr>
          <p:cNvSpPr>
            <a:spLocks xmlns:a="http://schemas.openxmlformats.org/drawingml/2006/main" noGrp="1"/>
          </p:cNvSpPr>
          <p:nvPr/>
        </p:nvSpPr>
        <p:spPr>
          <a:xfrm xmlns:a="http://schemas.openxmlformats.org/drawingml/2006/main">
            <a:off x="7486650" y="5410200"/>
            <a:ext cx="4095750" cy="809625"/>
          </a:xfrm>
          <a:prstGeom xmlns:a="http://schemas.openxmlformats.org/drawingml/2006/main" prst="rect">
            <a:avLst/>
          </a:prstGeom>
          <a:solidFill xmlns:a="http://schemas.openxmlformats.org/drawingml/2006/main">
            <a:srgbClr val="F5F3EE"/>
          </a:solidFill>
          <a:ln xmlns:a="http://schemas.openxmlformats.org/drawingml/2006/main" w="11430">
            <a:solidFill>
              <a:srgbClr val="247A64"/>
            </a:solidFill>
          </a:ln>
        </p:spPr>
      </p:sp>
      <p:sp>
        <p:nvSpPr>
          <p:cNvPr id="22" name="">
            <a:extLst xmlns:a="http://schemas.openxmlformats.org/drawingml/2006/main">
              <a:ext uri="{FF2B5EF4-FFF2-40B4-BE49-F238E27FC236}">
                <a16:creationId xmlns:a16="http://schemas.microsoft.com/office/drawing/2014/main" id="{1F1BC465-5E19-4DFC-9F51-B307D7157A53}"/>
              </a:ext>
            </a:extLst>
          </p:cNvPr>
          <p:cNvSpPr>
            <a:spLocks xmlns:a="http://schemas.openxmlformats.org/drawingml/2006/main" noGrp="1"/>
          </p:cNvSpPr>
          <p:nvPr/>
        </p:nvSpPr>
        <p:spPr>
          <a:xfrm xmlns:a="http://schemas.openxmlformats.org/drawingml/2006/main">
            <a:off x="7658100" y="5562600"/>
            <a:ext cx="3752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62C3D"/>
                </a:solidFill>
                <a:latin typeface="Helvetica Neue"/>
                <a:ea typeface="Helvetica Neue"/>
                <a:cs typeface="Helvetica Neue"/>
              </a:defRPr>
            </a:pPr>
            <a:r>
              <a:rPr sz="2025" b="1">
                <a:solidFill>
                  <a:srgbClr val="162C3D"/>
                </a:solidFill>
                <a:latin typeface="Helvetica Neue"/>
                <a:ea typeface="Helvetica Neue"/>
                <a:cs typeface="Helvetica Neue"/>
              </a:rPr>
              <a:t>Optional ML service</a:t>
            </a:r>
          </a:p>
        </p:txBody>
      </p:sp>
      <p:sp>
        <p:nvSpPr>
          <p:cNvPr id="23" name="">
            <a:extLst xmlns:a="http://schemas.openxmlformats.org/drawingml/2006/main">
              <a:ext uri="{FF2B5EF4-FFF2-40B4-BE49-F238E27FC236}">
                <a16:creationId xmlns:a16="http://schemas.microsoft.com/office/drawing/2014/main" id="{C4B1F200-031A-42A0-95A9-6DA4C3F6858D}"/>
              </a:ext>
            </a:extLst>
          </p:cNvPr>
          <p:cNvSpPr>
            <a:spLocks xmlns:a="http://schemas.openxmlformats.org/drawingml/2006/main" noGrp="1"/>
          </p:cNvSpPr>
          <p:nvPr/>
        </p:nvSpPr>
        <p:spPr>
          <a:xfrm xmlns:a="http://schemas.openxmlformats.org/drawingml/2006/main">
            <a:off x="7658100" y="5953125"/>
            <a:ext cx="37528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16A"/>
                </a:solidFill>
                <a:latin typeface="Helvetica Neue"/>
                <a:ea typeface="Helvetica Neue"/>
                <a:cs typeface="Helvetica Neue"/>
              </a:defRPr>
            </a:pPr>
            <a:r>
              <a:rPr sz="1500" b="0">
                <a:solidFill>
                  <a:srgbClr val="53616A"/>
                </a:solidFill>
                <a:latin typeface="Helvetica Neue"/>
                <a:ea typeface="Helvetica Neue"/>
                <a:cs typeface="Helvetica Neue"/>
              </a:rPr>
              <a:t>Sanitized URL, opt-in model opinion</a:t>
            </a:r>
          </a:p>
        </p:txBody>
      </p:sp>
    </p:spTree>
    <p:extLst>
      <p:ext uri="{BB962C8B-B14F-4D97-AF65-F5344CB8AC3E}">
        <p14:creationId xmlns:p14="http://schemas.microsoft.com/office/powerpoint/2010/main" val="1861041109"/>
      </p:ext>
    </p:extLst>
  </p:cSld>
</p:sld>
</file>

<file path=ppt/slides/slide4.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5CFE17B-E491-427C-ADCC-887329787AA9}"/>
              </a:ext>
            </a:extLst>
          </p:cNvPr>
          <p:cNvSpPr>
            <a:spLocks xmlns:a="http://schemas.openxmlformats.org/drawingml/2006/main" noGrp="1"/>
          </p:cNvSpPr>
          <p:nvPr/>
        </p:nvSpPr>
        <p:spPr>
          <a:xfrm xmlns:a="http://schemas.openxmlformats.org/drawingml/2006/main">
            <a:off x="609600" y="51435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162C3D"/>
                </a:solidFill>
                <a:latin typeface="Helvetica Neue"/>
                <a:ea typeface="Helvetica Neue"/>
                <a:cs typeface="Helvetica Neue"/>
              </a:defRPr>
            </a:pPr>
            <a:r>
              <a:rPr sz="3450" b="1">
                <a:solidFill>
                  <a:srgbClr val="162C3D"/>
                </a:solidFill>
                <a:latin typeface="Helvetica Neue"/>
                <a:ea typeface="Helvetica Neue"/>
                <a:cs typeface="Helvetica Neue"/>
              </a:rPr>
              <a:t>Inside the repository</a:t>
            </a:r>
          </a:p>
        </p:txBody>
      </p:sp>
      <p:sp>
        <p:nvSpPr>
          <p:cNvPr id="2" name="">
            <a:extLst xmlns:a="http://schemas.openxmlformats.org/drawingml/2006/main">
              <a:ext uri="{FF2B5EF4-FFF2-40B4-BE49-F238E27FC236}">
                <a16:creationId xmlns:a16="http://schemas.microsoft.com/office/drawing/2014/main" id="{23AA9956-E91F-472B-B9C9-EE10FE247AF2}"/>
              </a:ext>
            </a:extLst>
          </p:cNvPr>
          <p:cNvSpPr>
            <a:spLocks xmlns:a="http://schemas.openxmlformats.org/drawingml/2006/main" noGrp="1"/>
          </p:cNvSpPr>
          <p:nvPr/>
        </p:nvSpPr>
        <p:spPr>
          <a:xfrm xmlns:a="http://schemas.openxmlformats.org/drawingml/2006/main">
            <a:off x="111442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53616A"/>
                </a:solidFill>
                <a:latin typeface="Helvetica Neue"/>
                <a:ea typeface="Helvetica Neue"/>
                <a:cs typeface="Helvetica Neue"/>
              </a:defRPr>
            </a:pPr>
            <a:r>
              <a:rPr sz="1200" b="0">
                <a:solidFill>
                  <a:srgbClr val="53616A"/>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D0B2770C-AEED-4752-BFF8-2BD77C7C6F72}"/>
              </a:ext>
            </a:extLst>
          </p:cNvPr>
          <p:cNvSpPr>
            <a:spLocks xmlns:a="http://schemas.openxmlformats.org/drawingml/2006/main" noGrp="1"/>
          </p:cNvSpPr>
          <p:nvPr/>
        </p:nvSpPr>
        <p:spPr>
          <a:xfrm xmlns:a="http://schemas.openxmlformats.org/drawingml/2006/main">
            <a:off x="609600" y="1676400"/>
            <a:ext cx="514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247A64"/>
                </a:solidFill>
                <a:latin typeface="Helvetica Neue"/>
                <a:ea typeface="Helvetica Neue"/>
                <a:cs typeface="Helvetica Neue"/>
              </a:defRPr>
            </a:pPr>
            <a:r>
              <a:rPr sz="2175" b="1">
                <a:solidFill>
                  <a:srgbClr val="247A64"/>
                </a:solidFill>
                <a:latin typeface="Helvetica Neue"/>
                <a:ea typeface="Helvetica Neue"/>
                <a:cs typeface="Helvetica Neue"/>
              </a:rPr>
              <a:t>client/</a:t>
            </a:r>
          </a:p>
        </p:txBody>
      </p:sp>
      <p:sp>
        <p:nvSpPr>
          <p:cNvPr id="4" name="">
            <a:extLst xmlns:a="http://schemas.openxmlformats.org/drawingml/2006/main">
              <a:ext uri="{FF2B5EF4-FFF2-40B4-BE49-F238E27FC236}">
                <a16:creationId xmlns:a16="http://schemas.microsoft.com/office/drawing/2014/main" id="{85189800-6BDF-4DC0-A072-298160F5591E}"/>
              </a:ext>
            </a:extLst>
          </p:cNvPr>
          <p:cNvSpPr>
            <a:spLocks xmlns:a="http://schemas.openxmlformats.org/drawingml/2006/main" noGrp="1"/>
          </p:cNvSpPr>
          <p:nvPr/>
        </p:nvSpPr>
        <p:spPr>
          <a:xfrm xmlns:a="http://schemas.openxmlformats.org/drawingml/2006/main">
            <a:off x="609600" y="2114550"/>
            <a:ext cx="504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162C3D"/>
                </a:solidFill>
                <a:latin typeface="Helvetica Neue"/>
                <a:ea typeface="Helvetica Neue"/>
                <a:cs typeface="Helvetica Neue"/>
              </a:defRPr>
            </a:pPr>
            <a:r>
              <a:rPr sz="1875" b="0">
                <a:solidFill>
                  <a:srgbClr val="162C3D"/>
                </a:solidFill>
                <a:latin typeface="Helvetica Neue"/>
                <a:ea typeface="Helvetica Neue"/>
                <a:cs typeface="Helvetica Neue"/>
              </a:rPr>
              <a:t>Next.js web app: courses, tasks and URL scanner</a:t>
            </a:r>
          </a:p>
        </p:txBody>
      </p:sp>
      <p:sp>
        <p:nvSpPr>
          <p:cNvPr id="5" name="">
            <a:extLst xmlns:a="http://schemas.openxmlformats.org/drawingml/2006/main">
              <a:ext uri="{FF2B5EF4-FFF2-40B4-BE49-F238E27FC236}">
                <a16:creationId xmlns:a16="http://schemas.microsoft.com/office/drawing/2014/main" id="{6A98C6C2-579E-47D2-9D13-E51E3C308320}"/>
              </a:ext>
            </a:extLst>
          </p:cNvPr>
          <p:cNvSpPr>
            <a:spLocks xmlns:a="http://schemas.openxmlformats.org/drawingml/2006/main" noGrp="1"/>
          </p:cNvSpPr>
          <p:nvPr/>
        </p:nvSpPr>
        <p:spPr>
          <a:xfrm xmlns:a="http://schemas.openxmlformats.org/drawingml/2006/main">
            <a:off x="609600" y="3000375"/>
            <a:ext cx="514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247A64"/>
                </a:solidFill>
                <a:latin typeface="Helvetica Neue"/>
                <a:ea typeface="Helvetica Neue"/>
                <a:cs typeface="Helvetica Neue"/>
              </a:defRPr>
            </a:pPr>
            <a:r>
              <a:rPr sz="2175" b="1">
                <a:solidFill>
                  <a:srgbClr val="247A64"/>
                </a:solidFill>
                <a:latin typeface="Helvetica Neue"/>
                <a:ea typeface="Helvetica Neue"/>
                <a:cs typeface="Helvetica Neue"/>
              </a:rPr>
              <a:t>server/</a:t>
            </a:r>
          </a:p>
        </p:txBody>
      </p:sp>
      <p:sp>
        <p:nvSpPr>
          <p:cNvPr id="6" name="">
            <a:extLst xmlns:a="http://schemas.openxmlformats.org/drawingml/2006/main">
              <a:ext uri="{FF2B5EF4-FFF2-40B4-BE49-F238E27FC236}">
                <a16:creationId xmlns:a16="http://schemas.microsoft.com/office/drawing/2014/main" id="{E8E2C00D-2085-4180-ADCF-61592C63AC75}"/>
              </a:ext>
            </a:extLst>
          </p:cNvPr>
          <p:cNvSpPr>
            <a:spLocks xmlns:a="http://schemas.openxmlformats.org/drawingml/2006/main" noGrp="1"/>
          </p:cNvSpPr>
          <p:nvPr/>
        </p:nvSpPr>
        <p:spPr>
          <a:xfrm xmlns:a="http://schemas.openxmlformats.org/drawingml/2006/main">
            <a:off x="609600" y="3438525"/>
            <a:ext cx="504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162C3D"/>
                </a:solidFill>
                <a:latin typeface="Helvetica Neue"/>
                <a:ea typeface="Helvetica Neue"/>
                <a:cs typeface="Helvetica Neue"/>
              </a:defRPr>
            </a:pPr>
            <a:r>
              <a:rPr sz="1875" b="0">
                <a:solidFill>
                  <a:srgbClr val="162C3D"/>
                </a:solidFill>
                <a:latin typeface="Helvetica Neue"/>
                <a:ea typeface="Helvetica Neue"/>
                <a:cs typeface="Helvetica Neue"/>
              </a:rPr>
              <a:t>NestJS API: accounts, grading and saved progress</a:t>
            </a:r>
          </a:p>
        </p:txBody>
      </p:sp>
      <p:sp>
        <p:nvSpPr>
          <p:cNvPr id="7" name="">
            <a:extLst xmlns:a="http://schemas.openxmlformats.org/drawingml/2006/main">
              <a:ext uri="{FF2B5EF4-FFF2-40B4-BE49-F238E27FC236}">
                <a16:creationId xmlns:a16="http://schemas.microsoft.com/office/drawing/2014/main" id="{26962C15-C373-490D-9352-B5020A23872C}"/>
              </a:ext>
            </a:extLst>
          </p:cNvPr>
          <p:cNvSpPr>
            <a:spLocks xmlns:a="http://schemas.openxmlformats.org/drawingml/2006/main" noGrp="1"/>
          </p:cNvSpPr>
          <p:nvPr/>
        </p:nvSpPr>
        <p:spPr>
          <a:xfrm xmlns:a="http://schemas.openxmlformats.org/drawingml/2006/main">
            <a:off x="609600" y="4324350"/>
            <a:ext cx="514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247A64"/>
                </a:solidFill>
                <a:latin typeface="Helvetica Neue"/>
                <a:ea typeface="Helvetica Neue"/>
                <a:cs typeface="Helvetica Neue"/>
              </a:defRPr>
            </a:pPr>
            <a:r>
              <a:rPr sz="2175" b="1">
                <a:solidFill>
                  <a:srgbClr val="247A64"/>
                </a:solidFill>
                <a:latin typeface="Helvetica Neue"/>
                <a:ea typeface="Helvetica Neue"/>
                <a:cs typeface="Helvetica Neue"/>
              </a:rPr>
              <a:t>extension/</a:t>
            </a:r>
          </a:p>
        </p:txBody>
      </p:sp>
      <p:sp>
        <p:nvSpPr>
          <p:cNvPr id="8" name="">
            <a:extLst xmlns:a="http://schemas.openxmlformats.org/drawingml/2006/main">
              <a:ext uri="{FF2B5EF4-FFF2-40B4-BE49-F238E27FC236}">
                <a16:creationId xmlns:a16="http://schemas.microsoft.com/office/drawing/2014/main" id="{54821552-9173-4829-9C97-1A2DE98E7986}"/>
              </a:ext>
            </a:extLst>
          </p:cNvPr>
          <p:cNvSpPr>
            <a:spLocks xmlns:a="http://schemas.openxmlformats.org/drawingml/2006/main" noGrp="1"/>
          </p:cNvSpPr>
          <p:nvPr/>
        </p:nvSpPr>
        <p:spPr>
          <a:xfrm xmlns:a="http://schemas.openxmlformats.org/drawingml/2006/main">
            <a:off x="609600" y="4762500"/>
            <a:ext cx="504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162C3D"/>
                </a:solidFill>
                <a:latin typeface="Helvetica Neue"/>
                <a:ea typeface="Helvetica Neue"/>
                <a:cs typeface="Helvetica Neue"/>
              </a:defRPr>
            </a:pPr>
            <a:r>
              <a:rPr sz="1875" b="0">
                <a:solidFill>
                  <a:srgbClr val="162C3D"/>
                </a:solidFill>
                <a:latin typeface="Helvetica Neue"/>
                <a:ea typeface="Helvetica Neue"/>
                <a:cs typeface="Helvetica Neue"/>
              </a:rPr>
              <a:t>WXT / Manifest V3: navigation and page checks</a:t>
            </a:r>
          </a:p>
        </p:txBody>
      </p:sp>
      <p:sp>
        <p:nvSpPr>
          <p:cNvPr id="9" name="">
            <a:extLst xmlns:a="http://schemas.openxmlformats.org/drawingml/2006/main">
              <a:ext uri="{FF2B5EF4-FFF2-40B4-BE49-F238E27FC236}">
                <a16:creationId xmlns:a16="http://schemas.microsoft.com/office/drawing/2014/main" id="{B99D8426-991F-4095-9F70-0CF7EFDA0F4B}"/>
              </a:ext>
            </a:extLst>
          </p:cNvPr>
          <p:cNvSpPr>
            <a:spLocks xmlns:a="http://schemas.openxmlformats.org/drawingml/2006/main" noGrp="1"/>
          </p:cNvSpPr>
          <p:nvPr/>
        </p:nvSpPr>
        <p:spPr>
          <a:xfrm xmlns:a="http://schemas.openxmlformats.org/drawingml/2006/main">
            <a:off x="6419850" y="1676400"/>
            <a:ext cx="514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247A64"/>
                </a:solidFill>
                <a:latin typeface="Helvetica Neue"/>
                <a:ea typeface="Helvetica Neue"/>
                <a:cs typeface="Helvetica Neue"/>
              </a:defRPr>
            </a:pPr>
            <a:r>
              <a:rPr sz="2175" b="1">
                <a:solidFill>
                  <a:srgbClr val="247A64"/>
                </a:solidFill>
                <a:latin typeface="Helvetica Neue"/>
                <a:ea typeface="Helvetica Neue"/>
                <a:cs typeface="Helvetica Neue"/>
              </a:rPr>
              <a:t>packages/guard-core/</a:t>
            </a:r>
          </a:p>
        </p:txBody>
      </p:sp>
      <p:sp>
        <p:nvSpPr>
          <p:cNvPr id="10" name="">
            <a:extLst xmlns:a="http://schemas.openxmlformats.org/drawingml/2006/main">
              <a:ext uri="{FF2B5EF4-FFF2-40B4-BE49-F238E27FC236}">
                <a16:creationId xmlns:a16="http://schemas.microsoft.com/office/drawing/2014/main" id="{71D2C905-D5AF-4564-9A16-35B3BCBFC61F}"/>
              </a:ext>
            </a:extLst>
          </p:cNvPr>
          <p:cNvSpPr>
            <a:spLocks xmlns:a="http://schemas.openxmlformats.org/drawingml/2006/main" noGrp="1"/>
          </p:cNvSpPr>
          <p:nvPr/>
        </p:nvSpPr>
        <p:spPr>
          <a:xfrm xmlns:a="http://schemas.openxmlformats.org/drawingml/2006/main">
            <a:off x="6419850" y="2114550"/>
            <a:ext cx="504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162C3D"/>
                </a:solidFill>
                <a:latin typeface="Helvetica Neue"/>
                <a:ea typeface="Helvetica Neue"/>
                <a:cs typeface="Helvetica Neue"/>
              </a:defRPr>
            </a:pPr>
            <a:r>
              <a:rPr sz="1875" b="0">
                <a:solidFill>
                  <a:srgbClr val="162C3D"/>
                </a:solidFill>
                <a:latin typeface="Helvetica Neue"/>
                <a:ea typeface="Helvetica Neue"/>
                <a:cs typeface="Helvetica Neue"/>
              </a:rPr>
              <a:t>TypeScript URL rules shared by web and extension</a:t>
            </a:r>
          </a:p>
        </p:txBody>
      </p:sp>
      <p:sp>
        <p:nvSpPr>
          <p:cNvPr id="11" name="">
            <a:extLst xmlns:a="http://schemas.openxmlformats.org/drawingml/2006/main">
              <a:ext uri="{FF2B5EF4-FFF2-40B4-BE49-F238E27FC236}">
                <a16:creationId xmlns:a16="http://schemas.microsoft.com/office/drawing/2014/main" id="{2B3B08E4-7F6D-4557-B284-3C0F5B142C82}"/>
              </a:ext>
            </a:extLst>
          </p:cNvPr>
          <p:cNvSpPr>
            <a:spLocks xmlns:a="http://schemas.openxmlformats.org/drawingml/2006/main" noGrp="1"/>
          </p:cNvSpPr>
          <p:nvPr/>
        </p:nvSpPr>
        <p:spPr>
          <a:xfrm xmlns:a="http://schemas.openxmlformats.org/drawingml/2006/main">
            <a:off x="6419850" y="3000375"/>
            <a:ext cx="514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247A64"/>
                </a:solidFill>
                <a:latin typeface="Helvetica Neue"/>
                <a:ea typeface="Helvetica Neue"/>
                <a:cs typeface="Helvetica Neue"/>
              </a:defRPr>
            </a:pPr>
            <a:r>
              <a:rPr sz="2175" b="1">
                <a:solidFill>
                  <a:srgbClr val="247A64"/>
                </a:solidFill>
                <a:latin typeface="Helvetica Neue"/>
                <a:ea typeface="Helvetica Neue"/>
                <a:cs typeface="Helvetica Neue"/>
              </a:rPr>
              <a:t>ml-service/</a:t>
            </a:r>
          </a:p>
        </p:txBody>
      </p:sp>
      <p:sp>
        <p:nvSpPr>
          <p:cNvPr id="12" name="">
            <a:extLst xmlns:a="http://schemas.openxmlformats.org/drawingml/2006/main">
              <a:ext uri="{FF2B5EF4-FFF2-40B4-BE49-F238E27FC236}">
                <a16:creationId xmlns:a16="http://schemas.microsoft.com/office/drawing/2014/main" id="{80DBAE71-49C3-4FFA-8D89-052EF90CDDA1}"/>
              </a:ext>
            </a:extLst>
          </p:cNvPr>
          <p:cNvSpPr>
            <a:spLocks xmlns:a="http://schemas.openxmlformats.org/drawingml/2006/main" noGrp="1"/>
          </p:cNvSpPr>
          <p:nvPr/>
        </p:nvSpPr>
        <p:spPr>
          <a:xfrm xmlns:a="http://schemas.openxmlformats.org/drawingml/2006/main">
            <a:off x="6419850" y="3438525"/>
            <a:ext cx="504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162C3D"/>
                </a:solidFill>
                <a:latin typeface="Helvetica Neue"/>
                <a:ea typeface="Helvetica Neue"/>
                <a:cs typeface="Helvetica Neue"/>
              </a:defRPr>
            </a:pPr>
            <a:r>
              <a:rPr sz="1875" b="0">
                <a:solidFill>
                  <a:srgbClr val="162C3D"/>
                </a:solidFill>
                <a:latin typeface="Helvetica Neue"/>
                <a:ea typeface="Helvetica Neue"/>
                <a:cs typeface="Helvetica Neue"/>
              </a:rPr>
              <a:t>Optional FastAPI service and third-party BERT</a:t>
            </a:r>
          </a:p>
        </p:txBody>
      </p:sp>
      <p:sp>
        <p:nvSpPr>
          <p:cNvPr id="13" name="">
            <a:extLst xmlns:a="http://schemas.openxmlformats.org/drawingml/2006/main">
              <a:ext uri="{FF2B5EF4-FFF2-40B4-BE49-F238E27FC236}">
                <a16:creationId xmlns:a16="http://schemas.microsoft.com/office/drawing/2014/main" id="{5D914DB1-DDC8-49E1-9541-E4AB0384ECAC}"/>
              </a:ext>
            </a:extLst>
          </p:cNvPr>
          <p:cNvSpPr>
            <a:spLocks xmlns:a="http://schemas.openxmlformats.org/drawingml/2006/main" noGrp="1"/>
          </p:cNvSpPr>
          <p:nvPr/>
        </p:nvSpPr>
        <p:spPr>
          <a:xfrm xmlns:a="http://schemas.openxmlformats.org/drawingml/2006/main">
            <a:off x="6419850" y="4324350"/>
            <a:ext cx="514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247A64"/>
                </a:solidFill>
                <a:latin typeface="Helvetica Neue"/>
                <a:ea typeface="Helvetica Neue"/>
                <a:cs typeface="Helvetica Neue"/>
              </a:defRPr>
            </a:pPr>
            <a:r>
              <a:rPr sz="2175" b="1">
                <a:solidFill>
                  <a:srgbClr val="247A64"/>
                </a:solidFill>
                <a:latin typeface="Helvetica Neue"/>
                <a:ea typeface="Helvetica Neue"/>
                <a:cs typeface="Helvetica Neue"/>
              </a:rPr>
              <a:t>server/content/</a:t>
            </a:r>
          </a:p>
        </p:txBody>
      </p:sp>
      <p:sp>
        <p:nvSpPr>
          <p:cNvPr id="14" name="">
            <a:extLst xmlns:a="http://schemas.openxmlformats.org/drawingml/2006/main">
              <a:ext uri="{FF2B5EF4-FFF2-40B4-BE49-F238E27FC236}">
                <a16:creationId xmlns:a16="http://schemas.microsoft.com/office/drawing/2014/main" id="{B3508862-A003-4040-A30E-A6D203B09216}"/>
              </a:ext>
            </a:extLst>
          </p:cNvPr>
          <p:cNvSpPr>
            <a:spLocks xmlns:a="http://schemas.openxmlformats.org/drawingml/2006/main" noGrp="1"/>
          </p:cNvSpPr>
          <p:nvPr/>
        </p:nvSpPr>
        <p:spPr>
          <a:xfrm xmlns:a="http://schemas.openxmlformats.org/drawingml/2006/main">
            <a:off x="6419850" y="4762500"/>
            <a:ext cx="504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162C3D"/>
                </a:solidFill>
                <a:latin typeface="Helvetica Neue"/>
                <a:ea typeface="Helvetica Neue"/>
                <a:cs typeface="Helvetica Neue"/>
              </a:defRPr>
            </a:pPr>
            <a:r>
              <a:rPr sz="1875" b="0">
                <a:solidFill>
                  <a:srgbClr val="162C3D"/>
                </a:solidFill>
                <a:latin typeface="Helvetica Neue"/>
                <a:ea typeface="Helvetica Neue"/>
                <a:cs typeface="Helvetica Neue"/>
              </a:rPr>
              <a:t>Versioned lessons and tasks, validated before seeding</a:t>
            </a:r>
          </a:p>
        </p:txBody>
      </p:sp>
      <p:sp>
        <p:nvSpPr>
          <p:cNvPr id="15" name="">
            <a:extLst xmlns:a="http://schemas.openxmlformats.org/drawingml/2006/main">
              <a:ext uri="{FF2B5EF4-FFF2-40B4-BE49-F238E27FC236}">
                <a16:creationId xmlns:a16="http://schemas.microsoft.com/office/drawing/2014/main" id="{FB8EA1E6-4036-4B28-AD9B-8D73CCAD5EED}"/>
              </a:ext>
            </a:extLst>
          </p:cNvPr>
          <p:cNvSpPr>
            <a:spLocks xmlns:a="http://schemas.openxmlformats.org/drawingml/2006/main" noGrp="1"/>
          </p:cNvSpPr>
          <p:nvPr/>
        </p:nvSpPr>
        <p:spPr>
          <a:xfrm xmlns:a="http://schemas.openxmlformats.org/drawingml/2006/main">
            <a:off x="609600" y="5838825"/>
            <a:ext cx="10953750" cy="0"/>
          </a:xfrm>
          <a:prstGeom xmlns:a="http://schemas.openxmlformats.org/drawingml/2006/main" prst="line">
            <a:avLst/>
          </a:prstGeom>
          <a:noFill xmlns:a="http://schemas.openxmlformats.org/drawingml/2006/main"/>
          <a:ln xmlns:a="http://schemas.openxmlformats.org/drawingml/2006/main" w="9525">
            <a:solidFill>
              <a:srgbClr val="CAD3CF"/>
            </a:solidFill>
          </a:ln>
        </p:spPr>
      </p:sp>
      <p:sp>
        <p:nvSpPr>
          <p:cNvPr id="16" name="">
            <a:extLst xmlns:a="http://schemas.openxmlformats.org/drawingml/2006/main">
              <a:ext uri="{FF2B5EF4-FFF2-40B4-BE49-F238E27FC236}">
                <a16:creationId xmlns:a16="http://schemas.microsoft.com/office/drawing/2014/main" id="{9CD5C19A-C87E-4DDC-B174-D74124A5F954}"/>
              </a:ext>
            </a:extLst>
          </p:cNvPr>
          <p:cNvSpPr>
            <a:spLocks xmlns:a="http://schemas.openxmlformats.org/drawingml/2006/main" noGrp="1"/>
          </p:cNvSpPr>
          <p:nvPr/>
        </p:nvSpPr>
        <p:spPr>
          <a:xfrm xmlns:a="http://schemas.openxmlformats.org/drawingml/2006/main">
            <a:off x="609600" y="6115050"/>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3616A"/>
                </a:solidFill>
                <a:latin typeface="Helvetica Neue"/>
                <a:ea typeface="Helvetica Neue"/>
                <a:cs typeface="Helvetica Neue"/>
              </a:defRPr>
            </a:pPr>
            <a:r>
              <a:rPr sz="1800" b="0">
                <a:solidFill>
                  <a:srgbClr val="53616A"/>
                </a:solidFill>
                <a:latin typeface="Helvetica Neue"/>
                <a:ea typeface="Helvetica Neue"/>
                <a:cs typeface="Helvetica Neue"/>
              </a:rPr>
              <a:t>Project author: Volkov Artem Aleksandrovich</a:t>
            </a:r>
          </a:p>
        </p:txBody>
      </p:sp>
    </p:spTree>
    <p:extLst>
      <p:ext uri="{BB962C8B-B14F-4D97-AF65-F5344CB8AC3E}">
        <p14:creationId xmlns:p14="http://schemas.microsoft.com/office/powerpoint/2010/main" val="1794284639"/>
      </p:ext>
    </p:extLst>
  </p:cSld>
</p:sld>
</file>

<file path=ppt/slides/slide5.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47E96DC-6BD7-4D61-9B68-E399B287D25C}"/>
              </a:ext>
            </a:extLst>
          </p:cNvPr>
          <p:cNvSpPr>
            <a:spLocks xmlns:a="http://schemas.openxmlformats.org/drawingml/2006/main" noGrp="1"/>
          </p:cNvSpPr>
          <p:nvPr/>
        </p:nvSpPr>
        <p:spPr>
          <a:xfrm xmlns:a="http://schemas.openxmlformats.org/drawingml/2006/main">
            <a:off x="609600" y="51435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162C3D"/>
                </a:solidFill>
                <a:latin typeface="Helvetica Neue"/>
                <a:ea typeface="Helvetica Neue"/>
                <a:cs typeface="Helvetica Neue"/>
              </a:defRPr>
            </a:pPr>
            <a:r>
              <a:rPr sz="3450" b="1">
                <a:solidFill>
                  <a:srgbClr val="162C3D"/>
                </a:solidFill>
                <a:latin typeface="Helvetica Neue"/>
                <a:ea typeface="Helvetica Neue"/>
                <a:cs typeface="Helvetica Neue"/>
              </a:rPr>
              <a:t>The learning experience</a:t>
            </a:r>
          </a:p>
        </p:txBody>
      </p:sp>
      <p:sp>
        <p:nvSpPr>
          <p:cNvPr id="2" name="">
            <a:extLst xmlns:a="http://schemas.openxmlformats.org/drawingml/2006/main">
              <a:ext uri="{FF2B5EF4-FFF2-40B4-BE49-F238E27FC236}">
                <a16:creationId xmlns:a16="http://schemas.microsoft.com/office/drawing/2014/main" id="{D9DD50D8-7B94-434B-8323-EFACC7E7270C}"/>
              </a:ext>
            </a:extLst>
          </p:cNvPr>
          <p:cNvSpPr>
            <a:spLocks xmlns:a="http://schemas.openxmlformats.org/drawingml/2006/main" noGrp="1"/>
          </p:cNvSpPr>
          <p:nvPr/>
        </p:nvSpPr>
        <p:spPr>
          <a:xfrm xmlns:a="http://schemas.openxmlformats.org/drawingml/2006/main">
            <a:off x="111442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53616A"/>
                </a:solidFill>
                <a:latin typeface="Helvetica Neue"/>
                <a:ea typeface="Helvetica Neue"/>
                <a:cs typeface="Helvetica Neue"/>
              </a:defRPr>
            </a:pPr>
            <a:r>
              <a:rPr sz="1200" b="0">
                <a:solidFill>
                  <a:srgbClr val="53616A"/>
                </a:solidFill>
                <a:latin typeface="Helvetica Neue"/>
                <a:ea typeface="Helvetica Neue"/>
                <a:cs typeface="Helvetica Neue"/>
              </a:rPr>
              <a:t>05</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4fbed25c91724206"/>
          <a:stretch xmlns:a="http://schemas.openxmlformats.org/drawingml/2006/main"/>
        </p:blipFill>
        <p:spPr>
          <a:xfrm xmlns:a="http://schemas.openxmlformats.org/drawingml/2006/main">
            <a:off x="4802188" y="1638300"/>
            <a:ext cx="6807200" cy="38290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58B4941-07A5-448C-81E5-0879888E822C}"/>
              </a:ext>
            </a:extLst>
          </p:cNvPr>
          <p:cNvSpPr>
            <a:spLocks xmlns:a="http://schemas.openxmlformats.org/drawingml/2006/main" noGrp="1"/>
          </p:cNvSpPr>
          <p:nvPr/>
        </p:nvSpPr>
        <p:spPr>
          <a:xfrm xmlns:a="http://schemas.openxmlformats.org/drawingml/2006/main">
            <a:off x="609600" y="1724025"/>
            <a:ext cx="3886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247A64"/>
                </a:solidFill>
                <a:latin typeface="Helvetica Neue"/>
                <a:ea typeface="Helvetica Neue"/>
                <a:cs typeface="Helvetica Neue"/>
              </a:defRPr>
            </a:pPr>
            <a:r>
              <a:rPr sz="2100" b="1">
                <a:solidFill>
                  <a:srgbClr val="247A64"/>
                </a:solidFill>
                <a:latin typeface="Helvetica Neue"/>
                <a:ea typeface="Helvetica Neue"/>
                <a:cs typeface="Helvetica Neue"/>
              </a:rPr>
              <a:t>21 courses</a:t>
            </a:r>
          </a:p>
        </p:txBody>
      </p:sp>
      <p:sp>
        <p:nvSpPr>
          <p:cNvPr id="5" name="">
            <a:extLst xmlns:a="http://schemas.openxmlformats.org/drawingml/2006/main">
              <a:ext uri="{FF2B5EF4-FFF2-40B4-BE49-F238E27FC236}">
                <a16:creationId xmlns:a16="http://schemas.microsoft.com/office/drawing/2014/main" id="{1FC58E4C-6F20-427F-9465-53DAE63C59F9}"/>
              </a:ext>
            </a:extLst>
          </p:cNvPr>
          <p:cNvSpPr>
            <a:spLocks xmlns:a="http://schemas.openxmlformats.org/drawingml/2006/main" noGrp="1"/>
          </p:cNvSpPr>
          <p:nvPr/>
        </p:nvSpPr>
        <p:spPr>
          <a:xfrm xmlns:a="http://schemas.openxmlformats.org/drawingml/2006/main">
            <a:off x="609600" y="2219325"/>
            <a:ext cx="3886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62C3D"/>
                </a:solidFill>
                <a:latin typeface="Helvetica Neue"/>
                <a:ea typeface="Helvetica Neue"/>
                <a:cs typeface="Helvetica Neue"/>
              </a:defRPr>
            </a:pPr>
            <a:r>
              <a:rPr sz="2025" b="0">
                <a:solidFill>
                  <a:srgbClr val="162C3D"/>
                </a:solidFill>
                <a:latin typeface="Helvetica Neue"/>
                <a:ea typeface="Helvetica Neue"/>
                <a:cs typeface="Helvetica Neue"/>
              </a:rPr>
              <a:t>27 lessons</a:t>
            </a:r>
          </a:p>
          <a:p xmlns:a="http://schemas.openxmlformats.org/drawingml/2006/main">
            <a:pPr>
              <a:defRPr sz="2025" b="0">
                <a:solidFill>
                  <a:srgbClr val="162C3D"/>
                </a:solidFill>
                <a:latin typeface="Helvetica Neue"/>
                <a:ea typeface="Helvetica Neue"/>
                <a:cs typeface="Helvetica Neue"/>
              </a:defRPr>
            </a:pPr>
            <a:r>
              <a:rPr sz="2025" b="0">
                <a:solidFill>
                  <a:srgbClr val="162C3D"/>
                </a:solidFill>
                <a:latin typeface="Helvetica Neue"/>
                <a:ea typeface="Helvetica Neue"/>
                <a:cs typeface="Helvetica Neue"/>
              </a:rPr>
              <a:t>163 tasks</a:t>
            </a:r>
          </a:p>
          <a:p xmlns:a="http://schemas.openxmlformats.org/drawingml/2006/main">
            <a:pPr>
              <a:defRPr sz="2025" b="0">
                <a:solidFill>
                  <a:srgbClr val="162C3D"/>
                </a:solidFill>
                <a:latin typeface="Helvetica Neue"/>
                <a:ea typeface="Helvetica Neue"/>
                <a:cs typeface="Helvetica Neue"/>
              </a:defRPr>
            </a:pPr>
            <a:r>
              <a:rPr sz="2025" b="0">
                <a:solidFill>
                  <a:srgbClr val="162C3D"/>
                </a:solidFill>
                <a:latin typeface="Helvetica Neue"/>
                <a:ea typeface="Helvetica Neue"/>
                <a:cs typeface="Helvetica Neue"/>
              </a:rPr>
              <a:t>21 final tests</a:t>
            </a:r>
          </a:p>
        </p:txBody>
      </p:sp>
      <p:sp>
        <p:nvSpPr>
          <p:cNvPr id="6" name="">
            <a:extLst xmlns:a="http://schemas.openxmlformats.org/drawingml/2006/main">
              <a:ext uri="{FF2B5EF4-FFF2-40B4-BE49-F238E27FC236}">
                <a16:creationId xmlns:a16="http://schemas.microsoft.com/office/drawing/2014/main" id="{8BBA4E9E-030E-4364-9C07-77FE96F8BFB4}"/>
              </a:ext>
            </a:extLst>
          </p:cNvPr>
          <p:cNvSpPr>
            <a:spLocks xmlns:a="http://schemas.openxmlformats.org/drawingml/2006/main" noGrp="1"/>
          </p:cNvSpPr>
          <p:nvPr/>
        </p:nvSpPr>
        <p:spPr>
          <a:xfrm xmlns:a="http://schemas.openxmlformats.org/drawingml/2006/main">
            <a:off x="609600" y="4295775"/>
            <a:ext cx="40290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247A64"/>
                </a:solidFill>
                <a:latin typeface="Helvetica Neue"/>
                <a:ea typeface="Helvetica Neue"/>
                <a:cs typeface="Helvetica Neue"/>
              </a:defRPr>
            </a:pPr>
            <a:r>
              <a:rPr sz="2100" b="1">
                <a:solidFill>
                  <a:srgbClr val="247A64"/>
                </a:solidFill>
                <a:latin typeface="Helvetica Neue"/>
                <a:ea typeface="Helvetica Neue"/>
                <a:cs typeface="Helvetica Neue"/>
              </a:rPr>
              <a:t>English and Russian</a:t>
            </a:r>
          </a:p>
        </p:txBody>
      </p:sp>
      <p:sp>
        <p:nvSpPr>
          <p:cNvPr id="7" name="">
            <a:extLst xmlns:a="http://schemas.openxmlformats.org/drawingml/2006/main">
              <a:ext uri="{FF2B5EF4-FFF2-40B4-BE49-F238E27FC236}">
                <a16:creationId xmlns:a16="http://schemas.microsoft.com/office/drawing/2014/main" id="{741518DB-7178-4731-AE7E-9FBBD1BE1023}"/>
              </a:ext>
            </a:extLst>
          </p:cNvPr>
          <p:cNvSpPr>
            <a:spLocks xmlns:a="http://schemas.openxmlformats.org/drawingml/2006/main" noGrp="1"/>
          </p:cNvSpPr>
          <p:nvPr/>
        </p:nvSpPr>
        <p:spPr>
          <a:xfrm xmlns:a="http://schemas.openxmlformats.org/drawingml/2006/main">
            <a:off x="609600" y="4781550"/>
            <a:ext cx="40005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162C3D"/>
                </a:solidFill>
                <a:latin typeface="Helvetica Neue"/>
                <a:ea typeface="Helvetica Neue"/>
                <a:cs typeface="Helvetica Neue"/>
              </a:defRPr>
            </a:pPr>
            <a:r>
              <a:rPr sz="2175" b="0">
                <a:solidFill>
                  <a:srgbClr val="162C3D"/>
                </a:solidFill>
                <a:latin typeface="Helvetica Neue"/>
                <a:ea typeface="Helvetica Neue"/>
                <a:cs typeface="Helvetica Neue"/>
              </a:rPr>
              <a:t>Lessons, practice tasks,</a:t>
            </a:r>
          </a:p>
          <a:p xmlns:a="http://schemas.openxmlformats.org/drawingml/2006/main">
            <a:pPr>
              <a:defRPr sz="2175" b="0">
                <a:solidFill>
                  <a:srgbClr val="162C3D"/>
                </a:solidFill>
                <a:latin typeface="Helvetica Neue"/>
                <a:ea typeface="Helvetica Neue"/>
                <a:cs typeface="Helvetica Neue"/>
              </a:defRPr>
            </a:pPr>
            <a:r>
              <a:rPr sz="2175" b="0">
                <a:solidFill>
                  <a:srgbClr val="162C3D"/>
                </a:solidFill>
                <a:latin typeface="Helvetica Neue"/>
                <a:ea typeface="Helvetica Neue"/>
                <a:cs typeface="Helvetica Neue"/>
              </a:rPr>
              <a:t>progress and certificates.</a:t>
            </a:r>
          </a:p>
        </p:txBody>
      </p:sp>
      <p:sp>
        <p:nvSpPr>
          <p:cNvPr id="8" name="">
            <a:extLst xmlns:a="http://schemas.openxmlformats.org/drawingml/2006/main">
              <a:ext uri="{FF2B5EF4-FFF2-40B4-BE49-F238E27FC236}">
                <a16:creationId xmlns:a16="http://schemas.microsoft.com/office/drawing/2014/main" id="{3CCE8FC6-105D-412A-9DFC-D2E1F5FA43A7}"/>
              </a:ext>
            </a:extLst>
          </p:cNvPr>
          <p:cNvSpPr>
            <a:spLocks xmlns:a="http://schemas.openxmlformats.org/drawingml/2006/main" noGrp="1"/>
          </p:cNvSpPr>
          <p:nvPr/>
        </p:nvSpPr>
        <p:spPr>
          <a:xfrm xmlns:a="http://schemas.openxmlformats.org/drawingml/2006/main">
            <a:off x="4800600" y="5734050"/>
            <a:ext cx="676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53616A"/>
                </a:solidFill>
                <a:latin typeface="Helvetica Neue"/>
                <a:ea typeface="Helvetica Neue"/>
                <a:cs typeface="Helvetica Neue"/>
              </a:defRPr>
            </a:pPr>
            <a:r>
              <a:rPr sz="1575" b="0">
                <a:solidFill>
                  <a:srgbClr val="53616A"/>
                </a:solidFill>
                <a:latin typeface="Helvetica Neue"/>
                <a:ea typeface="Helvetica Neue"/>
                <a:cs typeface="Helvetica Neue"/>
              </a:rPr>
              <a:t>Local demo account · 30 September 2026</a:t>
            </a:r>
          </a:p>
        </p:txBody>
      </p:sp>
    </p:spTree>
    <p:extLst>
      <p:ext uri="{BB962C8B-B14F-4D97-AF65-F5344CB8AC3E}">
        <p14:creationId xmlns:p14="http://schemas.microsoft.com/office/powerpoint/2010/main" val="1702942658"/>
      </p:ext>
    </p:extLst>
  </p:cSld>
</p:sld>
</file>

<file path=ppt/slides/slide6.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DBBD99B-0249-44BB-847A-2442804B0FEE}"/>
              </a:ext>
            </a:extLst>
          </p:cNvPr>
          <p:cNvSpPr>
            <a:spLocks xmlns:a="http://schemas.openxmlformats.org/drawingml/2006/main" noGrp="1"/>
          </p:cNvSpPr>
          <p:nvPr/>
        </p:nvSpPr>
        <p:spPr>
          <a:xfrm xmlns:a="http://schemas.openxmlformats.org/drawingml/2006/main">
            <a:off x="609600" y="51435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162C3D"/>
                </a:solidFill>
                <a:latin typeface="Helvetica Neue"/>
                <a:ea typeface="Helvetica Neue"/>
                <a:cs typeface="Helvetica Neue"/>
              </a:defRPr>
            </a:pPr>
            <a:r>
              <a:rPr sz="3450" b="1">
                <a:solidFill>
                  <a:srgbClr val="162C3D"/>
                </a:solidFill>
                <a:latin typeface="Helvetica Neue"/>
                <a:ea typeface="Helvetica Neue"/>
                <a:cs typeface="Helvetica Neue"/>
              </a:rPr>
              <a:t>Practice, then an explanation</a:t>
            </a:r>
          </a:p>
        </p:txBody>
      </p:sp>
      <p:sp>
        <p:nvSpPr>
          <p:cNvPr id="2" name="">
            <a:extLst xmlns:a="http://schemas.openxmlformats.org/drawingml/2006/main">
              <a:ext uri="{FF2B5EF4-FFF2-40B4-BE49-F238E27FC236}">
                <a16:creationId xmlns:a16="http://schemas.microsoft.com/office/drawing/2014/main" id="{5D48F1EF-A08D-4672-81C6-DEB7F8D0BF90}"/>
              </a:ext>
            </a:extLst>
          </p:cNvPr>
          <p:cNvSpPr>
            <a:spLocks xmlns:a="http://schemas.openxmlformats.org/drawingml/2006/main" noGrp="1"/>
          </p:cNvSpPr>
          <p:nvPr/>
        </p:nvSpPr>
        <p:spPr>
          <a:xfrm xmlns:a="http://schemas.openxmlformats.org/drawingml/2006/main">
            <a:off x="111442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53616A"/>
                </a:solidFill>
                <a:latin typeface="Helvetica Neue"/>
                <a:ea typeface="Helvetica Neue"/>
                <a:cs typeface="Helvetica Neue"/>
              </a:defRPr>
            </a:pPr>
            <a:r>
              <a:rPr sz="1200" b="0">
                <a:solidFill>
                  <a:srgbClr val="53616A"/>
                </a:solidFill>
                <a:latin typeface="Helvetica Neue"/>
                <a:ea typeface="Helvetica Neue"/>
                <a:cs typeface="Helvetica Neue"/>
              </a:rPr>
              <a:t>06</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0c8782cc1bcb4a26"/>
          <a:stretch xmlns:a="http://schemas.openxmlformats.org/drawingml/2006/main"/>
        </p:blipFill>
        <p:spPr>
          <a:xfrm xmlns:a="http://schemas.openxmlformats.org/drawingml/2006/main">
            <a:off x="609600" y="1609725"/>
            <a:ext cx="5334000" cy="3000375"/>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b563bee845da4df8"/>
          <a:stretch xmlns:a="http://schemas.openxmlformats.org/drawingml/2006/main"/>
        </p:blipFill>
        <p:spPr>
          <a:xfrm xmlns:a="http://schemas.openxmlformats.org/drawingml/2006/main">
            <a:off x="6248400" y="1609725"/>
            <a:ext cx="5334000" cy="30003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7E8923A-F107-4932-8B41-0BB039C0B1DE}"/>
              </a:ext>
            </a:extLst>
          </p:cNvPr>
          <p:cNvSpPr>
            <a:spLocks xmlns:a="http://schemas.openxmlformats.org/drawingml/2006/main" noGrp="1"/>
          </p:cNvSpPr>
          <p:nvPr/>
        </p:nvSpPr>
        <p:spPr>
          <a:xfrm xmlns:a="http://schemas.openxmlformats.org/drawingml/2006/main">
            <a:off x="609600" y="4867275"/>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247A64"/>
                </a:solidFill>
                <a:latin typeface="Helvetica Neue"/>
                <a:ea typeface="Helvetica Neue"/>
                <a:cs typeface="Helvetica Neue"/>
              </a:defRPr>
            </a:pPr>
            <a:r>
              <a:rPr sz="2100" b="1">
                <a:solidFill>
                  <a:srgbClr val="247A64"/>
                </a:solidFill>
                <a:latin typeface="Helvetica Neue"/>
                <a:ea typeface="Helvetica Neue"/>
                <a:cs typeface="Helvetica Neue"/>
              </a:rPr>
              <a:t>Answer a concrete question</a:t>
            </a:r>
          </a:p>
        </p:txBody>
      </p:sp>
      <p:sp>
        <p:nvSpPr>
          <p:cNvPr id="6" name="">
            <a:extLst xmlns:a="http://schemas.openxmlformats.org/drawingml/2006/main">
              <a:ext uri="{FF2B5EF4-FFF2-40B4-BE49-F238E27FC236}">
                <a16:creationId xmlns:a16="http://schemas.microsoft.com/office/drawing/2014/main" id="{C63F5F0B-BE30-4EB0-9F39-0268F201A1F4}"/>
              </a:ext>
            </a:extLst>
          </p:cNvPr>
          <p:cNvSpPr>
            <a:spLocks xmlns:a="http://schemas.openxmlformats.org/drawingml/2006/main" noGrp="1"/>
          </p:cNvSpPr>
          <p:nvPr/>
        </p:nvSpPr>
        <p:spPr>
          <a:xfrm xmlns:a="http://schemas.openxmlformats.org/drawingml/2006/main">
            <a:off x="609600" y="5362575"/>
            <a:ext cx="5143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62C3D"/>
                </a:solidFill>
                <a:latin typeface="Helvetica Neue"/>
                <a:ea typeface="Helvetica Neue"/>
                <a:cs typeface="Helvetica Neue"/>
              </a:defRPr>
            </a:pPr>
            <a:r>
              <a:rPr sz="2025" b="0">
                <a:solidFill>
                  <a:srgbClr val="162C3D"/>
                </a:solidFill>
                <a:latin typeface="Helvetica Neue"/>
                <a:ea typeface="Helvetica Neue"/>
                <a:cs typeface="Helvetica Neue"/>
              </a:rPr>
              <a:t>Choose what an ISP can see</a:t>
            </a:r>
          </a:p>
          <a:p xmlns:a="http://schemas.openxmlformats.org/drawingml/2006/main">
            <a:pPr>
              <a:defRPr sz="2025" b="0">
                <a:solidFill>
                  <a:srgbClr val="162C3D"/>
                </a:solidFill>
                <a:latin typeface="Helvetica Neue"/>
                <a:ea typeface="Helvetica Neue"/>
                <a:cs typeface="Helvetica Neue"/>
              </a:defRPr>
            </a:pPr>
            <a:r>
              <a:rPr sz="2025" b="0">
                <a:solidFill>
                  <a:srgbClr val="162C3D"/>
                </a:solidFill>
                <a:latin typeface="Helvetica Neue"/>
                <a:ea typeface="Helvetica Neue"/>
                <a:cs typeface="Helvetica Neue"/>
              </a:rPr>
              <a:t>when traffic goes through a VPN.</a:t>
            </a:r>
          </a:p>
        </p:txBody>
      </p:sp>
      <p:sp>
        <p:nvSpPr>
          <p:cNvPr id="7" name="">
            <a:extLst xmlns:a="http://schemas.openxmlformats.org/drawingml/2006/main">
              <a:ext uri="{FF2B5EF4-FFF2-40B4-BE49-F238E27FC236}">
                <a16:creationId xmlns:a16="http://schemas.microsoft.com/office/drawing/2014/main" id="{9CE30328-DF60-4C3B-85CE-FE397EB9EEAF}"/>
              </a:ext>
            </a:extLst>
          </p:cNvPr>
          <p:cNvSpPr>
            <a:spLocks xmlns:a="http://schemas.openxmlformats.org/drawingml/2006/main" noGrp="1"/>
          </p:cNvSpPr>
          <p:nvPr/>
        </p:nvSpPr>
        <p:spPr>
          <a:xfrm xmlns:a="http://schemas.openxmlformats.org/drawingml/2006/main">
            <a:off x="6248400" y="4867275"/>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247A64"/>
                </a:solidFill>
                <a:latin typeface="Helvetica Neue"/>
                <a:ea typeface="Helvetica Neue"/>
                <a:cs typeface="Helvetica Neue"/>
              </a:defRPr>
            </a:pPr>
            <a:r>
              <a:rPr sz="2100" b="1">
                <a:solidFill>
                  <a:srgbClr val="247A64"/>
                </a:solidFill>
                <a:latin typeface="Helvetica Neue"/>
                <a:ea typeface="Helvetica Neue"/>
                <a:cs typeface="Helvetica Neue"/>
              </a:rPr>
              <a:t>Read the reason</a:t>
            </a:r>
          </a:p>
        </p:txBody>
      </p:sp>
      <p:sp>
        <p:nvSpPr>
          <p:cNvPr id="8" name="">
            <a:extLst xmlns:a="http://schemas.openxmlformats.org/drawingml/2006/main">
              <a:ext uri="{FF2B5EF4-FFF2-40B4-BE49-F238E27FC236}">
                <a16:creationId xmlns:a16="http://schemas.microsoft.com/office/drawing/2014/main" id="{5C457D65-78B6-4C2A-8D13-43C779CCADA8}"/>
              </a:ext>
            </a:extLst>
          </p:cNvPr>
          <p:cNvSpPr>
            <a:spLocks xmlns:a="http://schemas.openxmlformats.org/drawingml/2006/main" noGrp="1"/>
          </p:cNvSpPr>
          <p:nvPr/>
        </p:nvSpPr>
        <p:spPr>
          <a:xfrm xmlns:a="http://schemas.openxmlformats.org/drawingml/2006/main">
            <a:off x="6248400" y="5362575"/>
            <a:ext cx="5143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62C3D"/>
                </a:solidFill>
                <a:latin typeface="Helvetica Neue"/>
                <a:ea typeface="Helvetica Neue"/>
                <a:cs typeface="Helvetica Neue"/>
              </a:defRPr>
            </a:pPr>
            <a:r>
              <a:rPr sz="2025" b="0">
                <a:solidFill>
                  <a:srgbClr val="162C3D"/>
                </a:solidFill>
                <a:latin typeface="Helvetica Neue"/>
                <a:ea typeface="Helvetica Neue"/>
                <a:cs typeface="Helvetica Neue"/>
              </a:rPr>
              <a:t>Feedback explains the answer.</a:t>
            </a:r>
          </a:p>
          <a:p xmlns:a="http://schemas.openxmlformats.org/drawingml/2006/main">
            <a:pPr>
              <a:defRPr sz="2025" b="0">
                <a:solidFill>
                  <a:srgbClr val="162C3D"/>
                </a:solidFill>
                <a:latin typeface="Helvetica Neue"/>
                <a:ea typeface="Helvetica Neue"/>
                <a:cs typeface="Helvetica Neue"/>
              </a:defRPr>
            </a:pPr>
            <a:r>
              <a:rPr sz="2025" b="0">
                <a:solidFill>
                  <a:srgbClr val="162C3D"/>
                </a:solidFill>
                <a:latin typeface="Helvetica Neue"/>
                <a:ea typeface="Helvetica Neue"/>
                <a:cs typeface="Helvetica Neue"/>
              </a:rPr>
              <a:t>Repeating a task adds no XP.</a:t>
            </a:r>
          </a:p>
        </p:txBody>
      </p:sp>
    </p:spTree>
    <p:extLst>
      <p:ext uri="{BB962C8B-B14F-4D97-AF65-F5344CB8AC3E}">
        <p14:creationId xmlns:p14="http://schemas.microsoft.com/office/powerpoint/2010/main" val="1618994653"/>
      </p:ext>
    </p:extLst>
  </p:cSld>
</p:sld>
</file>

<file path=ppt/slides/slide7.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cxnSp>
        <p:nvCxnSpPr>
          <p:cNvPr id="16" name=""/>
          <p:cNvCxnSpPr>
            <a:stCxn xmlns:a="http://schemas.openxmlformats.org/drawingml/2006/main" id="6" idx="3"/>
            <a:endCxn xmlns:a="http://schemas.openxmlformats.org/drawingml/2006/main" id="9" idx="1"/>
          </p:cNvCxnSpPr>
          <p:nvPr/>
        </p:nvCxnSpPr>
        <p:spPr>
          <a:xfrm xmlns:a="http://schemas.openxmlformats.org/drawingml/2006/main">
            <a:off x="7658100" y="2690813"/>
            <a:ext cx="762000" cy="0"/>
          </a:xfrm>
          <a:prstGeom xmlns:a="http://schemas.openxmlformats.org/drawingml/2006/main" prst="straightConnector1">
            <a:avLst/>
          </a:prstGeom>
          <a:ln xmlns:a="http://schemas.openxmlformats.org/drawingml/2006/main" w="19050">
            <a:solidFill>
              <a:srgbClr val="247A64"/>
            </a:solidFill>
          </a:ln>
        </p:spPr>
      </p:cxnSp>
      <p:cxnSp>
        <p:nvCxnSpPr>
          <p:cNvPr id="17" name=""/>
          <p:cNvCxnSpPr>
            <a:stCxn xmlns:a="http://schemas.openxmlformats.org/drawingml/2006/main" id="3" idx="3"/>
            <a:endCxn xmlns:a="http://schemas.openxmlformats.org/drawingml/2006/main" id="6" idx="1"/>
          </p:cNvCxnSpPr>
          <p:nvPr/>
        </p:nvCxnSpPr>
        <p:spPr>
          <a:xfrm xmlns:a="http://schemas.openxmlformats.org/drawingml/2006/main">
            <a:off x="3752850" y="2690813"/>
            <a:ext cx="762000" cy="0"/>
          </a:xfrm>
          <a:prstGeom xmlns:a="http://schemas.openxmlformats.org/drawingml/2006/main" prst="straightConnector1">
            <a:avLst/>
          </a:prstGeom>
          <a:ln xmlns:a="http://schemas.openxmlformats.org/drawingml/2006/main" w="19050">
            <a:solidFill>
              <a:srgbClr val="247A64"/>
            </a:solidFill>
          </a:ln>
        </p:spPr>
      </p:cxnSp>
      <p:sp>
        <p:nvSpPr>
          <p:cNvPr id="18" name="">
            <a:extLst xmlns:a="http://schemas.openxmlformats.org/drawingml/2006/main">
              <a:ext uri="{FF2B5EF4-FFF2-40B4-BE49-F238E27FC236}">
                <a16:creationId xmlns:a16="http://schemas.microsoft.com/office/drawing/2014/main" id="{E9D28E3A-32CF-4D19-90A0-7EE624A6319C}"/>
              </a:ext>
            </a:extLst>
          </p:cNvPr>
          <p:cNvSpPr>
            <a:spLocks xmlns:a="http://schemas.openxmlformats.org/drawingml/2006/main" noGrp="1"/>
          </p:cNvSpPr>
          <p:nvPr/>
        </p:nvSpPr>
        <p:spPr>
          <a:xfrm xmlns:a="http://schemas.openxmlformats.org/drawingml/2006/main">
            <a:off x="609600" y="51435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162C3D"/>
                </a:solidFill>
                <a:latin typeface="Helvetica Neue"/>
                <a:ea typeface="Helvetica Neue"/>
                <a:cs typeface="Helvetica Neue"/>
              </a:defRPr>
            </a:pPr>
            <a:r>
              <a:rPr sz="3450" b="1">
                <a:solidFill>
                  <a:srgbClr val="162C3D"/>
                </a:solidFill>
                <a:latin typeface="Helvetica Neue"/>
                <a:ea typeface="Helvetica Neue"/>
                <a:cs typeface="Helvetica Neue"/>
              </a:rPr>
              <a:t>Server-side assessment</a:t>
            </a:r>
          </a:p>
        </p:txBody>
      </p:sp>
      <p:sp>
        <p:nvSpPr>
          <p:cNvPr id="2" name="">
            <a:extLst xmlns:a="http://schemas.openxmlformats.org/drawingml/2006/main">
              <a:ext uri="{FF2B5EF4-FFF2-40B4-BE49-F238E27FC236}">
                <a16:creationId xmlns:a16="http://schemas.microsoft.com/office/drawing/2014/main" id="{E6F7AD28-F0AF-496B-BEE5-222DC3766884}"/>
              </a:ext>
            </a:extLst>
          </p:cNvPr>
          <p:cNvSpPr>
            <a:spLocks xmlns:a="http://schemas.openxmlformats.org/drawingml/2006/main" noGrp="1"/>
          </p:cNvSpPr>
          <p:nvPr/>
        </p:nvSpPr>
        <p:spPr>
          <a:xfrm xmlns:a="http://schemas.openxmlformats.org/drawingml/2006/main">
            <a:off x="111442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53616A"/>
                </a:solidFill>
                <a:latin typeface="Helvetica Neue"/>
                <a:ea typeface="Helvetica Neue"/>
                <a:cs typeface="Helvetica Neue"/>
              </a:defRPr>
            </a:pPr>
            <a:r>
              <a:rPr sz="1200" b="0">
                <a:solidFill>
                  <a:srgbClr val="53616A"/>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53C47438-0CB5-4518-BA65-13736D729D93}"/>
              </a:ext>
            </a:extLst>
          </p:cNvPr>
          <p:cNvSpPr>
            <a:spLocks xmlns:a="http://schemas.openxmlformats.org/drawingml/2006/main" noGrp="1"/>
          </p:cNvSpPr>
          <p:nvPr/>
        </p:nvSpPr>
        <p:spPr>
          <a:xfrm xmlns:a="http://schemas.openxmlformats.org/drawingml/2006/main">
            <a:off x="609600" y="2095500"/>
            <a:ext cx="3143250" cy="1190625"/>
          </a:xfrm>
          <a:prstGeom xmlns:a="http://schemas.openxmlformats.org/drawingml/2006/main" prst="rect">
            <a:avLst/>
          </a:prstGeom>
          <a:solidFill xmlns:a="http://schemas.openxmlformats.org/drawingml/2006/main">
            <a:srgbClr val="F5F3EE"/>
          </a:solidFill>
          <a:ln xmlns:a="http://schemas.openxmlformats.org/drawingml/2006/main" w="11430">
            <a:solidFill>
              <a:srgbClr val="247A64"/>
            </a:solidFill>
          </a:ln>
        </p:spPr>
      </p:sp>
      <p:sp>
        <p:nvSpPr>
          <p:cNvPr id="4" name="">
            <a:extLst xmlns:a="http://schemas.openxmlformats.org/drawingml/2006/main">
              <a:ext uri="{FF2B5EF4-FFF2-40B4-BE49-F238E27FC236}">
                <a16:creationId xmlns:a16="http://schemas.microsoft.com/office/drawing/2014/main" id="{520B2E44-E9D2-465E-9906-9708113A224E}"/>
              </a:ext>
            </a:extLst>
          </p:cNvPr>
          <p:cNvSpPr>
            <a:spLocks xmlns:a="http://schemas.openxmlformats.org/drawingml/2006/main" noGrp="1"/>
          </p:cNvSpPr>
          <p:nvPr/>
        </p:nvSpPr>
        <p:spPr>
          <a:xfrm xmlns:a="http://schemas.openxmlformats.org/drawingml/2006/main">
            <a:off x="781050" y="2247900"/>
            <a:ext cx="2800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62C3D"/>
                </a:solidFill>
                <a:latin typeface="Helvetica Neue"/>
                <a:ea typeface="Helvetica Neue"/>
                <a:cs typeface="Helvetica Neue"/>
              </a:defRPr>
            </a:pPr>
            <a:r>
              <a:rPr sz="2025" b="1">
                <a:solidFill>
                  <a:srgbClr val="162C3D"/>
                </a:solidFill>
                <a:latin typeface="Helvetica Neue"/>
                <a:ea typeface="Helvetica Neue"/>
                <a:cs typeface="Helvetica Neue"/>
              </a:rPr>
              <a:t>Learner selection</a:t>
            </a:r>
          </a:p>
        </p:txBody>
      </p:sp>
      <p:sp>
        <p:nvSpPr>
          <p:cNvPr id="5" name="">
            <a:extLst xmlns:a="http://schemas.openxmlformats.org/drawingml/2006/main">
              <a:ext uri="{FF2B5EF4-FFF2-40B4-BE49-F238E27FC236}">
                <a16:creationId xmlns:a16="http://schemas.microsoft.com/office/drawing/2014/main" id="{9A729252-ADF4-4B22-902A-D4F5E5342E3F}"/>
              </a:ext>
            </a:extLst>
          </p:cNvPr>
          <p:cNvSpPr>
            <a:spLocks xmlns:a="http://schemas.openxmlformats.org/drawingml/2006/main" noGrp="1"/>
          </p:cNvSpPr>
          <p:nvPr/>
        </p:nvSpPr>
        <p:spPr>
          <a:xfrm xmlns:a="http://schemas.openxmlformats.org/drawingml/2006/main">
            <a:off x="781050" y="2638425"/>
            <a:ext cx="28003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16A"/>
                </a:solidFill>
                <a:latin typeface="Helvetica Neue"/>
                <a:ea typeface="Helvetica Neue"/>
                <a:cs typeface="Helvetica Neue"/>
              </a:defRPr>
            </a:pPr>
            <a:r>
              <a:rPr sz="1500" b="0">
                <a:solidFill>
                  <a:srgbClr val="53616A"/>
                </a:solidFill>
                <a:latin typeface="Helvetica Neue"/>
                <a:ea typeface="Helvetica Neue"/>
                <a:cs typeface="Helvetica Neue"/>
              </a:rPr>
              <a:t>Red flags in a safe simulation</a:t>
            </a:r>
          </a:p>
        </p:txBody>
      </p:sp>
      <p:sp>
        <p:nvSpPr>
          <p:cNvPr id="6" name="">
            <a:extLst xmlns:a="http://schemas.openxmlformats.org/drawingml/2006/main">
              <a:ext uri="{FF2B5EF4-FFF2-40B4-BE49-F238E27FC236}">
                <a16:creationId xmlns:a16="http://schemas.microsoft.com/office/drawing/2014/main" id="{7DEE9684-3D5F-4F13-84CF-E7B9E3CE5747}"/>
              </a:ext>
            </a:extLst>
          </p:cNvPr>
          <p:cNvSpPr>
            <a:spLocks xmlns:a="http://schemas.openxmlformats.org/drawingml/2006/main" noGrp="1"/>
          </p:cNvSpPr>
          <p:nvPr/>
        </p:nvSpPr>
        <p:spPr>
          <a:xfrm xmlns:a="http://schemas.openxmlformats.org/drawingml/2006/main">
            <a:off x="4514850" y="2095500"/>
            <a:ext cx="3143250" cy="1190625"/>
          </a:xfrm>
          <a:prstGeom xmlns:a="http://schemas.openxmlformats.org/drawingml/2006/main" prst="rect">
            <a:avLst/>
          </a:prstGeom>
          <a:solidFill xmlns:a="http://schemas.openxmlformats.org/drawingml/2006/main">
            <a:srgbClr val="F5F3EE"/>
          </a:solidFill>
          <a:ln xmlns:a="http://schemas.openxmlformats.org/drawingml/2006/main" w="11430">
            <a:solidFill>
              <a:srgbClr val="247A64"/>
            </a:solidFill>
          </a:ln>
        </p:spPr>
      </p:sp>
      <p:sp>
        <p:nvSpPr>
          <p:cNvPr id="7" name="">
            <a:extLst xmlns:a="http://schemas.openxmlformats.org/drawingml/2006/main">
              <a:ext uri="{FF2B5EF4-FFF2-40B4-BE49-F238E27FC236}">
                <a16:creationId xmlns:a16="http://schemas.microsoft.com/office/drawing/2014/main" id="{F98BDE83-E189-4EBF-8CDF-EBF11B28D109}"/>
              </a:ext>
            </a:extLst>
          </p:cNvPr>
          <p:cNvSpPr>
            <a:spLocks xmlns:a="http://schemas.openxmlformats.org/drawingml/2006/main" noGrp="1"/>
          </p:cNvSpPr>
          <p:nvPr/>
        </p:nvSpPr>
        <p:spPr>
          <a:xfrm xmlns:a="http://schemas.openxmlformats.org/drawingml/2006/main">
            <a:off x="4686300" y="2247900"/>
            <a:ext cx="2800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62C3D"/>
                </a:solidFill>
                <a:latin typeface="Helvetica Neue"/>
                <a:ea typeface="Helvetica Neue"/>
                <a:cs typeface="Helvetica Neue"/>
              </a:defRPr>
            </a:pPr>
            <a:r>
              <a:rPr sz="2025" b="1">
                <a:solidFill>
                  <a:srgbClr val="162C3D"/>
                </a:solidFill>
                <a:latin typeface="Helvetica Neue"/>
                <a:ea typeface="Helvetica Neue"/>
                <a:cs typeface="Helvetica Neue"/>
              </a:rPr>
              <a:t>API evaluation</a:t>
            </a:r>
          </a:p>
        </p:txBody>
      </p:sp>
      <p:sp>
        <p:nvSpPr>
          <p:cNvPr id="8" name="">
            <a:extLst xmlns:a="http://schemas.openxmlformats.org/drawingml/2006/main">
              <a:ext uri="{FF2B5EF4-FFF2-40B4-BE49-F238E27FC236}">
                <a16:creationId xmlns:a16="http://schemas.microsoft.com/office/drawing/2014/main" id="{9601BE4F-6C1D-4F0B-9032-BEA4D3492F4E}"/>
              </a:ext>
            </a:extLst>
          </p:cNvPr>
          <p:cNvSpPr>
            <a:spLocks xmlns:a="http://schemas.openxmlformats.org/drawingml/2006/main" noGrp="1"/>
          </p:cNvSpPr>
          <p:nvPr/>
        </p:nvSpPr>
        <p:spPr>
          <a:xfrm xmlns:a="http://schemas.openxmlformats.org/drawingml/2006/main">
            <a:off x="4686300" y="2638425"/>
            <a:ext cx="28003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16A"/>
                </a:solidFill>
                <a:latin typeface="Helvetica Neue"/>
                <a:ea typeface="Helvetica Neue"/>
                <a:cs typeface="Helvetica Neue"/>
              </a:defRPr>
            </a:pPr>
            <a:r>
              <a:rPr sz="1500" b="0">
                <a:solidFill>
                  <a:srgbClr val="53616A"/>
                </a:solidFill>
                <a:latin typeface="Helvetica Neue"/>
                <a:ea typeface="Helvetica Neue"/>
                <a:cs typeface="Helvetica Neue"/>
              </a:rPr>
              <a:t>Protected answer key</a:t>
            </a:r>
          </a:p>
        </p:txBody>
      </p:sp>
      <p:sp>
        <p:nvSpPr>
          <p:cNvPr id="9" name="">
            <a:extLst xmlns:a="http://schemas.openxmlformats.org/drawingml/2006/main">
              <a:ext uri="{FF2B5EF4-FFF2-40B4-BE49-F238E27FC236}">
                <a16:creationId xmlns:a16="http://schemas.microsoft.com/office/drawing/2014/main" id="{DFF4AEC9-8315-4490-B364-1565DB2CC829}"/>
              </a:ext>
            </a:extLst>
          </p:cNvPr>
          <p:cNvSpPr>
            <a:spLocks xmlns:a="http://schemas.openxmlformats.org/drawingml/2006/main" noGrp="1"/>
          </p:cNvSpPr>
          <p:nvPr/>
        </p:nvSpPr>
        <p:spPr>
          <a:xfrm xmlns:a="http://schemas.openxmlformats.org/drawingml/2006/main">
            <a:off x="8420100" y="2095500"/>
            <a:ext cx="3143250" cy="1190625"/>
          </a:xfrm>
          <a:prstGeom xmlns:a="http://schemas.openxmlformats.org/drawingml/2006/main" prst="rect">
            <a:avLst/>
          </a:prstGeom>
          <a:solidFill xmlns:a="http://schemas.openxmlformats.org/drawingml/2006/main">
            <a:srgbClr val="F5F3EE"/>
          </a:solidFill>
          <a:ln xmlns:a="http://schemas.openxmlformats.org/drawingml/2006/main" w="11430">
            <a:solidFill>
              <a:srgbClr val="247A64"/>
            </a:solidFill>
          </a:ln>
        </p:spPr>
      </p:sp>
      <p:sp>
        <p:nvSpPr>
          <p:cNvPr id="10" name="">
            <a:extLst xmlns:a="http://schemas.openxmlformats.org/drawingml/2006/main">
              <a:ext uri="{FF2B5EF4-FFF2-40B4-BE49-F238E27FC236}">
                <a16:creationId xmlns:a16="http://schemas.microsoft.com/office/drawing/2014/main" id="{7301C093-D989-4C95-8C5B-499121DC51B6}"/>
              </a:ext>
            </a:extLst>
          </p:cNvPr>
          <p:cNvSpPr>
            <a:spLocks xmlns:a="http://schemas.openxmlformats.org/drawingml/2006/main" noGrp="1"/>
          </p:cNvSpPr>
          <p:nvPr/>
        </p:nvSpPr>
        <p:spPr>
          <a:xfrm xmlns:a="http://schemas.openxmlformats.org/drawingml/2006/main">
            <a:off x="8591550" y="2247900"/>
            <a:ext cx="2800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62C3D"/>
                </a:solidFill>
                <a:latin typeface="Helvetica Neue"/>
                <a:ea typeface="Helvetica Neue"/>
                <a:cs typeface="Helvetica Neue"/>
              </a:defRPr>
            </a:pPr>
            <a:r>
              <a:rPr sz="2025" b="1">
                <a:solidFill>
                  <a:srgbClr val="162C3D"/>
                </a:solidFill>
                <a:latin typeface="Helvetica Neue"/>
                <a:ea typeface="Helvetica Neue"/>
                <a:cs typeface="Helvetica Neue"/>
              </a:rPr>
              <a:t>Saved result</a:t>
            </a:r>
          </a:p>
        </p:txBody>
      </p:sp>
      <p:sp>
        <p:nvSpPr>
          <p:cNvPr id="11" name="">
            <a:extLst xmlns:a="http://schemas.openxmlformats.org/drawingml/2006/main">
              <a:ext uri="{FF2B5EF4-FFF2-40B4-BE49-F238E27FC236}">
                <a16:creationId xmlns:a16="http://schemas.microsoft.com/office/drawing/2014/main" id="{84C6F18A-1F17-4255-A8C9-9785FED26097}"/>
              </a:ext>
            </a:extLst>
          </p:cNvPr>
          <p:cNvSpPr>
            <a:spLocks xmlns:a="http://schemas.openxmlformats.org/drawingml/2006/main" noGrp="1"/>
          </p:cNvSpPr>
          <p:nvPr/>
        </p:nvSpPr>
        <p:spPr>
          <a:xfrm xmlns:a="http://schemas.openxmlformats.org/drawingml/2006/main">
            <a:off x="8591550" y="2638425"/>
            <a:ext cx="28003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16A"/>
                </a:solidFill>
                <a:latin typeface="Helvetica Neue"/>
                <a:ea typeface="Helvetica Neue"/>
                <a:cs typeface="Helvetica Neue"/>
              </a:defRPr>
            </a:pPr>
            <a:r>
              <a:rPr sz="1500" b="0">
                <a:solidFill>
                  <a:srgbClr val="53616A"/>
                </a:solidFill>
                <a:latin typeface="Helvetica Neue"/>
                <a:ea typeface="Helvetica Neue"/>
                <a:cs typeface="Helvetica Neue"/>
              </a:rPr>
              <a:t>Progress, XP, feedback</a:t>
            </a:r>
          </a:p>
        </p:txBody>
      </p:sp>
      <p:sp>
        <p:nvSpPr>
          <p:cNvPr id="14" name="">
            <a:extLst xmlns:a="http://schemas.openxmlformats.org/drawingml/2006/main">
              <a:ext uri="{FF2B5EF4-FFF2-40B4-BE49-F238E27FC236}">
                <a16:creationId xmlns:a16="http://schemas.microsoft.com/office/drawing/2014/main" id="{5837844E-5E90-41C8-8B28-7B870C1B87B3}"/>
              </a:ext>
            </a:extLst>
          </p:cNvPr>
          <p:cNvSpPr>
            <a:spLocks xmlns:a="http://schemas.openxmlformats.org/drawingml/2006/main" noGrp="1"/>
          </p:cNvSpPr>
          <p:nvPr/>
        </p:nvSpPr>
        <p:spPr>
          <a:xfrm xmlns:a="http://schemas.openxmlformats.org/drawingml/2006/main">
            <a:off x="609600" y="4048125"/>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62C3D"/>
                </a:solidFill>
                <a:latin typeface="Helvetica Neue"/>
                <a:ea typeface="Helvetica Neue"/>
                <a:cs typeface="Helvetica Neue"/>
              </a:defRPr>
            </a:pPr>
            <a:r>
              <a:rPr sz="3000" b="1">
                <a:solidFill>
                  <a:srgbClr val="162C3D"/>
                </a:solidFill>
                <a:latin typeface="Helvetica Neue"/>
                <a:ea typeface="Helvetica Neue"/>
                <a:cs typeface="Helvetica Neue"/>
              </a:rPr>
              <a:t>A completed task belongs to the learner account</a:t>
            </a:r>
          </a:p>
        </p:txBody>
      </p:sp>
      <p:sp>
        <p:nvSpPr>
          <p:cNvPr id="15" name="">
            <a:extLst xmlns:a="http://schemas.openxmlformats.org/drawingml/2006/main">
              <a:ext uri="{FF2B5EF4-FFF2-40B4-BE49-F238E27FC236}">
                <a16:creationId xmlns:a16="http://schemas.microsoft.com/office/drawing/2014/main" id="{266D523D-15F1-4545-A1AB-D97076E089AC}"/>
              </a:ext>
            </a:extLst>
          </p:cNvPr>
          <p:cNvSpPr>
            <a:spLocks xmlns:a="http://schemas.openxmlformats.org/drawingml/2006/main" noGrp="1"/>
          </p:cNvSpPr>
          <p:nvPr/>
        </p:nvSpPr>
        <p:spPr>
          <a:xfrm xmlns:a="http://schemas.openxmlformats.org/drawingml/2006/main">
            <a:off x="609600" y="5019675"/>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162C3D"/>
                </a:solidFill>
                <a:latin typeface="Helvetica Neue"/>
                <a:ea typeface="Helvetica Neue"/>
                <a:cs typeface="Helvetica Neue"/>
              </a:defRPr>
            </a:pPr>
            <a:r>
              <a:rPr sz="2175" b="0">
                <a:solidFill>
                  <a:srgbClr val="162C3D"/>
                </a:solidFill>
                <a:latin typeface="Helvetica Neue"/>
                <a:ea typeface="Helvetica Neue"/>
                <a:cs typeface="Helvetica Neue"/>
              </a:rPr>
              <a:t>Database constraints prevent repeated XP and duplicate course certificates.</a:t>
            </a:r>
          </a:p>
          <a:p xmlns:a="http://schemas.openxmlformats.org/drawingml/2006/main">
            <a:pPr>
              <a:defRPr sz="2175" b="0">
                <a:solidFill>
                  <a:srgbClr val="162C3D"/>
                </a:solidFill>
                <a:latin typeface="Helvetica Neue"/>
                <a:ea typeface="Helvetica Neue"/>
                <a:cs typeface="Helvetica Neue"/>
              </a:defRPr>
            </a:pPr>
            <a:r>
              <a:rPr sz="2175" b="0">
                <a:solidFill>
                  <a:srgbClr val="162C3D"/>
                </a:solidFill>
                <a:latin typeface="Helvetica Neue"/>
                <a:ea typeface="Helvetica Neue"/>
                <a:cs typeface="Helvetica Neue"/>
              </a:rPr>
              <a:t>A fresh tab reloads progress from the server.</a:t>
            </a:r>
          </a:p>
        </p:txBody>
      </p:sp>
    </p:spTree>
    <p:extLst>
      <p:ext uri="{BB962C8B-B14F-4D97-AF65-F5344CB8AC3E}">
        <p14:creationId xmlns:p14="http://schemas.microsoft.com/office/powerpoint/2010/main" val="797632852"/>
      </p:ext>
    </p:extLst>
  </p:cSld>
</p:sld>
</file>

<file path=ppt/slides/slide8.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62C4432-88EA-4364-9558-AA231FD85501}"/>
              </a:ext>
            </a:extLst>
          </p:cNvPr>
          <p:cNvSpPr>
            <a:spLocks xmlns:a="http://schemas.openxmlformats.org/drawingml/2006/main" noGrp="1"/>
          </p:cNvSpPr>
          <p:nvPr/>
        </p:nvSpPr>
        <p:spPr>
          <a:xfrm xmlns:a="http://schemas.openxmlformats.org/drawingml/2006/main">
            <a:off x="609600" y="51435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162C3D"/>
                </a:solidFill>
                <a:latin typeface="Helvetica Neue"/>
                <a:ea typeface="Helvetica Neue"/>
                <a:cs typeface="Helvetica Neue"/>
              </a:defRPr>
            </a:pPr>
            <a:r>
              <a:rPr sz="3450" b="1">
                <a:solidFill>
                  <a:srgbClr val="162C3D"/>
                </a:solidFill>
                <a:latin typeface="Helvetica Neue"/>
                <a:ea typeface="Helvetica Neue"/>
                <a:cs typeface="Helvetica Neue"/>
              </a:rPr>
              <a:t>Guard: the reasons behind a warning</a:t>
            </a:r>
          </a:p>
        </p:txBody>
      </p:sp>
      <p:sp>
        <p:nvSpPr>
          <p:cNvPr id="2" name="">
            <a:extLst xmlns:a="http://schemas.openxmlformats.org/drawingml/2006/main">
              <a:ext uri="{FF2B5EF4-FFF2-40B4-BE49-F238E27FC236}">
                <a16:creationId xmlns:a16="http://schemas.microsoft.com/office/drawing/2014/main" id="{3F47F557-1100-4322-9AFC-E379E1E2C9E1}"/>
              </a:ext>
            </a:extLst>
          </p:cNvPr>
          <p:cNvSpPr>
            <a:spLocks xmlns:a="http://schemas.openxmlformats.org/drawingml/2006/main" noGrp="1"/>
          </p:cNvSpPr>
          <p:nvPr/>
        </p:nvSpPr>
        <p:spPr>
          <a:xfrm xmlns:a="http://schemas.openxmlformats.org/drawingml/2006/main">
            <a:off x="111442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53616A"/>
                </a:solidFill>
                <a:latin typeface="Helvetica Neue"/>
                <a:ea typeface="Helvetica Neue"/>
                <a:cs typeface="Helvetica Neue"/>
              </a:defRPr>
            </a:pPr>
            <a:r>
              <a:rPr sz="1200" b="0">
                <a:solidFill>
                  <a:srgbClr val="53616A"/>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2BDEFE4D-4E2E-4E76-9A9A-023DADB11A90}"/>
              </a:ext>
            </a:extLst>
          </p:cNvPr>
          <p:cNvSpPr>
            <a:spLocks xmlns:a="http://schemas.openxmlformats.org/drawingml/2006/main" noGrp="1"/>
          </p:cNvSpPr>
          <p:nvPr/>
        </p:nvSpPr>
        <p:spPr>
          <a:xfrm xmlns:a="http://schemas.openxmlformats.org/drawingml/2006/main">
            <a:off x="609600" y="1943100"/>
            <a:ext cx="33813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950" b="1">
                <a:solidFill>
                  <a:srgbClr val="B74035"/>
                </a:solidFill>
                <a:latin typeface="Helvetica Neue"/>
                <a:ea typeface="Helvetica Neue"/>
                <a:cs typeface="Helvetica Neue"/>
              </a:defRPr>
            </a:pPr>
            <a:r>
              <a:rPr sz="4950" b="1">
                <a:solidFill>
                  <a:srgbClr val="B74035"/>
                </a:solidFill>
                <a:latin typeface="Helvetica Neue"/>
                <a:ea typeface="Helvetica Neue"/>
                <a:cs typeface="Helvetica Neue"/>
              </a:rPr>
              <a:t>88 / 100</a:t>
            </a:r>
          </a:p>
        </p:txBody>
      </p:sp>
      <p:sp>
        <p:nvSpPr>
          <p:cNvPr id="4" name="">
            <a:extLst xmlns:a="http://schemas.openxmlformats.org/drawingml/2006/main">
              <a:ext uri="{FF2B5EF4-FFF2-40B4-BE49-F238E27FC236}">
                <a16:creationId xmlns:a16="http://schemas.microsoft.com/office/drawing/2014/main" id="{70A48412-E716-4E81-8143-84BF07C1CC14}"/>
              </a:ext>
            </a:extLst>
          </p:cNvPr>
          <p:cNvSpPr>
            <a:spLocks xmlns:a="http://schemas.openxmlformats.org/drawingml/2006/main" noGrp="1"/>
          </p:cNvSpPr>
          <p:nvPr/>
        </p:nvSpPr>
        <p:spPr>
          <a:xfrm xmlns:a="http://schemas.openxmlformats.org/drawingml/2006/main">
            <a:off x="647700" y="2933700"/>
            <a:ext cx="3238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75" b="1">
                <a:solidFill>
                  <a:srgbClr val="B74035"/>
                </a:solidFill>
                <a:latin typeface="Helvetica Neue"/>
                <a:ea typeface="Helvetica Neue"/>
                <a:cs typeface="Helvetica Neue"/>
              </a:defRPr>
            </a:pPr>
            <a:r>
              <a:rPr sz="2475" b="1">
                <a:solidFill>
                  <a:srgbClr val="B74035"/>
                </a:solidFill>
                <a:latin typeface="Helvetica Neue"/>
                <a:ea typeface="Helvetica Neue"/>
                <a:cs typeface="Helvetica Neue"/>
              </a:rPr>
              <a:t>Dangerous</a:t>
            </a:r>
          </a:p>
        </p:txBody>
      </p:sp>
      <p:sp>
        <p:nvSpPr>
          <p:cNvPr id="5" name="">
            <a:extLst xmlns:a="http://schemas.openxmlformats.org/drawingml/2006/main">
              <a:ext uri="{FF2B5EF4-FFF2-40B4-BE49-F238E27FC236}">
                <a16:creationId xmlns:a16="http://schemas.microsoft.com/office/drawing/2014/main" id="{E3AFA3B8-1ED5-4598-B2C9-3E1B01C463A2}"/>
              </a:ext>
            </a:extLst>
          </p:cNvPr>
          <p:cNvSpPr>
            <a:spLocks xmlns:a="http://schemas.openxmlformats.org/drawingml/2006/main" noGrp="1"/>
          </p:cNvSpPr>
          <p:nvPr/>
        </p:nvSpPr>
        <p:spPr>
          <a:xfrm xmlns:a="http://schemas.openxmlformats.org/drawingml/2006/main">
            <a:off x="647700" y="3867150"/>
            <a:ext cx="3381375" cy="1800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162C3D"/>
                </a:solidFill>
                <a:latin typeface="Helvetica Neue"/>
                <a:ea typeface="Helvetica Neue"/>
                <a:cs typeface="Helvetica Neue"/>
              </a:defRPr>
            </a:pPr>
            <a:r>
              <a:rPr sz="1875" b="0">
                <a:solidFill>
                  <a:srgbClr val="162C3D"/>
                </a:solidFill>
                <a:latin typeface="Helvetica Neue"/>
                <a:ea typeface="Helvetica Neue"/>
                <a:cs typeface="Helvetica Neue"/>
              </a:rPr>
              <a:t>Brand spelling changed</a:t>
            </a:r>
          </a:p>
          <a:p xmlns:a="http://schemas.openxmlformats.org/drawingml/2006/main">
            <a:pPr>
              <a:defRPr sz="1875" b="0">
                <a:solidFill>
                  <a:srgbClr val="162C3D"/>
                </a:solidFill>
                <a:latin typeface="Helvetica Neue"/>
                <a:ea typeface="Helvetica Neue"/>
                <a:cs typeface="Helvetica Neue"/>
              </a:defRPr>
            </a:pPr>
            <a:r>
              <a:rPr sz="1875" b="0">
                <a:solidFill>
                  <a:srgbClr val="162C3D"/>
                </a:solidFill>
                <a:latin typeface="Helvetica Neue"/>
                <a:ea typeface="Helvetica Neue"/>
                <a:cs typeface="Helvetica Neue"/>
              </a:rPr>
              <a:t>“o” replaced by zero</a:t>
            </a:r>
          </a:p>
          <a:p xmlns:a="http://schemas.openxmlformats.org/drawingml/2006/main">
            <a:r>
              <a:t/>
            </a:r>
          </a:p>
          <a:p xmlns:a="http://schemas.openxmlformats.org/drawingml/2006/main">
            <a:pPr>
              <a:defRPr sz="1875" b="0">
                <a:solidFill>
                  <a:srgbClr val="162C3D"/>
                </a:solidFill>
                <a:latin typeface="Helvetica Neue"/>
                <a:ea typeface="Helvetica Neue"/>
                <a:cs typeface="Helvetica Neue"/>
              </a:defRPr>
            </a:pPr>
            <a:r>
              <a:rPr sz="1875" b="0">
                <a:solidFill>
                  <a:srgbClr val="162C3D"/>
                </a:solidFill>
                <a:latin typeface="Helvetica Neue"/>
                <a:ea typeface="Helvetica Neue"/>
                <a:cs typeface="Helvetica Neue"/>
              </a:rPr>
              <a:t>Suspicious URL wording</a:t>
            </a:r>
          </a:p>
          <a:p xmlns:a="http://schemas.openxmlformats.org/drawingml/2006/main">
            <a:pPr>
              <a:defRPr sz="1875" b="0">
                <a:solidFill>
                  <a:srgbClr val="162C3D"/>
                </a:solidFill>
                <a:latin typeface="Helvetica Neue"/>
                <a:ea typeface="Helvetica Neue"/>
                <a:cs typeface="Helvetica Neue"/>
              </a:defRPr>
            </a:pPr>
            <a:r>
              <a:rPr sz="1875" b="0">
                <a:solidFill>
                  <a:srgbClr val="162C3D"/>
                </a:solidFill>
                <a:latin typeface="Helvetica Neue"/>
                <a:ea typeface="Helvetica Neue"/>
                <a:cs typeface="Helvetica Neue"/>
              </a:rPr>
              <a:t>“login” in the path</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a2e03c5ca2364b44"/>
          <a:stretch xmlns:a="http://schemas.openxmlformats.org/drawingml/2006/main"/>
        </p:blipFill>
        <p:spPr>
          <a:xfrm xmlns:a="http://schemas.openxmlformats.org/drawingml/2006/main">
            <a:off x="4078817" y="1628775"/>
            <a:ext cx="7501467" cy="42195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0D231C2-E2DA-4F76-8A99-DE48B9295581}"/>
              </a:ext>
            </a:extLst>
          </p:cNvPr>
          <p:cNvSpPr>
            <a:spLocks xmlns:a="http://schemas.openxmlformats.org/drawingml/2006/main" noGrp="1"/>
          </p:cNvSpPr>
          <p:nvPr/>
        </p:nvSpPr>
        <p:spPr>
          <a:xfrm xmlns:a="http://schemas.openxmlformats.org/drawingml/2006/main">
            <a:off x="609600" y="6124575"/>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3616A"/>
                </a:solidFill>
                <a:latin typeface="Helvetica Neue"/>
                <a:ea typeface="Helvetica Neue"/>
                <a:cs typeface="Helvetica Neue"/>
              </a:defRPr>
            </a:pPr>
            <a:r>
              <a:rPr sz="1800" b="0">
                <a:solidFill>
                  <a:srgbClr val="53616A"/>
                </a:solidFill>
                <a:latin typeface="Helvetica Neue"/>
                <a:ea typeface="Helvetica Neue"/>
                <a:cs typeface="Helvetica Neue"/>
              </a:rPr>
              <a:t>A rule score is a warning policy, not a probability of phishing.</a:t>
            </a:r>
          </a:p>
        </p:txBody>
      </p:sp>
    </p:spTree>
    <p:extLst>
      <p:ext uri="{BB962C8B-B14F-4D97-AF65-F5344CB8AC3E}">
        <p14:creationId xmlns:p14="http://schemas.microsoft.com/office/powerpoint/2010/main" val="775248067"/>
      </p:ext>
    </p:extLst>
  </p:cSld>
</p:sld>
</file>

<file path=ppt/slides/slide9.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321EBF9-969C-4FD4-8539-8DC800FE2A4A}"/>
              </a:ext>
            </a:extLst>
          </p:cNvPr>
          <p:cNvSpPr>
            <a:spLocks xmlns:a="http://schemas.openxmlformats.org/drawingml/2006/main" noGrp="1"/>
          </p:cNvSpPr>
          <p:nvPr/>
        </p:nvSpPr>
        <p:spPr>
          <a:xfrm xmlns:a="http://schemas.openxmlformats.org/drawingml/2006/main">
            <a:off x="609600" y="51435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162C3D"/>
                </a:solidFill>
                <a:latin typeface="Helvetica Neue"/>
                <a:ea typeface="Helvetica Neue"/>
                <a:cs typeface="Helvetica Neue"/>
              </a:defRPr>
            </a:pPr>
            <a:r>
              <a:rPr sz="3450" b="1">
                <a:solidFill>
                  <a:srgbClr val="162C3D"/>
                </a:solidFill>
                <a:latin typeface="Helvetica Neue"/>
                <a:ea typeface="Helvetica Neue"/>
                <a:cs typeface="Helvetica Neue"/>
              </a:rPr>
              <a:t>Progress and course completion</a:t>
            </a:r>
          </a:p>
        </p:txBody>
      </p:sp>
      <p:sp>
        <p:nvSpPr>
          <p:cNvPr id="2" name="">
            <a:extLst xmlns:a="http://schemas.openxmlformats.org/drawingml/2006/main">
              <a:ext uri="{FF2B5EF4-FFF2-40B4-BE49-F238E27FC236}">
                <a16:creationId xmlns:a16="http://schemas.microsoft.com/office/drawing/2014/main" id="{BCB54BB4-0F9C-4148-9C5B-8197B632987D}"/>
              </a:ext>
            </a:extLst>
          </p:cNvPr>
          <p:cNvSpPr>
            <a:spLocks xmlns:a="http://schemas.openxmlformats.org/drawingml/2006/main" noGrp="1"/>
          </p:cNvSpPr>
          <p:nvPr/>
        </p:nvSpPr>
        <p:spPr>
          <a:xfrm xmlns:a="http://schemas.openxmlformats.org/drawingml/2006/main">
            <a:off x="111442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53616A"/>
                </a:solidFill>
                <a:latin typeface="Helvetica Neue"/>
                <a:ea typeface="Helvetica Neue"/>
                <a:cs typeface="Helvetica Neue"/>
              </a:defRPr>
            </a:pPr>
            <a:r>
              <a:rPr sz="1200" b="0">
                <a:solidFill>
                  <a:srgbClr val="53616A"/>
                </a:solidFill>
                <a:latin typeface="Helvetica Neue"/>
                <a:ea typeface="Helvetica Neue"/>
                <a:cs typeface="Helvetica Neue"/>
              </a:rPr>
              <a:t>09</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45cb34fdd1d2436d"/>
          <a:stretch xmlns:a="http://schemas.openxmlformats.org/drawingml/2006/main"/>
        </p:blipFill>
        <p:spPr>
          <a:xfrm xmlns:a="http://schemas.openxmlformats.org/drawingml/2006/main">
            <a:off x="5956596" y="1524000"/>
            <a:ext cx="4003084" cy="4381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88C23FB-0EDC-4DD9-9055-217ABB6A2980}"/>
              </a:ext>
            </a:extLst>
          </p:cNvPr>
          <p:cNvSpPr>
            <a:spLocks xmlns:a="http://schemas.openxmlformats.org/drawingml/2006/main" noGrp="1"/>
          </p:cNvSpPr>
          <p:nvPr/>
        </p:nvSpPr>
        <p:spPr>
          <a:xfrm xmlns:a="http://schemas.openxmlformats.org/drawingml/2006/main">
            <a:off x="609600" y="1771650"/>
            <a:ext cx="35337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247A64"/>
                </a:solidFill>
                <a:latin typeface="Helvetica Neue"/>
                <a:ea typeface="Helvetica Neue"/>
                <a:cs typeface="Helvetica Neue"/>
              </a:defRPr>
            </a:pPr>
            <a:r>
              <a:rPr sz="2100" b="1">
                <a:solidFill>
                  <a:srgbClr val="247A64"/>
                </a:solidFill>
                <a:latin typeface="Helvetica Neue"/>
                <a:ea typeface="Helvetica Neue"/>
                <a:cs typeface="Helvetica Neue"/>
              </a:rPr>
              <a:t>Saved per account</a:t>
            </a:r>
          </a:p>
        </p:txBody>
      </p:sp>
      <p:sp>
        <p:nvSpPr>
          <p:cNvPr id="5" name="">
            <a:extLst xmlns:a="http://schemas.openxmlformats.org/drawingml/2006/main">
              <a:ext uri="{FF2B5EF4-FFF2-40B4-BE49-F238E27FC236}">
                <a16:creationId xmlns:a16="http://schemas.microsoft.com/office/drawing/2014/main" id="{48434347-14EB-46DC-9D4B-761F35AE9ED0}"/>
              </a:ext>
            </a:extLst>
          </p:cNvPr>
          <p:cNvSpPr>
            <a:spLocks xmlns:a="http://schemas.openxmlformats.org/drawingml/2006/main" noGrp="1"/>
          </p:cNvSpPr>
          <p:nvPr/>
        </p:nvSpPr>
        <p:spPr>
          <a:xfrm xmlns:a="http://schemas.openxmlformats.org/drawingml/2006/main">
            <a:off x="609600" y="2266950"/>
            <a:ext cx="35337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62C3D"/>
                </a:solidFill>
                <a:latin typeface="Helvetica Neue"/>
                <a:ea typeface="Helvetica Neue"/>
                <a:cs typeface="Helvetica Neue"/>
              </a:defRPr>
            </a:pPr>
            <a:r>
              <a:rPr sz="2025" b="0">
                <a:solidFill>
                  <a:srgbClr val="162C3D"/>
                </a:solidFill>
                <a:latin typeface="Helvetica Neue"/>
                <a:ea typeface="Helvetica Neue"/>
                <a:cs typeface="Helvetica Neue"/>
              </a:rPr>
              <a:t>Completed tasks and tests</a:t>
            </a:r>
          </a:p>
          <a:p xmlns:a="http://schemas.openxmlformats.org/drawingml/2006/main">
            <a:pPr>
              <a:defRPr sz="2025" b="0">
                <a:solidFill>
                  <a:srgbClr val="162C3D"/>
                </a:solidFill>
                <a:latin typeface="Helvetica Neue"/>
                <a:ea typeface="Helvetica Neue"/>
                <a:cs typeface="Helvetica Neue"/>
              </a:defRPr>
            </a:pPr>
            <a:r>
              <a:rPr sz="2025" b="0">
                <a:solidFill>
                  <a:srgbClr val="162C3D"/>
                </a:solidFill>
                <a:latin typeface="Helvetica Neue"/>
                <a:ea typeface="Helvetica Neue"/>
                <a:cs typeface="Helvetica Neue"/>
              </a:rPr>
              <a:t>Course progress and XP</a:t>
            </a:r>
          </a:p>
          <a:p xmlns:a="http://schemas.openxmlformats.org/drawingml/2006/main">
            <a:pPr>
              <a:defRPr sz="2025" b="0">
                <a:solidFill>
                  <a:srgbClr val="162C3D"/>
                </a:solidFill>
                <a:latin typeface="Helvetica Neue"/>
                <a:ea typeface="Helvetica Neue"/>
                <a:cs typeface="Helvetica Neue"/>
              </a:defRPr>
            </a:pPr>
            <a:r>
              <a:rPr sz="2025" b="0">
                <a:solidFill>
                  <a:srgbClr val="162C3D"/>
                </a:solidFill>
                <a:latin typeface="Helvetica Neue"/>
                <a:ea typeface="Helvetica Neue"/>
                <a:cs typeface="Helvetica Neue"/>
              </a:rPr>
              <a:t>One certificate per course</a:t>
            </a:r>
          </a:p>
        </p:txBody>
      </p:sp>
      <p:sp>
        <p:nvSpPr>
          <p:cNvPr id="6" name="">
            <a:extLst xmlns:a="http://schemas.openxmlformats.org/drawingml/2006/main">
              <a:ext uri="{FF2B5EF4-FFF2-40B4-BE49-F238E27FC236}">
                <a16:creationId xmlns:a16="http://schemas.microsoft.com/office/drawing/2014/main" id="{A6CDF1DF-9478-44D9-A3CA-811FF3263E83}"/>
              </a:ext>
            </a:extLst>
          </p:cNvPr>
          <p:cNvSpPr>
            <a:spLocks xmlns:a="http://schemas.openxmlformats.org/drawingml/2006/main" noGrp="1"/>
          </p:cNvSpPr>
          <p:nvPr/>
        </p:nvSpPr>
        <p:spPr>
          <a:xfrm xmlns:a="http://schemas.openxmlformats.org/drawingml/2006/main">
            <a:off x="609600" y="4248150"/>
            <a:ext cx="3667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247A64"/>
                </a:solidFill>
                <a:latin typeface="Helvetica Neue"/>
                <a:ea typeface="Helvetica Neue"/>
                <a:cs typeface="Helvetica Neue"/>
              </a:defRPr>
            </a:pPr>
            <a:r>
              <a:rPr sz="2100" b="1">
                <a:solidFill>
                  <a:srgbClr val="247A64"/>
                </a:solidFill>
                <a:latin typeface="Helvetica Neue"/>
                <a:ea typeface="Helvetica Neue"/>
                <a:cs typeface="Helvetica Neue"/>
              </a:rPr>
              <a:t>Demo completion</a:t>
            </a:r>
          </a:p>
        </p:txBody>
      </p:sp>
      <p:sp>
        <p:nvSpPr>
          <p:cNvPr id="7" name="">
            <a:extLst xmlns:a="http://schemas.openxmlformats.org/drawingml/2006/main">
              <a:ext uri="{FF2B5EF4-FFF2-40B4-BE49-F238E27FC236}">
                <a16:creationId xmlns:a16="http://schemas.microsoft.com/office/drawing/2014/main" id="{064D179F-0877-4C0C-A864-6C247444E78F}"/>
              </a:ext>
            </a:extLst>
          </p:cNvPr>
          <p:cNvSpPr>
            <a:spLocks xmlns:a="http://schemas.openxmlformats.org/drawingml/2006/main" noGrp="1"/>
          </p:cNvSpPr>
          <p:nvPr/>
        </p:nvSpPr>
        <p:spPr>
          <a:xfrm xmlns:a="http://schemas.openxmlformats.org/drawingml/2006/main">
            <a:off x="609600" y="4752975"/>
            <a:ext cx="3629025"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162C3D"/>
                </a:solidFill>
                <a:latin typeface="Helvetica Neue"/>
                <a:ea typeface="Helvetica Neue"/>
                <a:cs typeface="Helvetica Neue"/>
              </a:defRPr>
            </a:pPr>
            <a:r>
              <a:rPr sz="1950" b="0">
                <a:solidFill>
                  <a:srgbClr val="162C3D"/>
                </a:solidFill>
                <a:latin typeface="Helvetica Neue"/>
                <a:ea typeface="Helvetica Neue"/>
                <a:cs typeface="Helvetica Neue"/>
              </a:rPr>
              <a:t>VPN and Encryption</a:t>
            </a:r>
          </a:p>
          <a:p xmlns:a="http://schemas.openxmlformats.org/drawingml/2006/main">
            <a:pPr>
              <a:defRPr sz="1950" b="0">
                <a:solidFill>
                  <a:srgbClr val="162C3D"/>
                </a:solidFill>
                <a:latin typeface="Helvetica Neue"/>
                <a:ea typeface="Helvetica Neue"/>
                <a:cs typeface="Helvetica Neue"/>
              </a:defRPr>
            </a:pPr>
            <a:r>
              <a:rPr sz="1950" b="0">
                <a:solidFill>
                  <a:srgbClr val="162C3D"/>
                </a:solidFill>
                <a:latin typeface="Helvetica Neue"/>
                <a:ea typeface="Helvetica Neue"/>
                <a:cs typeface="Helvetica Neue"/>
              </a:rPr>
              <a:t>6 tasks · 8 test questions</a:t>
            </a:r>
          </a:p>
          <a:p xmlns:a="http://schemas.openxmlformats.org/drawingml/2006/main">
            <a:pPr>
              <a:defRPr sz="1950" b="0">
                <a:solidFill>
                  <a:srgbClr val="162C3D"/>
                </a:solidFill>
                <a:latin typeface="Helvetica Neue"/>
                <a:ea typeface="Helvetica Neue"/>
                <a:cs typeface="Helvetica Neue"/>
              </a:defRPr>
            </a:pPr>
            <a:r>
              <a:rPr sz="1950" b="0">
                <a:solidFill>
                  <a:srgbClr val="162C3D"/>
                </a:solidFill>
                <a:latin typeface="Helvetica Neue"/>
                <a:ea typeface="Helvetica Neue"/>
                <a:cs typeface="Helvetica Neue"/>
              </a:rPr>
              <a:t>95 XP · 1 certificate</a:t>
            </a:r>
          </a:p>
        </p:txBody>
      </p:sp>
      <p:sp>
        <p:nvSpPr>
          <p:cNvPr id="8" name="">
            <a:extLst xmlns:a="http://schemas.openxmlformats.org/drawingml/2006/main">
              <a:ext uri="{FF2B5EF4-FFF2-40B4-BE49-F238E27FC236}">
                <a16:creationId xmlns:a16="http://schemas.microsoft.com/office/drawing/2014/main" id="{440356E7-CFE8-4EBD-B221-8F5D73FF0BAB}"/>
              </a:ext>
            </a:extLst>
          </p:cNvPr>
          <p:cNvSpPr>
            <a:spLocks xmlns:a="http://schemas.openxmlformats.org/drawingml/2006/main" noGrp="1"/>
          </p:cNvSpPr>
          <p:nvPr/>
        </p:nvSpPr>
        <p:spPr>
          <a:xfrm xmlns:a="http://schemas.openxmlformats.org/drawingml/2006/main">
            <a:off x="4333875" y="6067425"/>
            <a:ext cx="71723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3616A"/>
                </a:solidFill>
                <a:latin typeface="Helvetica Neue"/>
                <a:ea typeface="Helvetica Neue"/>
                <a:cs typeface="Helvetica Neue"/>
              </a:defRPr>
            </a:pPr>
            <a:r>
              <a:rPr sz="1725" b="0">
                <a:solidFill>
                  <a:srgbClr val="53616A"/>
                </a:solidFill>
                <a:latin typeface="Helvetica Neue"/>
                <a:ea typeface="Helvetica Neue"/>
                <a:cs typeface="Helvetica Neue"/>
              </a:rPr>
              <a:t>This is a platform completion record.</a:t>
            </a:r>
          </a:p>
        </p:txBody>
      </p:sp>
    </p:spTree>
    <p:extLst>
      <p:ext uri="{BB962C8B-B14F-4D97-AF65-F5344CB8AC3E}">
        <p14:creationId xmlns:p14="http://schemas.microsoft.com/office/powerpoint/2010/main" val="1089192066"/>
      </p:ext>
    </p:extLst>
  </p:cSld>
</p:sld>
</file>

<file path=ppt/slides/slide10.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452EADE-2F1F-4C27-AFC6-6E43C26B0B97}"/>
              </a:ext>
            </a:extLst>
          </p:cNvPr>
          <p:cNvSpPr>
            <a:spLocks xmlns:a="http://schemas.openxmlformats.org/drawingml/2006/main" noGrp="1"/>
          </p:cNvSpPr>
          <p:nvPr/>
        </p:nvSpPr>
        <p:spPr>
          <a:xfrm xmlns:a="http://schemas.openxmlformats.org/drawingml/2006/main">
            <a:off x="609600" y="51435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162C3D"/>
                </a:solidFill>
                <a:latin typeface="Helvetica Neue"/>
                <a:ea typeface="Helvetica Neue"/>
                <a:cs typeface="Helvetica Neue"/>
              </a:defRPr>
            </a:pPr>
            <a:r>
              <a:rPr sz="3450" b="1">
                <a:solidFill>
                  <a:srgbClr val="162C3D"/>
                </a:solidFill>
                <a:latin typeface="Helvetica Neue"/>
                <a:ea typeface="Helvetica Neue"/>
                <a:cs typeface="Helvetica Neue"/>
              </a:rPr>
              <a:t>Privacy and model boundaries</a:t>
            </a:r>
          </a:p>
        </p:txBody>
      </p:sp>
      <p:sp>
        <p:nvSpPr>
          <p:cNvPr id="2" name="">
            <a:extLst xmlns:a="http://schemas.openxmlformats.org/drawingml/2006/main">
              <a:ext uri="{FF2B5EF4-FFF2-40B4-BE49-F238E27FC236}">
                <a16:creationId xmlns:a16="http://schemas.microsoft.com/office/drawing/2014/main" id="{6AB79331-EA4A-4797-94E2-1C727EF49DD4}"/>
              </a:ext>
            </a:extLst>
          </p:cNvPr>
          <p:cNvSpPr>
            <a:spLocks xmlns:a="http://schemas.openxmlformats.org/drawingml/2006/main" noGrp="1"/>
          </p:cNvSpPr>
          <p:nvPr/>
        </p:nvSpPr>
        <p:spPr>
          <a:xfrm xmlns:a="http://schemas.openxmlformats.org/drawingml/2006/main">
            <a:off x="111442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53616A"/>
                </a:solidFill>
                <a:latin typeface="Helvetica Neue"/>
                <a:ea typeface="Helvetica Neue"/>
                <a:cs typeface="Helvetica Neue"/>
              </a:defRPr>
            </a:pPr>
            <a:r>
              <a:rPr sz="1200" b="0">
                <a:solidFill>
                  <a:srgbClr val="53616A"/>
                </a:solidFill>
                <a:latin typeface="Helvetica Neue"/>
                <a:ea typeface="Helvetica Neue"/>
                <a:cs typeface="Helvetica Neue"/>
              </a:rPr>
              <a:t>10</a:t>
            </a:r>
          </a:p>
        </p:txBody>
      </p:sp>
      <p:sp>
        <p:nvSpPr>
          <p:cNvPr id="3" name="">
            <a:extLst xmlns:a="http://schemas.openxmlformats.org/drawingml/2006/main">
              <a:ext uri="{FF2B5EF4-FFF2-40B4-BE49-F238E27FC236}">
                <a16:creationId xmlns:a16="http://schemas.microsoft.com/office/drawing/2014/main" id="{9E009B87-8D35-48FC-A042-D25C791F663F}"/>
              </a:ext>
            </a:extLst>
          </p:cNvPr>
          <p:cNvSpPr>
            <a:spLocks xmlns:a="http://schemas.openxmlformats.org/drawingml/2006/main" noGrp="1"/>
          </p:cNvSpPr>
          <p:nvPr/>
        </p:nvSpPr>
        <p:spPr>
          <a:xfrm xmlns:a="http://schemas.openxmlformats.org/drawingml/2006/main">
            <a:off x="609600" y="1809750"/>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247A64"/>
                </a:solidFill>
                <a:latin typeface="Helvetica Neue"/>
                <a:ea typeface="Helvetica Neue"/>
                <a:cs typeface="Helvetica Neue"/>
              </a:defRPr>
            </a:pPr>
            <a:r>
              <a:rPr sz="2100" b="1">
                <a:solidFill>
                  <a:srgbClr val="247A64"/>
                </a:solidFill>
                <a:latin typeface="Helvetica Neue"/>
                <a:ea typeface="Helvetica Neue"/>
                <a:cs typeface="Helvetica Neue"/>
              </a:rPr>
              <a:t>Default: local rules</a:t>
            </a:r>
          </a:p>
        </p:txBody>
      </p:sp>
      <p:sp>
        <p:nvSpPr>
          <p:cNvPr id="4" name="">
            <a:extLst xmlns:a="http://schemas.openxmlformats.org/drawingml/2006/main">
              <a:ext uri="{FF2B5EF4-FFF2-40B4-BE49-F238E27FC236}">
                <a16:creationId xmlns:a16="http://schemas.microsoft.com/office/drawing/2014/main" id="{ACB52433-B517-4E2F-ABA4-6B38F2DB7C4F}"/>
              </a:ext>
            </a:extLst>
          </p:cNvPr>
          <p:cNvSpPr>
            <a:spLocks xmlns:a="http://schemas.openxmlformats.org/drawingml/2006/main" noGrp="1"/>
          </p:cNvSpPr>
          <p:nvPr/>
        </p:nvSpPr>
        <p:spPr>
          <a:xfrm xmlns:a="http://schemas.openxmlformats.org/drawingml/2006/main">
            <a:off x="609600" y="2305050"/>
            <a:ext cx="5048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62C3D"/>
                </a:solidFill>
                <a:latin typeface="Helvetica Neue"/>
                <a:ea typeface="Helvetica Neue"/>
                <a:cs typeface="Helvetica Neue"/>
              </a:defRPr>
            </a:pPr>
            <a:r>
              <a:rPr sz="2025" b="0">
                <a:solidFill>
                  <a:srgbClr val="162C3D"/>
                </a:solidFill>
                <a:latin typeface="Helvetica Neue"/>
                <a:ea typeface="Helvetica Neue"/>
                <a:cs typeface="Helvetica Neue"/>
              </a:rPr>
              <a:t>The browser can score URLs without</a:t>
            </a:r>
          </a:p>
          <a:p xmlns:a="http://schemas.openxmlformats.org/drawingml/2006/main">
            <a:pPr>
              <a:defRPr sz="2025" b="0">
                <a:solidFill>
                  <a:srgbClr val="162C3D"/>
                </a:solidFill>
                <a:latin typeface="Helvetica Neue"/>
                <a:ea typeface="Helvetica Neue"/>
                <a:cs typeface="Helvetica Neue"/>
              </a:defRPr>
            </a:pPr>
            <a:r>
              <a:rPr sz="2025" b="0">
                <a:solidFill>
                  <a:srgbClr val="162C3D"/>
                </a:solidFill>
                <a:latin typeface="Helvetica Neue"/>
                <a:ea typeface="Helvetica Neue"/>
                <a:cs typeface="Helvetica Neue"/>
              </a:rPr>
              <a:t>sending them to the ML service.</a:t>
            </a:r>
          </a:p>
        </p:txBody>
      </p:sp>
      <p:sp>
        <p:nvSpPr>
          <p:cNvPr id="5" name="">
            <a:extLst xmlns:a="http://schemas.openxmlformats.org/drawingml/2006/main">
              <a:ext uri="{FF2B5EF4-FFF2-40B4-BE49-F238E27FC236}">
                <a16:creationId xmlns:a16="http://schemas.microsoft.com/office/drawing/2014/main" id="{B6887BE8-3D36-4536-9ACD-8DB62A27995B}"/>
              </a:ext>
            </a:extLst>
          </p:cNvPr>
          <p:cNvSpPr>
            <a:spLocks xmlns:a="http://schemas.openxmlformats.org/drawingml/2006/main" noGrp="1"/>
          </p:cNvSpPr>
          <p:nvPr/>
        </p:nvSpPr>
        <p:spPr>
          <a:xfrm xmlns:a="http://schemas.openxmlformats.org/drawingml/2006/main">
            <a:off x="6419850" y="180975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247A64"/>
                </a:solidFill>
                <a:latin typeface="Helvetica Neue"/>
                <a:ea typeface="Helvetica Neue"/>
                <a:cs typeface="Helvetica Neue"/>
              </a:defRPr>
            </a:pPr>
            <a:r>
              <a:rPr sz="2100" b="1">
                <a:solidFill>
                  <a:srgbClr val="247A64"/>
                </a:solidFill>
                <a:latin typeface="Helvetica Neue"/>
                <a:ea typeface="Helvetica Neue"/>
                <a:cs typeface="Helvetica Neue"/>
              </a:rPr>
              <a:t>Optional: model opinion</a:t>
            </a:r>
          </a:p>
        </p:txBody>
      </p:sp>
      <p:sp>
        <p:nvSpPr>
          <p:cNvPr id="6" name="">
            <a:extLst xmlns:a="http://schemas.openxmlformats.org/drawingml/2006/main">
              <a:ext uri="{FF2B5EF4-FFF2-40B4-BE49-F238E27FC236}">
                <a16:creationId xmlns:a16="http://schemas.microsoft.com/office/drawing/2014/main" id="{8DD1AD29-EE01-4842-9BB8-8835177F40ED}"/>
              </a:ext>
            </a:extLst>
          </p:cNvPr>
          <p:cNvSpPr>
            <a:spLocks xmlns:a="http://schemas.openxmlformats.org/drawingml/2006/main" noGrp="1"/>
          </p:cNvSpPr>
          <p:nvPr/>
        </p:nvSpPr>
        <p:spPr>
          <a:xfrm xmlns:a="http://schemas.openxmlformats.org/drawingml/2006/main">
            <a:off x="6419850" y="2305050"/>
            <a:ext cx="5143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62C3D"/>
                </a:solidFill>
                <a:latin typeface="Helvetica Neue"/>
                <a:ea typeface="Helvetica Neue"/>
                <a:cs typeface="Helvetica Neue"/>
              </a:defRPr>
            </a:pPr>
            <a:r>
              <a:rPr sz="2025" b="0">
                <a:solidFill>
                  <a:srgbClr val="162C3D"/>
                </a:solidFill>
                <a:latin typeface="Helvetica Neue"/>
                <a:ea typeface="Helvetica Neue"/>
                <a:cs typeface="Helvetica Neue"/>
              </a:rPr>
              <a:t>Explicit opt-in sends a sanitized URL</a:t>
            </a:r>
          </a:p>
          <a:p xmlns:a="http://schemas.openxmlformats.org/drawingml/2006/main">
            <a:pPr>
              <a:defRPr sz="2025" b="0">
                <a:solidFill>
                  <a:srgbClr val="162C3D"/>
                </a:solidFill>
                <a:latin typeface="Helvetica Neue"/>
                <a:ea typeface="Helvetica Neue"/>
                <a:cs typeface="Helvetica Neue"/>
              </a:defRPr>
            </a:pPr>
            <a:r>
              <a:rPr sz="2025" b="0">
                <a:solidFill>
                  <a:srgbClr val="162C3D"/>
                </a:solidFill>
                <a:latin typeface="Helvetica Neue"/>
                <a:ea typeface="Helvetica Neue"/>
                <a:cs typeface="Helvetica Neue"/>
              </a:rPr>
              <a:t>to the configured endpoint.</a:t>
            </a:r>
          </a:p>
        </p:txBody>
      </p:sp>
      <p:sp>
        <p:nvSpPr>
          <p:cNvPr id="7" name="">
            <a:extLst xmlns:a="http://schemas.openxmlformats.org/drawingml/2006/main">
              <a:ext uri="{FF2B5EF4-FFF2-40B4-BE49-F238E27FC236}">
                <a16:creationId xmlns:a16="http://schemas.microsoft.com/office/drawing/2014/main" id="{4B40E95E-3B23-4F31-AD1E-4DBB51ABF5BA}"/>
              </a:ext>
            </a:extLst>
          </p:cNvPr>
          <p:cNvSpPr>
            <a:spLocks xmlns:a="http://schemas.openxmlformats.org/drawingml/2006/main" noGrp="1"/>
          </p:cNvSpPr>
          <p:nvPr/>
        </p:nvSpPr>
        <p:spPr>
          <a:xfrm xmlns:a="http://schemas.openxmlformats.org/drawingml/2006/main">
            <a:off x="609600" y="4105275"/>
            <a:ext cx="10953750" cy="0"/>
          </a:xfrm>
          <a:prstGeom xmlns:a="http://schemas.openxmlformats.org/drawingml/2006/main" prst="line">
            <a:avLst/>
          </a:prstGeom>
          <a:noFill xmlns:a="http://schemas.openxmlformats.org/drawingml/2006/main"/>
          <a:ln xmlns:a="http://schemas.openxmlformats.org/drawingml/2006/main" w="9525">
            <a:solidFill>
              <a:srgbClr val="CAD3CF"/>
            </a:solidFill>
          </a:ln>
        </p:spPr>
      </p:sp>
      <p:sp>
        <p:nvSpPr>
          <p:cNvPr id="8" name="">
            <a:extLst xmlns:a="http://schemas.openxmlformats.org/drawingml/2006/main">
              <a:ext uri="{FF2B5EF4-FFF2-40B4-BE49-F238E27FC236}">
                <a16:creationId xmlns:a16="http://schemas.microsoft.com/office/drawing/2014/main" id="{FAE68E02-08E8-4298-BA4E-0F4812D0179F}"/>
              </a:ext>
            </a:extLst>
          </p:cNvPr>
          <p:cNvSpPr>
            <a:spLocks xmlns:a="http://schemas.openxmlformats.org/drawingml/2006/main" noGrp="1"/>
          </p:cNvSpPr>
          <p:nvPr/>
        </p:nvSpPr>
        <p:spPr>
          <a:xfrm xmlns:a="http://schemas.openxmlformats.org/drawingml/2006/main">
            <a:off x="609600" y="4438650"/>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247A64"/>
                </a:solidFill>
                <a:latin typeface="Helvetica Neue"/>
                <a:ea typeface="Helvetica Neue"/>
                <a:cs typeface="Helvetica Neue"/>
              </a:defRPr>
            </a:pPr>
            <a:r>
              <a:rPr sz="2250" b="1">
                <a:solidFill>
                  <a:srgbClr val="247A64"/>
                </a:solidFill>
                <a:latin typeface="Helvetica Neue"/>
                <a:ea typeface="Helvetica Neue"/>
                <a:cs typeface="Helvetica Neue"/>
              </a:rPr>
              <a:t>What remains in the optional request</a:t>
            </a:r>
          </a:p>
        </p:txBody>
      </p:sp>
      <p:sp>
        <p:nvSpPr>
          <p:cNvPr id="9" name="">
            <a:extLst xmlns:a="http://schemas.openxmlformats.org/drawingml/2006/main">
              <a:ext uri="{FF2B5EF4-FFF2-40B4-BE49-F238E27FC236}">
                <a16:creationId xmlns:a16="http://schemas.microsoft.com/office/drawing/2014/main" id="{CF330C79-73AD-4373-820A-1D4983F699F7}"/>
              </a:ext>
            </a:extLst>
          </p:cNvPr>
          <p:cNvSpPr>
            <a:spLocks xmlns:a="http://schemas.openxmlformats.org/drawingml/2006/main" noGrp="1"/>
          </p:cNvSpPr>
          <p:nvPr/>
        </p:nvSpPr>
        <p:spPr>
          <a:xfrm xmlns:a="http://schemas.openxmlformats.org/drawingml/2006/main">
            <a:off x="609600" y="4991100"/>
            <a:ext cx="10668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162C3D"/>
                </a:solidFill>
                <a:latin typeface="Helvetica Neue"/>
                <a:ea typeface="Helvetica Neue"/>
                <a:cs typeface="Helvetica Neue"/>
              </a:defRPr>
            </a:pPr>
            <a:r>
              <a:rPr sz="2100" b="0">
                <a:solidFill>
                  <a:srgbClr val="162C3D"/>
                </a:solidFill>
                <a:latin typeface="Helvetica Neue"/>
                <a:ea typeface="Helvetica Neue"/>
                <a:cs typeface="Helvetica Neue"/>
              </a:rPr>
              <a:t>Hostnames and paths still reveal information.</a:t>
            </a:r>
          </a:p>
          <a:p xmlns:a="http://schemas.openxmlformats.org/drawingml/2006/main">
            <a:pPr>
              <a:defRPr sz="2100" b="0">
                <a:solidFill>
                  <a:srgbClr val="162C3D"/>
                </a:solidFill>
                <a:latin typeface="Helvetica Neue"/>
                <a:ea typeface="Helvetica Neue"/>
                <a:cs typeface="Helvetica Neue"/>
              </a:defRPr>
            </a:pPr>
            <a:r>
              <a:rPr sz="2100" b="0">
                <a:solidFill>
                  <a:srgbClr val="162C3D"/>
                </a:solidFill>
                <a:latin typeface="Helvetica Neue"/>
                <a:ea typeface="Helvetica Neue"/>
                <a:cs typeface="Helvetica Neue"/>
              </a:rPr>
              <a:t>The BERT checkpoint comes from a third party.</a:t>
            </a:r>
          </a:p>
          <a:p xmlns:a="http://schemas.openxmlformats.org/drawingml/2006/main">
            <a:pPr>
              <a:defRPr sz="2100" b="0">
                <a:solidFill>
                  <a:srgbClr val="162C3D"/>
                </a:solidFill>
                <a:latin typeface="Helvetica Neue"/>
                <a:ea typeface="Helvetica Neue"/>
                <a:cs typeface="Helvetica Neue"/>
              </a:defRPr>
            </a:pPr>
            <a:r>
              <a:rPr sz="2100" b="0">
                <a:solidFill>
                  <a:srgbClr val="162C3D"/>
                </a:solidFill>
                <a:latin typeface="Helvetica Neue"/>
                <a:ea typeface="Helvetica Neue"/>
                <a:cs typeface="Helvetica Neue"/>
              </a:rPr>
              <a:t>Independent model evaluation remains open.</a:t>
            </a:r>
          </a:p>
        </p:txBody>
      </p:sp>
    </p:spTree>
    <p:extLst>
      <p:ext uri="{BB962C8B-B14F-4D97-AF65-F5344CB8AC3E}">
        <p14:creationId xmlns:p14="http://schemas.microsoft.com/office/powerpoint/2010/main" val="229857990"/>
      </p:ext>
    </p:extLst>
  </p:cSld>
</p:sld>
</file>

<file path=ppt/slides/slide11.xml><?xml version="1.0" encoding="utf-8"?>
<p:sld xmlns:p="http://schemas.openxmlformats.org/presentationml/2006/main">
  <p:cSld>
    <p:bg>
      <p:bgPr>
        <a:solidFill xmlns:a="http://schemas.openxmlformats.org/drawingml/2006/main">
          <a:srgbClr val="101E2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F321D8C-DD8E-4729-B3A7-E65D479B8BAD}"/>
              </a:ext>
            </a:extLst>
          </p:cNvPr>
          <p:cNvSpPr>
            <a:spLocks xmlns:a="http://schemas.openxmlformats.org/drawingml/2006/main" noGrp="1"/>
          </p:cNvSpPr>
          <p:nvPr/>
        </p:nvSpPr>
        <p:spPr>
          <a:xfrm xmlns:a="http://schemas.openxmlformats.org/drawingml/2006/main">
            <a:off x="609600" y="51435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FFFFFF"/>
                </a:solidFill>
                <a:latin typeface="Helvetica Neue"/>
                <a:ea typeface="Helvetica Neue"/>
                <a:cs typeface="Helvetica Neue"/>
              </a:defRPr>
            </a:pPr>
            <a:r>
              <a:rPr sz="3450" b="1">
                <a:solidFill>
                  <a:srgbClr val="FFFFFF"/>
                </a:solidFill>
                <a:latin typeface="Helvetica Neue"/>
                <a:ea typeface="Helvetica Neue"/>
                <a:cs typeface="Helvetica Neue"/>
              </a:rPr>
              <a:t>Engineering evidence</a:t>
            </a:r>
          </a:p>
        </p:txBody>
      </p:sp>
      <p:sp>
        <p:nvSpPr>
          <p:cNvPr id="2" name="">
            <a:extLst xmlns:a="http://schemas.openxmlformats.org/drawingml/2006/main">
              <a:ext uri="{FF2B5EF4-FFF2-40B4-BE49-F238E27FC236}">
                <a16:creationId xmlns:a16="http://schemas.microsoft.com/office/drawing/2014/main" id="{8ADB9029-5DAA-44C5-A759-5730161BF581}"/>
              </a:ext>
            </a:extLst>
          </p:cNvPr>
          <p:cNvSpPr>
            <a:spLocks xmlns:a="http://schemas.openxmlformats.org/drawingml/2006/main" noGrp="1"/>
          </p:cNvSpPr>
          <p:nvPr/>
        </p:nvSpPr>
        <p:spPr>
          <a:xfrm xmlns:a="http://schemas.openxmlformats.org/drawingml/2006/main">
            <a:off x="111442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B7E6C2"/>
                </a:solidFill>
                <a:latin typeface="Helvetica Neue"/>
                <a:ea typeface="Helvetica Neue"/>
                <a:cs typeface="Helvetica Neue"/>
              </a:defRPr>
            </a:pPr>
            <a:r>
              <a:rPr sz="1200" b="0">
                <a:solidFill>
                  <a:srgbClr val="B7E6C2"/>
                </a:solidFill>
                <a:latin typeface="Helvetica Neue"/>
                <a:ea typeface="Helvetica Neue"/>
                <a:cs typeface="Helvetica Neue"/>
              </a:rPr>
              <a:t>11</a:t>
            </a:r>
          </a:p>
        </p:txBody>
      </p:sp>
      <p:sp>
        <p:nvSpPr>
          <p:cNvPr id="3" name="">
            <a:extLst xmlns:a="http://schemas.openxmlformats.org/drawingml/2006/main">
              <a:ext uri="{FF2B5EF4-FFF2-40B4-BE49-F238E27FC236}">
                <a16:creationId xmlns:a16="http://schemas.microsoft.com/office/drawing/2014/main" id="{129D603D-BCCF-4564-BF3C-98DF2259E391}"/>
              </a:ext>
            </a:extLst>
          </p:cNvPr>
          <p:cNvSpPr>
            <a:spLocks xmlns:a="http://schemas.openxmlformats.org/drawingml/2006/main" noGrp="1"/>
          </p:cNvSpPr>
          <p:nvPr/>
        </p:nvSpPr>
        <p:spPr>
          <a:xfrm xmlns:a="http://schemas.openxmlformats.org/drawingml/2006/main">
            <a:off x="609600" y="1685925"/>
            <a:ext cx="4000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400" b="1">
                <a:solidFill>
                  <a:srgbClr val="B7E6C2"/>
                </a:solidFill>
                <a:latin typeface="Helvetica Neue"/>
                <a:ea typeface="Helvetica Neue"/>
                <a:cs typeface="Helvetica Neue"/>
              </a:defRPr>
            </a:pPr>
            <a:r>
              <a:rPr sz="8400" b="1">
                <a:solidFill>
                  <a:srgbClr val="B7E6C2"/>
                </a:solidFill>
                <a:latin typeface="Helvetica Neue"/>
                <a:ea typeface="Helvetica Neue"/>
                <a:cs typeface="Helvetica Neue"/>
              </a:rPr>
              <a:t>98</a:t>
            </a:r>
          </a:p>
        </p:txBody>
      </p:sp>
      <p:sp>
        <p:nvSpPr>
          <p:cNvPr id="4" name="">
            <a:extLst xmlns:a="http://schemas.openxmlformats.org/drawingml/2006/main">
              <a:ext uri="{FF2B5EF4-FFF2-40B4-BE49-F238E27FC236}">
                <a16:creationId xmlns:a16="http://schemas.microsoft.com/office/drawing/2014/main" id="{A3463C75-DA32-47B7-8B67-9A2199140B1A}"/>
              </a:ext>
            </a:extLst>
          </p:cNvPr>
          <p:cNvSpPr>
            <a:spLocks xmlns:a="http://schemas.openxmlformats.org/drawingml/2006/main" noGrp="1"/>
          </p:cNvSpPr>
          <p:nvPr/>
        </p:nvSpPr>
        <p:spPr>
          <a:xfrm xmlns:a="http://schemas.openxmlformats.org/drawingml/2006/main">
            <a:off x="657225" y="3038475"/>
            <a:ext cx="447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FFFFFF"/>
                </a:solidFill>
                <a:latin typeface="Helvetica Neue"/>
                <a:ea typeface="Helvetica Neue"/>
                <a:cs typeface="Helvetica Neue"/>
              </a:defRPr>
            </a:pPr>
            <a:r>
              <a:rPr sz="2175" b="0">
                <a:solidFill>
                  <a:srgbClr val="FFFFFF"/>
                </a:solidFill>
                <a:latin typeface="Helvetica Neue"/>
                <a:ea typeface="Helvetica Neue"/>
                <a:cs typeface="Helvetica Neue"/>
              </a:rPr>
              <a:t>API regression tests</a:t>
            </a:r>
          </a:p>
        </p:txBody>
      </p:sp>
      <p:sp>
        <p:nvSpPr>
          <p:cNvPr id="5" name="">
            <a:extLst xmlns:a="http://schemas.openxmlformats.org/drawingml/2006/main">
              <a:ext uri="{FF2B5EF4-FFF2-40B4-BE49-F238E27FC236}">
                <a16:creationId xmlns:a16="http://schemas.microsoft.com/office/drawing/2014/main" id="{D1E8C733-B8ED-4F16-B6E2-3C7D5C507678}"/>
              </a:ext>
            </a:extLst>
          </p:cNvPr>
          <p:cNvSpPr>
            <a:spLocks xmlns:a="http://schemas.openxmlformats.org/drawingml/2006/main" noGrp="1"/>
          </p:cNvSpPr>
          <p:nvPr/>
        </p:nvSpPr>
        <p:spPr>
          <a:xfrm xmlns:a="http://schemas.openxmlformats.org/drawingml/2006/main">
            <a:off x="6562725" y="1685925"/>
            <a:ext cx="4000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400" b="1">
                <a:solidFill>
                  <a:srgbClr val="B7E6C2"/>
                </a:solidFill>
                <a:latin typeface="Helvetica Neue"/>
                <a:ea typeface="Helvetica Neue"/>
                <a:cs typeface="Helvetica Neue"/>
              </a:defRPr>
            </a:pPr>
            <a:r>
              <a:rPr sz="8400" b="1">
                <a:solidFill>
                  <a:srgbClr val="B7E6C2"/>
                </a:solidFill>
                <a:latin typeface="Helvetica Neue"/>
                <a:ea typeface="Helvetica Neue"/>
                <a:cs typeface="Helvetica Neue"/>
              </a:rPr>
              <a:t>30</a:t>
            </a:r>
          </a:p>
        </p:txBody>
      </p:sp>
      <p:sp>
        <p:nvSpPr>
          <p:cNvPr id="6" name="">
            <a:extLst xmlns:a="http://schemas.openxmlformats.org/drawingml/2006/main">
              <a:ext uri="{FF2B5EF4-FFF2-40B4-BE49-F238E27FC236}">
                <a16:creationId xmlns:a16="http://schemas.microsoft.com/office/drawing/2014/main" id="{95355836-9404-4251-82E6-492338875994}"/>
              </a:ext>
            </a:extLst>
          </p:cNvPr>
          <p:cNvSpPr>
            <a:spLocks xmlns:a="http://schemas.openxmlformats.org/drawingml/2006/main" noGrp="1"/>
          </p:cNvSpPr>
          <p:nvPr/>
        </p:nvSpPr>
        <p:spPr>
          <a:xfrm xmlns:a="http://schemas.openxmlformats.org/drawingml/2006/main">
            <a:off x="6610350" y="3038475"/>
            <a:ext cx="4857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FFFFFF"/>
                </a:solidFill>
                <a:latin typeface="Helvetica Neue"/>
                <a:ea typeface="Helvetica Neue"/>
                <a:cs typeface="Helvetica Neue"/>
              </a:defRPr>
            </a:pPr>
            <a:r>
              <a:rPr sz="2175" b="0">
                <a:solidFill>
                  <a:srgbClr val="FFFFFF"/>
                </a:solidFill>
                <a:latin typeface="Helvetica Neue"/>
                <a:ea typeface="Helvetica Neue"/>
                <a:cs typeface="Helvetica Neue"/>
              </a:rPr>
              <a:t>URLs in the rule parity corpus</a:t>
            </a:r>
          </a:p>
        </p:txBody>
      </p:sp>
      <p:sp>
        <p:nvSpPr>
          <p:cNvPr id="7" name="">
            <a:extLst xmlns:a="http://schemas.openxmlformats.org/drawingml/2006/main">
              <a:ext uri="{FF2B5EF4-FFF2-40B4-BE49-F238E27FC236}">
                <a16:creationId xmlns:a16="http://schemas.microsoft.com/office/drawing/2014/main" id="{17AB2063-38A0-4A97-A3DA-2E0F442E907D}"/>
              </a:ext>
            </a:extLst>
          </p:cNvPr>
          <p:cNvSpPr>
            <a:spLocks xmlns:a="http://schemas.openxmlformats.org/drawingml/2006/main" noGrp="1"/>
          </p:cNvSpPr>
          <p:nvPr/>
        </p:nvSpPr>
        <p:spPr>
          <a:xfrm xmlns:a="http://schemas.openxmlformats.org/drawingml/2006/main">
            <a:off x="609600" y="4286250"/>
            <a:ext cx="10953750" cy="0"/>
          </a:xfrm>
          <a:prstGeom xmlns:a="http://schemas.openxmlformats.org/drawingml/2006/main" prst="line">
            <a:avLst/>
          </a:prstGeom>
          <a:noFill xmlns:a="http://schemas.openxmlformats.org/drawingml/2006/main"/>
          <a:ln xmlns:a="http://schemas.openxmlformats.org/drawingml/2006/main" w="9525">
            <a:solidFill>
              <a:srgbClr val="53616A"/>
            </a:solidFill>
          </a:ln>
        </p:spPr>
      </p:sp>
      <p:sp>
        <p:nvSpPr>
          <p:cNvPr id="8" name="">
            <a:extLst xmlns:a="http://schemas.openxmlformats.org/drawingml/2006/main">
              <a:ext uri="{FF2B5EF4-FFF2-40B4-BE49-F238E27FC236}">
                <a16:creationId xmlns:a16="http://schemas.microsoft.com/office/drawing/2014/main" id="{74E036FD-7695-4F48-BEA2-248343FECC83}"/>
              </a:ext>
            </a:extLst>
          </p:cNvPr>
          <p:cNvSpPr>
            <a:spLocks xmlns:a="http://schemas.openxmlformats.org/drawingml/2006/main" noGrp="1"/>
          </p:cNvSpPr>
          <p:nvPr/>
        </p:nvSpPr>
        <p:spPr>
          <a:xfrm xmlns:a="http://schemas.openxmlformats.org/drawingml/2006/main">
            <a:off x="609600" y="4695825"/>
            <a:ext cx="10953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0">
                <a:solidFill>
                  <a:srgbClr val="FFFFFF"/>
                </a:solidFill>
                <a:latin typeface="Helvetica Neue"/>
                <a:ea typeface="Helvetica Neue"/>
                <a:cs typeface="Helvetica Neue"/>
              </a:defRPr>
            </a:pPr>
            <a:r>
              <a:rPr sz="2250" b="0">
                <a:solidFill>
                  <a:srgbClr val="FFFFFF"/>
                </a:solidFill>
                <a:latin typeface="Helvetica Neue"/>
                <a:ea typeface="Helvetica Neue"/>
                <a:cs typeface="Helvetica Neue"/>
              </a:rPr>
              <a:t>Local builds and package checks passed</a:t>
            </a:r>
          </a:p>
          <a:p xmlns:a="http://schemas.openxmlformats.org/drawingml/2006/main">
            <a:pPr>
              <a:defRPr sz="2250" b="0">
                <a:solidFill>
                  <a:srgbClr val="FFFFFF"/>
                </a:solidFill>
                <a:latin typeface="Helvetica Neue"/>
                <a:ea typeface="Helvetica Neue"/>
                <a:cs typeface="Helvetica Neue"/>
              </a:defRPr>
            </a:pPr>
            <a:r>
              <a:rPr sz="2250" b="0">
                <a:solidFill>
                  <a:srgbClr val="FFFFFF"/>
                </a:solidFill>
                <a:latin typeface="Helvetica Neue"/>
                <a:ea typeface="Helvetica Neue"/>
                <a:cs typeface="Helvetica Neue"/>
              </a:rPr>
              <a:t>HTTP checks covered auth, grading and concurrency</a:t>
            </a:r>
          </a:p>
          <a:p xmlns:a="http://schemas.openxmlformats.org/drawingml/2006/main">
            <a:pPr>
              <a:defRPr sz="2250" b="0">
                <a:solidFill>
                  <a:srgbClr val="FFFFFF"/>
                </a:solidFill>
                <a:latin typeface="Helvetica Neue"/>
                <a:ea typeface="Helvetica Neue"/>
                <a:cs typeface="Helvetica Neue"/>
              </a:defRPr>
            </a:pPr>
            <a:r>
              <a:rPr sz="2250" b="0">
                <a:solidFill>
                  <a:srgbClr val="FFFFFF"/>
                </a:solidFill>
                <a:latin typeface="Helvetica Neue"/>
                <a:ea typeface="Helvetica Neue"/>
                <a:cs typeface="Helvetica Neue"/>
              </a:rPr>
              <a:t>Mailpit received EN/RU account emails</a:t>
            </a:r>
          </a:p>
        </p:txBody>
      </p:sp>
    </p:spTree>
    <p:extLst>
      <p:ext uri="{BB962C8B-B14F-4D97-AF65-F5344CB8AC3E}">
        <p14:creationId xmlns:p14="http://schemas.microsoft.com/office/powerpoint/2010/main" val="1613023578"/>
      </p:ext>
    </p:extLst>
  </p:cSld>
</p:sld>
</file>

<file path=ppt/slides/slide12.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8C6CDAC-929A-4A2A-8B87-EBB50EDF220C}"/>
              </a:ext>
            </a:extLst>
          </p:cNvPr>
          <p:cNvSpPr>
            <a:spLocks xmlns:a="http://schemas.openxmlformats.org/drawingml/2006/main" noGrp="1"/>
          </p:cNvSpPr>
          <p:nvPr/>
        </p:nvSpPr>
        <p:spPr>
          <a:xfrm xmlns:a="http://schemas.openxmlformats.org/drawingml/2006/main">
            <a:off x="609600" y="51435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162C3D"/>
                </a:solidFill>
                <a:latin typeface="Helvetica Neue"/>
                <a:ea typeface="Helvetica Neue"/>
                <a:cs typeface="Helvetica Neue"/>
              </a:defRPr>
            </a:pPr>
            <a:r>
              <a:rPr sz="3450" b="1">
                <a:solidFill>
                  <a:srgbClr val="162C3D"/>
                </a:solidFill>
                <a:latin typeface="Helvetica Neue"/>
                <a:ea typeface="Helvetica Neue"/>
                <a:cs typeface="Helvetica Neue"/>
              </a:rPr>
              <a:t>Current scope and remaining checks</a:t>
            </a:r>
          </a:p>
        </p:txBody>
      </p:sp>
      <p:sp>
        <p:nvSpPr>
          <p:cNvPr id="2" name="">
            <a:extLst xmlns:a="http://schemas.openxmlformats.org/drawingml/2006/main">
              <a:ext uri="{FF2B5EF4-FFF2-40B4-BE49-F238E27FC236}">
                <a16:creationId xmlns:a16="http://schemas.microsoft.com/office/drawing/2014/main" id="{C73890F5-0A29-45FA-A343-2AA90570F9F1}"/>
              </a:ext>
            </a:extLst>
          </p:cNvPr>
          <p:cNvSpPr>
            <a:spLocks xmlns:a="http://schemas.openxmlformats.org/drawingml/2006/main" noGrp="1"/>
          </p:cNvSpPr>
          <p:nvPr/>
        </p:nvSpPr>
        <p:spPr>
          <a:xfrm xmlns:a="http://schemas.openxmlformats.org/drawingml/2006/main">
            <a:off x="111442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53616A"/>
                </a:solidFill>
                <a:latin typeface="Helvetica Neue"/>
                <a:ea typeface="Helvetica Neue"/>
                <a:cs typeface="Helvetica Neue"/>
              </a:defRPr>
            </a:pPr>
            <a:r>
              <a:rPr sz="1200" b="0">
                <a:solidFill>
                  <a:srgbClr val="53616A"/>
                </a:solidFill>
                <a:latin typeface="Helvetica Neue"/>
                <a:ea typeface="Helvetica Neue"/>
                <a:cs typeface="Helvetica Neue"/>
              </a:rPr>
              <a:t>12</a:t>
            </a:r>
          </a:p>
        </p:txBody>
      </p:sp>
      <p:sp>
        <p:nvSpPr>
          <p:cNvPr id="3" name="">
            <a:extLst xmlns:a="http://schemas.openxmlformats.org/drawingml/2006/main">
              <a:ext uri="{FF2B5EF4-FFF2-40B4-BE49-F238E27FC236}">
                <a16:creationId xmlns:a16="http://schemas.microsoft.com/office/drawing/2014/main" id="{DC29DEE8-7C7B-4D86-B217-00E0125312C6}"/>
              </a:ext>
            </a:extLst>
          </p:cNvPr>
          <p:cNvSpPr>
            <a:spLocks xmlns:a="http://schemas.openxmlformats.org/drawingml/2006/main" noGrp="1"/>
          </p:cNvSpPr>
          <p:nvPr/>
        </p:nvSpPr>
        <p:spPr>
          <a:xfrm xmlns:a="http://schemas.openxmlformats.org/drawingml/2006/main">
            <a:off x="609600" y="1866900"/>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247A64"/>
                </a:solidFill>
                <a:latin typeface="Helvetica Neue"/>
                <a:ea typeface="Helvetica Neue"/>
                <a:cs typeface="Helvetica Neue"/>
              </a:defRPr>
            </a:pPr>
            <a:r>
              <a:rPr sz="2100" b="1">
                <a:solidFill>
                  <a:srgbClr val="247A64"/>
                </a:solidFill>
                <a:latin typeface="Helvetica Neue"/>
                <a:ea typeface="Helvetica Neue"/>
                <a:cs typeface="Helvetica Neue"/>
              </a:rPr>
              <a:t>Research outcomes</a:t>
            </a:r>
          </a:p>
        </p:txBody>
      </p:sp>
      <p:sp>
        <p:nvSpPr>
          <p:cNvPr id="4" name="">
            <a:extLst xmlns:a="http://schemas.openxmlformats.org/drawingml/2006/main">
              <a:ext uri="{FF2B5EF4-FFF2-40B4-BE49-F238E27FC236}">
                <a16:creationId xmlns:a16="http://schemas.microsoft.com/office/drawing/2014/main" id="{E398FCA5-CD04-4536-909E-852EBA3D4E88}"/>
              </a:ext>
            </a:extLst>
          </p:cNvPr>
          <p:cNvSpPr>
            <a:spLocks xmlns:a="http://schemas.openxmlformats.org/drawingml/2006/main" noGrp="1"/>
          </p:cNvSpPr>
          <p:nvPr/>
        </p:nvSpPr>
        <p:spPr>
          <a:xfrm xmlns:a="http://schemas.openxmlformats.org/drawingml/2006/main">
            <a:off x="609600" y="2362200"/>
            <a:ext cx="4953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62C3D"/>
                </a:solidFill>
                <a:latin typeface="Helvetica Neue"/>
                <a:ea typeface="Helvetica Neue"/>
                <a:cs typeface="Helvetica Neue"/>
              </a:defRPr>
            </a:pPr>
            <a:r>
              <a:rPr sz="2025" b="0">
                <a:solidFill>
                  <a:srgbClr val="162C3D"/>
                </a:solidFill>
                <a:latin typeface="Helvetica Neue"/>
                <a:ea typeface="Helvetica Neue"/>
                <a:cs typeface="Helvetica Neue"/>
              </a:rPr>
              <a:t>No measured learning gains</a:t>
            </a:r>
          </a:p>
          <a:p xmlns:a="http://schemas.openxmlformats.org/drawingml/2006/main">
            <a:pPr>
              <a:defRPr sz="2025" b="0">
                <a:solidFill>
                  <a:srgbClr val="162C3D"/>
                </a:solidFill>
                <a:latin typeface="Helvetica Neue"/>
                <a:ea typeface="Helvetica Neue"/>
                <a:cs typeface="Helvetica Neue"/>
              </a:defRPr>
            </a:pPr>
            <a:r>
              <a:rPr sz="2025" b="0">
                <a:solidFill>
                  <a:srgbClr val="162C3D"/>
                </a:solidFill>
                <a:latin typeface="Helvetica Neue"/>
                <a:ea typeface="Helvetica Neue"/>
                <a:cs typeface="Helvetica Neue"/>
              </a:rPr>
              <a:t>No independent detection accuracy</a:t>
            </a:r>
          </a:p>
          <a:p xmlns:a="http://schemas.openxmlformats.org/drawingml/2006/main">
            <a:pPr>
              <a:defRPr sz="2025" b="0">
                <a:solidFill>
                  <a:srgbClr val="162C3D"/>
                </a:solidFill>
                <a:latin typeface="Helvetica Neue"/>
                <a:ea typeface="Helvetica Neue"/>
                <a:cs typeface="Helvetica Neue"/>
              </a:defRPr>
            </a:pPr>
            <a:r>
              <a:rPr sz="2025" b="0">
                <a:solidFill>
                  <a:srgbClr val="162C3D"/>
                </a:solidFill>
                <a:latin typeface="Helvetica Neue"/>
                <a:ea typeface="Helvetica Neue"/>
                <a:cs typeface="Helvetica Neue"/>
              </a:rPr>
              <a:t>No user study yet</a:t>
            </a:r>
          </a:p>
        </p:txBody>
      </p:sp>
      <p:sp>
        <p:nvSpPr>
          <p:cNvPr id="5" name="">
            <a:extLst xmlns:a="http://schemas.openxmlformats.org/drawingml/2006/main">
              <a:ext uri="{FF2B5EF4-FFF2-40B4-BE49-F238E27FC236}">
                <a16:creationId xmlns:a16="http://schemas.microsoft.com/office/drawing/2014/main" id="{E68C7F15-F303-43EE-8F65-D63B38899566}"/>
              </a:ext>
            </a:extLst>
          </p:cNvPr>
          <p:cNvSpPr>
            <a:spLocks xmlns:a="http://schemas.openxmlformats.org/drawingml/2006/main" noGrp="1"/>
          </p:cNvSpPr>
          <p:nvPr/>
        </p:nvSpPr>
        <p:spPr>
          <a:xfrm xmlns:a="http://schemas.openxmlformats.org/drawingml/2006/main">
            <a:off x="6410325" y="1866900"/>
            <a:ext cx="519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247A64"/>
                </a:solidFill>
                <a:latin typeface="Helvetica Neue"/>
                <a:ea typeface="Helvetica Neue"/>
                <a:cs typeface="Helvetica Neue"/>
              </a:defRPr>
            </a:pPr>
            <a:r>
              <a:rPr sz="2100" b="1">
                <a:solidFill>
                  <a:srgbClr val="247A64"/>
                </a:solidFill>
                <a:latin typeface="Helvetica Neue"/>
                <a:ea typeface="Helvetica Neue"/>
                <a:cs typeface="Helvetica Neue"/>
              </a:rPr>
              <a:t>Release acceptance</a:t>
            </a:r>
          </a:p>
        </p:txBody>
      </p:sp>
      <p:sp>
        <p:nvSpPr>
          <p:cNvPr id="6" name="">
            <a:extLst xmlns:a="http://schemas.openxmlformats.org/drawingml/2006/main">
              <a:ext uri="{FF2B5EF4-FFF2-40B4-BE49-F238E27FC236}">
                <a16:creationId xmlns:a16="http://schemas.microsoft.com/office/drawing/2014/main" id="{CAC2117D-E03D-4999-A7D4-C961A7ED51C3}"/>
              </a:ext>
            </a:extLst>
          </p:cNvPr>
          <p:cNvSpPr>
            <a:spLocks xmlns:a="http://schemas.openxmlformats.org/drawingml/2006/main" noGrp="1"/>
          </p:cNvSpPr>
          <p:nvPr/>
        </p:nvSpPr>
        <p:spPr>
          <a:xfrm xmlns:a="http://schemas.openxmlformats.org/drawingml/2006/main">
            <a:off x="6410325" y="2362200"/>
            <a:ext cx="51911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62C3D"/>
                </a:solidFill>
                <a:latin typeface="Helvetica Neue"/>
                <a:ea typeface="Helvetica Neue"/>
                <a:cs typeface="Helvetica Neue"/>
              </a:defRPr>
            </a:pPr>
            <a:r>
              <a:rPr sz="2025" b="0">
                <a:solidFill>
                  <a:srgbClr val="162C3D"/>
                </a:solidFill>
                <a:latin typeface="Helvetica Neue"/>
                <a:ea typeface="Helvetica Neue"/>
                <a:cs typeface="Helvetica Neue"/>
              </a:rPr>
              <a:t>Chrome installation and behavior</a:t>
            </a:r>
          </a:p>
          <a:p xmlns:a="http://schemas.openxmlformats.org/drawingml/2006/main">
            <a:pPr>
              <a:defRPr sz="2025" b="0">
                <a:solidFill>
                  <a:srgbClr val="162C3D"/>
                </a:solidFill>
                <a:latin typeface="Helvetica Neue"/>
                <a:ea typeface="Helvetica Neue"/>
                <a:cs typeface="Helvetica Neue"/>
              </a:defRPr>
            </a:pPr>
            <a:r>
              <a:rPr sz="2025" b="0">
                <a:solidFill>
                  <a:srgbClr val="162C3D"/>
                </a:solidFill>
                <a:latin typeface="Helvetica Neue"/>
                <a:ea typeface="Helvetica Neue"/>
                <a:cs typeface="Helvetica Neue"/>
              </a:rPr>
              <a:t>External inbox delivery and hosted CI</a:t>
            </a:r>
          </a:p>
          <a:p xmlns:a="http://schemas.openxmlformats.org/drawingml/2006/main">
            <a:pPr>
              <a:defRPr sz="2025" b="0">
                <a:solidFill>
                  <a:srgbClr val="162C3D"/>
                </a:solidFill>
                <a:latin typeface="Helvetica Neue"/>
                <a:ea typeface="Helvetica Neue"/>
                <a:cs typeface="Helvetica Neue"/>
              </a:defRPr>
            </a:pPr>
            <a:r>
              <a:rPr sz="2025" b="0">
                <a:solidFill>
                  <a:srgbClr val="162C3D"/>
                </a:solidFill>
                <a:latin typeface="Helvetica Neue"/>
                <a:ea typeface="Helvetica Neue"/>
                <a:cs typeface="Helvetica Neue"/>
              </a:rPr>
              <a:t>Accessibility and broader browser coverage</a:t>
            </a:r>
          </a:p>
        </p:txBody>
      </p:sp>
      <p:sp>
        <p:nvSpPr>
          <p:cNvPr id="7" name="">
            <a:extLst xmlns:a="http://schemas.openxmlformats.org/drawingml/2006/main">
              <a:ext uri="{FF2B5EF4-FFF2-40B4-BE49-F238E27FC236}">
                <a16:creationId xmlns:a16="http://schemas.microsoft.com/office/drawing/2014/main" id="{5D91AEBD-7D8A-4E1F-A1D1-4F250BE41521}"/>
              </a:ext>
            </a:extLst>
          </p:cNvPr>
          <p:cNvSpPr>
            <a:spLocks xmlns:a="http://schemas.openxmlformats.org/drawingml/2006/main" noGrp="1"/>
          </p:cNvSpPr>
          <p:nvPr/>
        </p:nvSpPr>
        <p:spPr>
          <a:xfrm xmlns:a="http://schemas.openxmlformats.org/drawingml/2006/main">
            <a:off x="609600" y="4305300"/>
            <a:ext cx="10953750" cy="0"/>
          </a:xfrm>
          <a:prstGeom xmlns:a="http://schemas.openxmlformats.org/drawingml/2006/main" prst="line">
            <a:avLst/>
          </a:prstGeom>
          <a:noFill xmlns:a="http://schemas.openxmlformats.org/drawingml/2006/main"/>
          <a:ln xmlns:a="http://schemas.openxmlformats.org/drawingml/2006/main" w="9525">
            <a:solidFill>
              <a:srgbClr val="CAD3CF"/>
            </a:solidFill>
          </a:ln>
        </p:spPr>
      </p:sp>
      <p:sp>
        <p:nvSpPr>
          <p:cNvPr id="8" name="">
            <a:extLst xmlns:a="http://schemas.openxmlformats.org/drawingml/2006/main">
              <a:ext uri="{FF2B5EF4-FFF2-40B4-BE49-F238E27FC236}">
                <a16:creationId xmlns:a16="http://schemas.microsoft.com/office/drawing/2014/main" id="{2D4F406A-B8D3-4DF8-8D9B-50C2EA38FE4D}"/>
              </a:ext>
            </a:extLst>
          </p:cNvPr>
          <p:cNvSpPr>
            <a:spLocks xmlns:a="http://schemas.openxmlformats.org/drawingml/2006/main" noGrp="1"/>
          </p:cNvSpPr>
          <p:nvPr/>
        </p:nvSpPr>
        <p:spPr>
          <a:xfrm xmlns:a="http://schemas.openxmlformats.org/drawingml/2006/main">
            <a:off x="609600" y="4743450"/>
            <a:ext cx="1057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62C3D"/>
                </a:solidFill>
                <a:latin typeface="Helvetica Neue"/>
                <a:ea typeface="Helvetica Neue"/>
                <a:cs typeface="Helvetica Neue"/>
              </a:defRPr>
            </a:pPr>
            <a:r>
              <a:rPr sz="3000" b="1">
                <a:solidFill>
                  <a:srgbClr val="162C3D"/>
                </a:solidFill>
                <a:latin typeface="Helvetica Neue"/>
                <a:ea typeface="Helvetica Neue"/>
                <a:cs typeface="Helvetica Neue"/>
              </a:rPr>
              <a:t>Current scope: a working local prototype</a:t>
            </a:r>
          </a:p>
        </p:txBody>
      </p:sp>
      <p:sp>
        <p:nvSpPr>
          <p:cNvPr id="9" name="">
            <a:extLst xmlns:a="http://schemas.openxmlformats.org/drawingml/2006/main">
              <a:ext uri="{FF2B5EF4-FFF2-40B4-BE49-F238E27FC236}">
                <a16:creationId xmlns:a16="http://schemas.microsoft.com/office/drawing/2014/main" id="{78EAAB90-AC47-4682-9C35-503D9E8A38CD}"/>
              </a:ext>
            </a:extLst>
          </p:cNvPr>
          <p:cNvSpPr>
            <a:spLocks xmlns:a="http://schemas.openxmlformats.org/drawingml/2006/main" noGrp="1"/>
          </p:cNvSpPr>
          <p:nvPr/>
        </p:nvSpPr>
        <p:spPr>
          <a:xfrm xmlns:a="http://schemas.openxmlformats.org/drawingml/2006/main">
            <a:off x="609600" y="5514975"/>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162C3D"/>
                </a:solidFill>
                <a:latin typeface="Helvetica Neue"/>
                <a:ea typeface="Helvetica Neue"/>
                <a:cs typeface="Helvetica Neue"/>
              </a:defRPr>
            </a:pPr>
            <a:r>
              <a:rPr sz="2175" b="0">
                <a:solidFill>
                  <a:srgbClr val="162C3D"/>
                </a:solidFill>
                <a:latin typeface="Helvetica Neue"/>
                <a:ea typeface="Helvetica Neue"/>
                <a:cs typeface="Helvetica Neue"/>
              </a:rPr>
              <a:t>Suitable for technical feedback and study-design review.</a:t>
            </a:r>
          </a:p>
        </p:txBody>
      </p:sp>
    </p:spTree>
    <p:extLst>
      <p:ext uri="{BB962C8B-B14F-4D97-AF65-F5344CB8AC3E}">
        <p14:creationId xmlns:p14="http://schemas.microsoft.com/office/powerpoint/2010/main" val="71643091"/>
      </p:ext>
    </p:extLst>
  </p:cSld>
</p:sld>
</file>

<file path=ppt/slides/slide13.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cxnSp>
        <p:nvCxnSpPr>
          <p:cNvPr id="21" name=""/>
          <p:cNvCxnSpPr>
            <a:stCxn xmlns:a="http://schemas.openxmlformats.org/drawingml/2006/main" id="9" idx="3"/>
            <a:endCxn xmlns:a="http://schemas.openxmlformats.org/drawingml/2006/main" id="12" idx="1"/>
          </p:cNvCxnSpPr>
          <p:nvPr/>
        </p:nvCxnSpPr>
        <p:spPr>
          <a:xfrm xmlns:a="http://schemas.openxmlformats.org/drawingml/2006/main">
            <a:off x="8963025" y="2486025"/>
            <a:ext cx="390525" cy="0"/>
          </a:xfrm>
          <a:prstGeom xmlns:a="http://schemas.openxmlformats.org/drawingml/2006/main" prst="straightConnector1">
            <a:avLst/>
          </a:prstGeom>
          <a:ln xmlns:a="http://schemas.openxmlformats.org/drawingml/2006/main" w="19050">
            <a:solidFill>
              <a:srgbClr val="247A64"/>
            </a:solidFill>
          </a:ln>
        </p:spPr>
      </p:cxnSp>
      <p:cxnSp>
        <p:nvCxnSpPr>
          <p:cNvPr id="22" name=""/>
          <p:cNvCxnSpPr>
            <a:stCxn xmlns:a="http://schemas.openxmlformats.org/drawingml/2006/main" id="6" idx="3"/>
            <a:endCxn xmlns:a="http://schemas.openxmlformats.org/drawingml/2006/main" id="9" idx="1"/>
          </p:cNvCxnSpPr>
          <p:nvPr/>
        </p:nvCxnSpPr>
        <p:spPr>
          <a:xfrm xmlns:a="http://schemas.openxmlformats.org/drawingml/2006/main">
            <a:off x="6048375" y="2486025"/>
            <a:ext cx="390525" cy="0"/>
          </a:xfrm>
          <a:prstGeom xmlns:a="http://schemas.openxmlformats.org/drawingml/2006/main" prst="straightConnector1">
            <a:avLst/>
          </a:prstGeom>
          <a:ln xmlns:a="http://schemas.openxmlformats.org/drawingml/2006/main" w="19050">
            <a:solidFill>
              <a:srgbClr val="247A64"/>
            </a:solidFill>
          </a:ln>
        </p:spPr>
      </p:cxnSp>
      <p:cxnSp>
        <p:nvCxnSpPr>
          <p:cNvPr id="23" name=""/>
          <p:cNvCxnSpPr>
            <a:stCxn xmlns:a="http://schemas.openxmlformats.org/drawingml/2006/main" id="3" idx="3"/>
            <a:endCxn xmlns:a="http://schemas.openxmlformats.org/drawingml/2006/main" id="6" idx="1"/>
          </p:cNvCxnSpPr>
          <p:nvPr/>
        </p:nvCxnSpPr>
        <p:spPr>
          <a:xfrm xmlns:a="http://schemas.openxmlformats.org/drawingml/2006/main">
            <a:off x="3133725" y="2486025"/>
            <a:ext cx="390525" cy="0"/>
          </a:xfrm>
          <a:prstGeom xmlns:a="http://schemas.openxmlformats.org/drawingml/2006/main" prst="straightConnector1">
            <a:avLst/>
          </a:prstGeom>
          <a:ln xmlns:a="http://schemas.openxmlformats.org/drawingml/2006/main" w="19050">
            <a:solidFill>
              <a:srgbClr val="247A64"/>
            </a:solidFill>
          </a:ln>
        </p:spPr>
      </p:cxnSp>
      <p:sp>
        <p:nvSpPr>
          <p:cNvPr id="24" name="">
            <a:extLst xmlns:a="http://schemas.openxmlformats.org/drawingml/2006/main">
              <a:ext uri="{FF2B5EF4-FFF2-40B4-BE49-F238E27FC236}">
                <a16:creationId xmlns:a16="http://schemas.microsoft.com/office/drawing/2014/main" id="{908864A3-A278-4488-B551-7F8387A14A89}"/>
              </a:ext>
            </a:extLst>
          </p:cNvPr>
          <p:cNvSpPr>
            <a:spLocks xmlns:a="http://schemas.openxmlformats.org/drawingml/2006/main" noGrp="1"/>
          </p:cNvSpPr>
          <p:nvPr/>
        </p:nvSpPr>
        <p:spPr>
          <a:xfrm xmlns:a="http://schemas.openxmlformats.org/drawingml/2006/main">
            <a:off x="609600" y="51435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162C3D"/>
                </a:solidFill>
                <a:latin typeface="Helvetica Neue"/>
                <a:ea typeface="Helvetica Neue"/>
                <a:cs typeface="Helvetica Neue"/>
              </a:defRPr>
            </a:pPr>
            <a:r>
              <a:rPr sz="3450" b="1">
                <a:solidFill>
                  <a:srgbClr val="162C3D"/>
                </a:solidFill>
                <a:latin typeface="Helvetica Neue"/>
                <a:ea typeface="Helvetica Neue"/>
                <a:cs typeface="Helvetica Neue"/>
              </a:rPr>
              <a:t>Proposed learning-transfer study</a:t>
            </a:r>
          </a:p>
        </p:txBody>
      </p:sp>
      <p:sp>
        <p:nvSpPr>
          <p:cNvPr id="2" name="">
            <a:extLst xmlns:a="http://schemas.openxmlformats.org/drawingml/2006/main">
              <a:ext uri="{FF2B5EF4-FFF2-40B4-BE49-F238E27FC236}">
                <a16:creationId xmlns:a16="http://schemas.microsoft.com/office/drawing/2014/main" id="{2DAE58E6-A3F4-4DB2-8E27-B7F1C5A15F9D}"/>
              </a:ext>
            </a:extLst>
          </p:cNvPr>
          <p:cNvSpPr>
            <a:spLocks xmlns:a="http://schemas.openxmlformats.org/drawingml/2006/main" noGrp="1"/>
          </p:cNvSpPr>
          <p:nvPr/>
        </p:nvSpPr>
        <p:spPr>
          <a:xfrm xmlns:a="http://schemas.openxmlformats.org/drawingml/2006/main">
            <a:off x="111442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53616A"/>
                </a:solidFill>
                <a:latin typeface="Helvetica Neue"/>
                <a:ea typeface="Helvetica Neue"/>
                <a:cs typeface="Helvetica Neue"/>
              </a:defRPr>
            </a:pPr>
            <a:r>
              <a:rPr sz="1200" b="0">
                <a:solidFill>
                  <a:srgbClr val="53616A"/>
                </a:solidFill>
                <a:latin typeface="Helvetica Neue"/>
                <a:ea typeface="Helvetica Neue"/>
                <a:cs typeface="Helvetica Neue"/>
              </a:rPr>
              <a:t>13</a:t>
            </a:r>
          </a:p>
        </p:txBody>
      </p:sp>
      <p:sp>
        <p:nvSpPr>
          <p:cNvPr id="3" name="">
            <a:extLst xmlns:a="http://schemas.openxmlformats.org/drawingml/2006/main">
              <a:ext uri="{FF2B5EF4-FFF2-40B4-BE49-F238E27FC236}">
                <a16:creationId xmlns:a16="http://schemas.microsoft.com/office/drawing/2014/main" id="{2871555F-73BB-420E-AF39-654B318BE8ED}"/>
              </a:ext>
            </a:extLst>
          </p:cNvPr>
          <p:cNvSpPr>
            <a:spLocks xmlns:a="http://schemas.openxmlformats.org/drawingml/2006/main" noGrp="1"/>
          </p:cNvSpPr>
          <p:nvPr/>
        </p:nvSpPr>
        <p:spPr>
          <a:xfrm xmlns:a="http://schemas.openxmlformats.org/drawingml/2006/main">
            <a:off x="609600" y="1952625"/>
            <a:ext cx="2524125" cy="1066800"/>
          </a:xfrm>
          <a:prstGeom xmlns:a="http://schemas.openxmlformats.org/drawingml/2006/main" prst="rect">
            <a:avLst/>
          </a:prstGeom>
          <a:solidFill xmlns:a="http://schemas.openxmlformats.org/drawingml/2006/main">
            <a:srgbClr val="F5F3EE"/>
          </a:solidFill>
          <a:ln xmlns:a="http://schemas.openxmlformats.org/drawingml/2006/main" w="11430">
            <a:solidFill>
              <a:srgbClr val="247A64"/>
            </a:solidFill>
          </a:ln>
        </p:spPr>
      </p:sp>
      <p:sp>
        <p:nvSpPr>
          <p:cNvPr id="4" name="">
            <a:extLst xmlns:a="http://schemas.openxmlformats.org/drawingml/2006/main">
              <a:ext uri="{FF2B5EF4-FFF2-40B4-BE49-F238E27FC236}">
                <a16:creationId xmlns:a16="http://schemas.microsoft.com/office/drawing/2014/main" id="{58133420-1321-4895-9657-8C92E1C8C956}"/>
              </a:ext>
            </a:extLst>
          </p:cNvPr>
          <p:cNvSpPr>
            <a:spLocks xmlns:a="http://schemas.openxmlformats.org/drawingml/2006/main" noGrp="1"/>
          </p:cNvSpPr>
          <p:nvPr/>
        </p:nvSpPr>
        <p:spPr>
          <a:xfrm xmlns:a="http://schemas.openxmlformats.org/drawingml/2006/main">
            <a:off x="781050" y="2105025"/>
            <a:ext cx="21812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62C3D"/>
                </a:solidFill>
                <a:latin typeface="Helvetica Neue"/>
                <a:ea typeface="Helvetica Neue"/>
                <a:cs typeface="Helvetica Neue"/>
              </a:defRPr>
            </a:pPr>
            <a:r>
              <a:rPr sz="2025" b="1">
                <a:solidFill>
                  <a:srgbClr val="162C3D"/>
                </a:solidFill>
                <a:latin typeface="Helvetica Neue"/>
                <a:ea typeface="Helvetica Neue"/>
                <a:cs typeface="Helvetica Neue"/>
              </a:rPr>
              <a:t>Baseline</a:t>
            </a:r>
          </a:p>
        </p:txBody>
      </p:sp>
      <p:sp>
        <p:nvSpPr>
          <p:cNvPr id="5" name="">
            <a:extLst xmlns:a="http://schemas.openxmlformats.org/drawingml/2006/main">
              <a:ext uri="{FF2B5EF4-FFF2-40B4-BE49-F238E27FC236}">
                <a16:creationId xmlns:a16="http://schemas.microsoft.com/office/drawing/2014/main" id="{DEFF2483-20FA-4808-9EBF-EBB7329E24CC}"/>
              </a:ext>
            </a:extLst>
          </p:cNvPr>
          <p:cNvSpPr>
            <a:spLocks xmlns:a="http://schemas.openxmlformats.org/drawingml/2006/main" noGrp="1"/>
          </p:cNvSpPr>
          <p:nvPr/>
        </p:nvSpPr>
        <p:spPr>
          <a:xfrm xmlns:a="http://schemas.openxmlformats.org/drawingml/2006/main">
            <a:off x="781050" y="2495550"/>
            <a:ext cx="21812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16A"/>
                </a:solidFill>
                <a:latin typeface="Helvetica Neue"/>
                <a:ea typeface="Helvetica Neue"/>
                <a:cs typeface="Helvetica Neue"/>
              </a:defRPr>
            </a:pPr>
            <a:r>
              <a:rPr sz="1500" b="0">
                <a:solidFill>
                  <a:srgbClr val="53616A"/>
                </a:solidFill>
                <a:latin typeface="Helvetica Neue"/>
                <a:ea typeface="Helvetica Neue"/>
                <a:cs typeface="Helvetica Neue"/>
              </a:rPr>
              <a:t>Unseen item bank A</a:t>
            </a:r>
          </a:p>
        </p:txBody>
      </p:sp>
      <p:sp>
        <p:nvSpPr>
          <p:cNvPr id="6" name="">
            <a:extLst xmlns:a="http://schemas.openxmlformats.org/drawingml/2006/main">
              <a:ext uri="{FF2B5EF4-FFF2-40B4-BE49-F238E27FC236}">
                <a16:creationId xmlns:a16="http://schemas.microsoft.com/office/drawing/2014/main" id="{0C22DCD3-CC63-415A-92A5-60219014F3EC}"/>
              </a:ext>
            </a:extLst>
          </p:cNvPr>
          <p:cNvSpPr>
            <a:spLocks xmlns:a="http://schemas.openxmlformats.org/drawingml/2006/main" noGrp="1"/>
          </p:cNvSpPr>
          <p:nvPr/>
        </p:nvSpPr>
        <p:spPr>
          <a:xfrm xmlns:a="http://schemas.openxmlformats.org/drawingml/2006/main">
            <a:off x="3524250" y="1952625"/>
            <a:ext cx="2524125" cy="1066800"/>
          </a:xfrm>
          <a:prstGeom xmlns:a="http://schemas.openxmlformats.org/drawingml/2006/main" prst="rect">
            <a:avLst/>
          </a:prstGeom>
          <a:solidFill xmlns:a="http://schemas.openxmlformats.org/drawingml/2006/main">
            <a:srgbClr val="F5F3EE"/>
          </a:solidFill>
          <a:ln xmlns:a="http://schemas.openxmlformats.org/drawingml/2006/main" w="11430">
            <a:solidFill>
              <a:srgbClr val="247A64"/>
            </a:solidFill>
          </a:ln>
        </p:spPr>
      </p:sp>
      <p:sp>
        <p:nvSpPr>
          <p:cNvPr id="7" name="">
            <a:extLst xmlns:a="http://schemas.openxmlformats.org/drawingml/2006/main">
              <a:ext uri="{FF2B5EF4-FFF2-40B4-BE49-F238E27FC236}">
                <a16:creationId xmlns:a16="http://schemas.microsoft.com/office/drawing/2014/main" id="{E4E12FDD-8AC3-47D9-A006-4A6FCE84DE06}"/>
              </a:ext>
            </a:extLst>
          </p:cNvPr>
          <p:cNvSpPr>
            <a:spLocks xmlns:a="http://schemas.openxmlformats.org/drawingml/2006/main" noGrp="1"/>
          </p:cNvSpPr>
          <p:nvPr/>
        </p:nvSpPr>
        <p:spPr>
          <a:xfrm xmlns:a="http://schemas.openxmlformats.org/drawingml/2006/main">
            <a:off x="3695700" y="2105025"/>
            <a:ext cx="21812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62C3D"/>
                </a:solidFill>
                <a:latin typeface="Helvetica Neue"/>
                <a:ea typeface="Helvetica Neue"/>
                <a:cs typeface="Helvetica Neue"/>
              </a:defRPr>
            </a:pPr>
            <a:r>
              <a:rPr sz="2025" b="1">
                <a:solidFill>
                  <a:srgbClr val="162C3D"/>
                </a:solidFill>
                <a:latin typeface="Helvetica Neue"/>
                <a:ea typeface="Helvetica Neue"/>
                <a:cs typeface="Helvetica Neue"/>
              </a:rPr>
              <a:t>Learning</a:t>
            </a:r>
          </a:p>
        </p:txBody>
      </p:sp>
      <p:sp>
        <p:nvSpPr>
          <p:cNvPr id="8" name="">
            <a:extLst xmlns:a="http://schemas.openxmlformats.org/drawingml/2006/main">
              <a:ext uri="{FF2B5EF4-FFF2-40B4-BE49-F238E27FC236}">
                <a16:creationId xmlns:a16="http://schemas.microsoft.com/office/drawing/2014/main" id="{A798BA42-8287-4C78-B237-DC865A98D464}"/>
              </a:ext>
            </a:extLst>
          </p:cNvPr>
          <p:cNvSpPr>
            <a:spLocks xmlns:a="http://schemas.openxmlformats.org/drawingml/2006/main" noGrp="1"/>
          </p:cNvSpPr>
          <p:nvPr/>
        </p:nvSpPr>
        <p:spPr>
          <a:xfrm xmlns:a="http://schemas.openxmlformats.org/drawingml/2006/main">
            <a:off x="3695700" y="2495550"/>
            <a:ext cx="21812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16A"/>
                </a:solidFill>
                <a:latin typeface="Helvetica Neue"/>
                <a:ea typeface="Helvetica Neue"/>
                <a:cs typeface="Helvetica Neue"/>
              </a:defRPr>
            </a:pPr>
            <a:r>
              <a:rPr sz="1500" b="0">
                <a:solidFill>
                  <a:srgbClr val="53616A"/>
                </a:solidFill>
                <a:latin typeface="Helvetica Neue"/>
                <a:ea typeface="Helvetica Neue"/>
                <a:cs typeface="Helvetica Neue"/>
              </a:rPr>
              <a:t>Practice or text lesson</a:t>
            </a:r>
          </a:p>
        </p:txBody>
      </p:sp>
      <p:sp>
        <p:nvSpPr>
          <p:cNvPr id="9" name="">
            <a:extLst xmlns:a="http://schemas.openxmlformats.org/drawingml/2006/main">
              <a:ext uri="{FF2B5EF4-FFF2-40B4-BE49-F238E27FC236}">
                <a16:creationId xmlns:a16="http://schemas.microsoft.com/office/drawing/2014/main" id="{9F19A90F-C25D-46E7-BEBF-147DCCE6C925}"/>
              </a:ext>
            </a:extLst>
          </p:cNvPr>
          <p:cNvSpPr>
            <a:spLocks xmlns:a="http://schemas.openxmlformats.org/drawingml/2006/main" noGrp="1"/>
          </p:cNvSpPr>
          <p:nvPr/>
        </p:nvSpPr>
        <p:spPr>
          <a:xfrm xmlns:a="http://schemas.openxmlformats.org/drawingml/2006/main">
            <a:off x="6438900" y="1952625"/>
            <a:ext cx="2524125" cy="1066800"/>
          </a:xfrm>
          <a:prstGeom xmlns:a="http://schemas.openxmlformats.org/drawingml/2006/main" prst="rect">
            <a:avLst/>
          </a:prstGeom>
          <a:solidFill xmlns:a="http://schemas.openxmlformats.org/drawingml/2006/main">
            <a:srgbClr val="F5F3EE"/>
          </a:solidFill>
          <a:ln xmlns:a="http://schemas.openxmlformats.org/drawingml/2006/main" w="11430">
            <a:solidFill>
              <a:srgbClr val="247A64"/>
            </a:solidFill>
          </a:ln>
        </p:spPr>
      </p:sp>
      <p:sp>
        <p:nvSpPr>
          <p:cNvPr id="10" name="">
            <a:extLst xmlns:a="http://schemas.openxmlformats.org/drawingml/2006/main">
              <a:ext uri="{FF2B5EF4-FFF2-40B4-BE49-F238E27FC236}">
                <a16:creationId xmlns:a16="http://schemas.microsoft.com/office/drawing/2014/main" id="{7CAF713E-6033-4112-B8BE-9B295813EF96}"/>
              </a:ext>
            </a:extLst>
          </p:cNvPr>
          <p:cNvSpPr>
            <a:spLocks xmlns:a="http://schemas.openxmlformats.org/drawingml/2006/main" noGrp="1"/>
          </p:cNvSpPr>
          <p:nvPr/>
        </p:nvSpPr>
        <p:spPr>
          <a:xfrm xmlns:a="http://schemas.openxmlformats.org/drawingml/2006/main">
            <a:off x="6610350" y="2105025"/>
            <a:ext cx="21812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62C3D"/>
                </a:solidFill>
                <a:latin typeface="Helvetica Neue"/>
                <a:ea typeface="Helvetica Neue"/>
                <a:cs typeface="Helvetica Neue"/>
              </a:defRPr>
            </a:pPr>
            <a:r>
              <a:rPr sz="2025" b="1">
                <a:solidFill>
                  <a:srgbClr val="162C3D"/>
                </a:solidFill>
                <a:latin typeface="Helvetica Neue"/>
                <a:ea typeface="Helvetica Neue"/>
                <a:cs typeface="Helvetica Neue"/>
              </a:rPr>
              <a:t>Immediate</a:t>
            </a:r>
          </a:p>
        </p:txBody>
      </p:sp>
      <p:sp>
        <p:nvSpPr>
          <p:cNvPr id="11" name="">
            <a:extLst xmlns:a="http://schemas.openxmlformats.org/drawingml/2006/main">
              <a:ext uri="{FF2B5EF4-FFF2-40B4-BE49-F238E27FC236}">
                <a16:creationId xmlns:a16="http://schemas.microsoft.com/office/drawing/2014/main" id="{7A89ED11-3C5A-4C9F-9404-4AA661C9B20C}"/>
              </a:ext>
            </a:extLst>
          </p:cNvPr>
          <p:cNvSpPr>
            <a:spLocks xmlns:a="http://schemas.openxmlformats.org/drawingml/2006/main" noGrp="1"/>
          </p:cNvSpPr>
          <p:nvPr/>
        </p:nvSpPr>
        <p:spPr>
          <a:xfrm xmlns:a="http://schemas.openxmlformats.org/drawingml/2006/main">
            <a:off x="6610350" y="2495550"/>
            <a:ext cx="21812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16A"/>
                </a:solidFill>
                <a:latin typeface="Helvetica Neue"/>
                <a:ea typeface="Helvetica Neue"/>
                <a:cs typeface="Helvetica Neue"/>
              </a:defRPr>
            </a:pPr>
            <a:r>
              <a:rPr sz="1500" b="0">
                <a:solidFill>
                  <a:srgbClr val="53616A"/>
                </a:solidFill>
                <a:latin typeface="Helvetica Neue"/>
                <a:ea typeface="Helvetica Neue"/>
                <a:cs typeface="Helvetica Neue"/>
              </a:rPr>
              <a:t>Unseen item bank B</a:t>
            </a:r>
          </a:p>
        </p:txBody>
      </p:sp>
      <p:sp>
        <p:nvSpPr>
          <p:cNvPr id="12" name="">
            <a:extLst xmlns:a="http://schemas.openxmlformats.org/drawingml/2006/main">
              <a:ext uri="{FF2B5EF4-FFF2-40B4-BE49-F238E27FC236}">
                <a16:creationId xmlns:a16="http://schemas.microsoft.com/office/drawing/2014/main" id="{5AFD3887-9A5E-4442-B471-175AA5BE8C0C}"/>
              </a:ext>
            </a:extLst>
          </p:cNvPr>
          <p:cNvSpPr>
            <a:spLocks xmlns:a="http://schemas.openxmlformats.org/drawingml/2006/main" noGrp="1"/>
          </p:cNvSpPr>
          <p:nvPr/>
        </p:nvSpPr>
        <p:spPr>
          <a:xfrm xmlns:a="http://schemas.openxmlformats.org/drawingml/2006/main">
            <a:off x="9353550" y="1952625"/>
            <a:ext cx="2524125" cy="1066800"/>
          </a:xfrm>
          <a:prstGeom xmlns:a="http://schemas.openxmlformats.org/drawingml/2006/main" prst="rect">
            <a:avLst/>
          </a:prstGeom>
          <a:solidFill xmlns:a="http://schemas.openxmlformats.org/drawingml/2006/main">
            <a:srgbClr val="F5F3EE"/>
          </a:solidFill>
          <a:ln xmlns:a="http://schemas.openxmlformats.org/drawingml/2006/main" w="11430">
            <a:solidFill>
              <a:srgbClr val="247A64"/>
            </a:solidFill>
          </a:ln>
        </p:spPr>
      </p:sp>
      <p:sp>
        <p:nvSpPr>
          <p:cNvPr id="13" name="">
            <a:extLst xmlns:a="http://schemas.openxmlformats.org/drawingml/2006/main">
              <a:ext uri="{FF2B5EF4-FFF2-40B4-BE49-F238E27FC236}">
                <a16:creationId xmlns:a16="http://schemas.microsoft.com/office/drawing/2014/main" id="{C44E7B43-DC5A-462A-BA92-737D2074842D}"/>
              </a:ext>
            </a:extLst>
          </p:cNvPr>
          <p:cNvSpPr>
            <a:spLocks xmlns:a="http://schemas.openxmlformats.org/drawingml/2006/main" noGrp="1"/>
          </p:cNvSpPr>
          <p:nvPr/>
        </p:nvSpPr>
        <p:spPr>
          <a:xfrm xmlns:a="http://schemas.openxmlformats.org/drawingml/2006/main">
            <a:off x="9525000" y="2105025"/>
            <a:ext cx="21812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62C3D"/>
                </a:solidFill>
                <a:latin typeface="Helvetica Neue"/>
                <a:ea typeface="Helvetica Neue"/>
                <a:cs typeface="Helvetica Neue"/>
              </a:defRPr>
            </a:pPr>
            <a:r>
              <a:rPr sz="2025" b="1">
                <a:solidFill>
                  <a:srgbClr val="162C3D"/>
                </a:solidFill>
                <a:latin typeface="Helvetica Neue"/>
                <a:ea typeface="Helvetica Neue"/>
                <a:cs typeface="Helvetica Neue"/>
              </a:rPr>
              <a:t>Delayed</a:t>
            </a:r>
          </a:p>
        </p:txBody>
      </p:sp>
      <p:sp>
        <p:nvSpPr>
          <p:cNvPr id="14" name="">
            <a:extLst xmlns:a="http://schemas.openxmlformats.org/drawingml/2006/main">
              <a:ext uri="{FF2B5EF4-FFF2-40B4-BE49-F238E27FC236}">
                <a16:creationId xmlns:a16="http://schemas.microsoft.com/office/drawing/2014/main" id="{19A4BA22-DA73-41CC-9781-CAA82CE6E416}"/>
              </a:ext>
            </a:extLst>
          </p:cNvPr>
          <p:cNvSpPr>
            <a:spLocks xmlns:a="http://schemas.openxmlformats.org/drawingml/2006/main" noGrp="1"/>
          </p:cNvSpPr>
          <p:nvPr/>
        </p:nvSpPr>
        <p:spPr>
          <a:xfrm xmlns:a="http://schemas.openxmlformats.org/drawingml/2006/main">
            <a:off x="9525000" y="2495550"/>
            <a:ext cx="21812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16A"/>
                </a:solidFill>
                <a:latin typeface="Helvetica Neue"/>
                <a:ea typeface="Helvetica Neue"/>
                <a:cs typeface="Helvetica Neue"/>
              </a:defRPr>
            </a:pPr>
            <a:r>
              <a:rPr sz="1500" b="0">
                <a:solidFill>
                  <a:srgbClr val="53616A"/>
                </a:solidFill>
                <a:latin typeface="Helvetica Neue"/>
                <a:ea typeface="Helvetica Neue"/>
                <a:cs typeface="Helvetica Neue"/>
              </a:rPr>
              <a:t>Unseen item bank C</a:t>
            </a:r>
          </a:p>
        </p:txBody>
      </p:sp>
      <p:sp>
        <p:nvSpPr>
          <p:cNvPr id="18" name="">
            <a:extLst xmlns:a="http://schemas.openxmlformats.org/drawingml/2006/main">
              <a:ext uri="{FF2B5EF4-FFF2-40B4-BE49-F238E27FC236}">
                <a16:creationId xmlns:a16="http://schemas.microsoft.com/office/drawing/2014/main" id="{11842AF7-37A7-4F71-A7A8-66F05B009F34}"/>
              </a:ext>
            </a:extLst>
          </p:cNvPr>
          <p:cNvSpPr>
            <a:spLocks xmlns:a="http://schemas.openxmlformats.org/drawingml/2006/main" noGrp="1"/>
          </p:cNvSpPr>
          <p:nvPr/>
        </p:nvSpPr>
        <p:spPr>
          <a:xfrm xmlns:a="http://schemas.openxmlformats.org/drawingml/2006/main">
            <a:off x="609600" y="381952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247A64"/>
                </a:solidFill>
                <a:latin typeface="Helvetica Neue"/>
                <a:ea typeface="Helvetica Neue"/>
                <a:cs typeface="Helvetica Neue"/>
              </a:defRPr>
            </a:pPr>
            <a:r>
              <a:rPr sz="2100" b="1">
                <a:solidFill>
                  <a:srgbClr val="247A64"/>
                </a:solidFill>
                <a:latin typeface="Helvetica Neue"/>
                <a:ea typeface="Helvetica Neue"/>
                <a:cs typeface="Helvetica Neue"/>
              </a:rPr>
              <a:t>Primary outcome</a:t>
            </a:r>
          </a:p>
        </p:txBody>
      </p:sp>
      <p:sp>
        <p:nvSpPr>
          <p:cNvPr id="19" name="">
            <a:extLst xmlns:a="http://schemas.openxmlformats.org/drawingml/2006/main">
              <a:ext uri="{FF2B5EF4-FFF2-40B4-BE49-F238E27FC236}">
                <a16:creationId xmlns:a16="http://schemas.microsoft.com/office/drawing/2014/main" id="{93187688-C2DE-44B0-BA62-09DE4C0C97E7}"/>
              </a:ext>
            </a:extLst>
          </p:cNvPr>
          <p:cNvSpPr>
            <a:spLocks xmlns:a="http://schemas.openxmlformats.org/drawingml/2006/main" noGrp="1"/>
          </p:cNvSpPr>
          <p:nvPr/>
        </p:nvSpPr>
        <p:spPr>
          <a:xfrm xmlns:a="http://schemas.openxmlformats.org/drawingml/2006/main">
            <a:off x="609600" y="4362450"/>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775" b="1">
                <a:solidFill>
                  <a:srgbClr val="162C3D"/>
                </a:solidFill>
                <a:latin typeface="Helvetica Neue"/>
                <a:ea typeface="Helvetica Neue"/>
                <a:cs typeface="Helvetica Neue"/>
              </a:defRPr>
            </a:pPr>
            <a:r>
              <a:rPr sz="2775" b="1">
                <a:solidFill>
                  <a:srgbClr val="162C3D"/>
                </a:solidFill>
                <a:latin typeface="Helvetica Neue"/>
                <a:ea typeface="Helvetica Neue"/>
                <a:cs typeface="Helvetica Neue"/>
              </a:rPr>
              <a:t>Change in balanced accuracy on delayed, unfamiliar examples</a:t>
            </a:r>
          </a:p>
        </p:txBody>
      </p:sp>
      <p:sp>
        <p:nvSpPr>
          <p:cNvPr id="20" name="">
            <a:extLst xmlns:a="http://schemas.openxmlformats.org/drawingml/2006/main">
              <a:ext uri="{FF2B5EF4-FFF2-40B4-BE49-F238E27FC236}">
                <a16:creationId xmlns:a16="http://schemas.microsoft.com/office/drawing/2014/main" id="{7BE93E6D-6E15-4575-8633-080F2C412167}"/>
              </a:ext>
            </a:extLst>
          </p:cNvPr>
          <p:cNvSpPr>
            <a:spLocks xmlns:a="http://schemas.openxmlformats.org/drawingml/2006/main" noGrp="1"/>
          </p:cNvSpPr>
          <p:nvPr/>
        </p:nvSpPr>
        <p:spPr>
          <a:xfrm xmlns:a="http://schemas.openxmlformats.org/drawingml/2006/main">
            <a:off x="609600" y="5391150"/>
            <a:ext cx="10858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62C3D"/>
                </a:solidFill>
                <a:latin typeface="Helvetica Neue"/>
                <a:ea typeface="Helvetica Neue"/>
                <a:cs typeface="Helvetica Neue"/>
              </a:defRPr>
            </a:pPr>
            <a:r>
              <a:rPr sz="2025" b="0">
                <a:solidFill>
                  <a:srgbClr val="162C3D"/>
                </a:solidFill>
                <a:latin typeface="Helvetica Neue"/>
                <a:ea typeface="Helvetica Neue"/>
                <a:cs typeface="Helvetica Neue"/>
              </a:rPr>
              <a:t>Also report phishing recall, benign false alarms and attrition.</a:t>
            </a:r>
          </a:p>
          <a:p xmlns:a="http://schemas.openxmlformats.org/drawingml/2006/main">
            <a:pPr>
              <a:defRPr sz="2025" b="0">
                <a:solidFill>
                  <a:srgbClr val="162C3D"/>
                </a:solidFill>
                <a:latin typeface="Helvetica Neue"/>
                <a:ea typeface="Helvetica Neue"/>
                <a:cs typeface="Helvetica Neue"/>
              </a:defRPr>
            </a:pPr>
            <a:r>
              <a:rPr sz="2025" b="0">
                <a:solidFill>
                  <a:srgbClr val="162C3D"/>
                </a:solidFill>
                <a:latin typeface="Helvetica Neue"/>
                <a:ea typeface="Helvetica Neue"/>
                <a:cs typeface="Helvetica Neue"/>
              </a:rPr>
              <a:t>Separate item banks reduce memorization of repeated examples.</a:t>
            </a:r>
          </a:p>
        </p:txBody>
      </p:sp>
    </p:spTree>
    <p:extLst>
      <p:ext uri="{BB962C8B-B14F-4D97-AF65-F5344CB8AC3E}">
        <p14:creationId xmlns:p14="http://schemas.microsoft.com/office/powerpoint/2010/main" val="1193779269"/>
      </p:ext>
    </p:extLst>
  </p:cSld>
</p:sld>
</file>

<file path=ppt/slides/slide14.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B5426FB-581F-49B8-B785-7CCCE5FFAFD2}"/>
              </a:ext>
            </a:extLst>
          </p:cNvPr>
          <p:cNvSpPr>
            <a:spLocks xmlns:a="http://schemas.openxmlformats.org/drawingml/2006/main" noGrp="1"/>
          </p:cNvSpPr>
          <p:nvPr/>
        </p:nvSpPr>
        <p:spPr>
          <a:xfrm xmlns:a="http://schemas.openxmlformats.org/drawingml/2006/main">
            <a:off x="609600" y="51435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162C3D"/>
                </a:solidFill>
                <a:latin typeface="Helvetica Neue"/>
                <a:ea typeface="Helvetica Neue"/>
                <a:cs typeface="Helvetica Neue"/>
              </a:defRPr>
            </a:pPr>
            <a:r>
              <a:rPr sz="3450" b="1">
                <a:solidFill>
                  <a:srgbClr val="162C3D"/>
                </a:solidFill>
                <a:latin typeface="Helvetica Neue"/>
                <a:ea typeface="Helvetica Neue"/>
                <a:cs typeface="Helvetica Neue"/>
              </a:rPr>
              <a:t>Next step: evaluate the detector</a:t>
            </a:r>
          </a:p>
        </p:txBody>
      </p:sp>
      <p:sp>
        <p:nvSpPr>
          <p:cNvPr id="2" name="">
            <a:extLst xmlns:a="http://schemas.openxmlformats.org/drawingml/2006/main">
              <a:ext uri="{FF2B5EF4-FFF2-40B4-BE49-F238E27FC236}">
                <a16:creationId xmlns:a16="http://schemas.microsoft.com/office/drawing/2014/main" id="{45ED071E-F3B9-4FA8-B7D4-DDD24CC17BED}"/>
              </a:ext>
            </a:extLst>
          </p:cNvPr>
          <p:cNvSpPr>
            <a:spLocks xmlns:a="http://schemas.openxmlformats.org/drawingml/2006/main" noGrp="1"/>
          </p:cNvSpPr>
          <p:nvPr/>
        </p:nvSpPr>
        <p:spPr>
          <a:xfrm xmlns:a="http://schemas.openxmlformats.org/drawingml/2006/main">
            <a:off x="111442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53616A"/>
                </a:solidFill>
                <a:latin typeface="Helvetica Neue"/>
                <a:ea typeface="Helvetica Neue"/>
                <a:cs typeface="Helvetica Neue"/>
              </a:defRPr>
            </a:pPr>
            <a:r>
              <a:rPr sz="1200" b="0">
                <a:solidFill>
                  <a:srgbClr val="53616A"/>
                </a:solidFill>
                <a:latin typeface="Helvetica Neue"/>
                <a:ea typeface="Helvetica Neue"/>
                <a:cs typeface="Helvetica Neue"/>
              </a:rPr>
              <a:t>14</a:t>
            </a:r>
          </a:p>
        </p:txBody>
      </p:sp>
      <p:sp>
        <p:nvSpPr>
          <p:cNvPr id="3" name="">
            <a:extLst xmlns:a="http://schemas.openxmlformats.org/drawingml/2006/main">
              <a:ext uri="{FF2B5EF4-FFF2-40B4-BE49-F238E27FC236}">
                <a16:creationId xmlns:a16="http://schemas.microsoft.com/office/drawing/2014/main" id="{7B5ED383-19C2-47DB-AB1D-74B6A4B74FFE}"/>
              </a:ext>
            </a:extLst>
          </p:cNvPr>
          <p:cNvSpPr>
            <a:spLocks xmlns:a="http://schemas.openxmlformats.org/drawingml/2006/main" noGrp="1"/>
          </p:cNvSpPr>
          <p:nvPr/>
        </p:nvSpPr>
        <p:spPr>
          <a:xfrm xmlns:a="http://schemas.openxmlformats.org/drawingml/2006/main">
            <a:off x="609600" y="180975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247A64"/>
                </a:solidFill>
                <a:latin typeface="Helvetica Neue"/>
                <a:ea typeface="Helvetica Neue"/>
                <a:cs typeface="Helvetica Neue"/>
              </a:defRPr>
            </a:pPr>
            <a:r>
              <a:rPr sz="2100" b="1">
                <a:solidFill>
                  <a:srgbClr val="247A64"/>
                </a:solidFill>
                <a:latin typeface="Helvetica Neue"/>
                <a:ea typeface="Helvetica Neue"/>
                <a:cs typeface="Helvetica Neue"/>
              </a:rPr>
              <a:t>Detector experiment</a:t>
            </a:r>
          </a:p>
        </p:txBody>
      </p:sp>
      <p:sp>
        <p:nvSpPr>
          <p:cNvPr id="4" name="">
            <a:extLst xmlns:a="http://schemas.openxmlformats.org/drawingml/2006/main">
              <a:ext uri="{FF2B5EF4-FFF2-40B4-BE49-F238E27FC236}">
                <a16:creationId xmlns:a16="http://schemas.microsoft.com/office/drawing/2014/main" id="{FBC4387B-A276-4DE4-AB5C-75FB14449CE8}"/>
              </a:ext>
            </a:extLst>
          </p:cNvPr>
          <p:cNvSpPr>
            <a:spLocks xmlns:a="http://schemas.openxmlformats.org/drawingml/2006/main" noGrp="1"/>
          </p:cNvSpPr>
          <p:nvPr/>
        </p:nvSpPr>
        <p:spPr>
          <a:xfrm xmlns:a="http://schemas.openxmlformats.org/drawingml/2006/main">
            <a:off x="609600" y="2305050"/>
            <a:ext cx="5238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62C3D"/>
                </a:solidFill>
                <a:latin typeface="Helvetica Neue"/>
                <a:ea typeface="Helvetica Neue"/>
                <a:cs typeface="Helvetica Neue"/>
              </a:defRPr>
            </a:pPr>
            <a:r>
              <a:rPr sz="2025" b="0">
                <a:solidFill>
                  <a:srgbClr val="162C3D"/>
                </a:solidFill>
                <a:latin typeface="Helvetica Neue"/>
                <a:ea typeface="Helvetica Neue"/>
                <a:cs typeface="Helvetica Neue"/>
              </a:rPr>
              <a:t>Build a versioned, independently labelled</a:t>
            </a:r>
          </a:p>
          <a:p xmlns:a="http://schemas.openxmlformats.org/drawingml/2006/main">
            <a:pPr>
              <a:defRPr sz="2025" b="0">
                <a:solidFill>
                  <a:srgbClr val="162C3D"/>
                </a:solidFill>
                <a:latin typeface="Helvetica Neue"/>
                <a:ea typeface="Helvetica Neue"/>
                <a:cs typeface="Helvetica Neue"/>
              </a:defRPr>
            </a:pPr>
            <a:r>
              <a:rPr sz="2025" b="0">
                <a:solidFill>
                  <a:srgbClr val="162C3D"/>
                </a:solidFill>
                <a:latin typeface="Helvetica Neue"/>
                <a:ea typeface="Helvetica Neue"/>
                <a:cs typeface="Helvetica Neue"/>
              </a:rPr>
              <a:t>URL set with source-separated splits.</a:t>
            </a:r>
          </a:p>
        </p:txBody>
      </p:sp>
      <p:sp>
        <p:nvSpPr>
          <p:cNvPr id="5" name="">
            <a:extLst xmlns:a="http://schemas.openxmlformats.org/drawingml/2006/main">
              <a:ext uri="{FF2B5EF4-FFF2-40B4-BE49-F238E27FC236}">
                <a16:creationId xmlns:a16="http://schemas.microsoft.com/office/drawing/2014/main" id="{96A5AD7F-D23C-49AB-AFF7-9A7E959DCB25}"/>
              </a:ext>
            </a:extLst>
          </p:cNvPr>
          <p:cNvSpPr>
            <a:spLocks xmlns:a="http://schemas.openxmlformats.org/drawingml/2006/main" noGrp="1"/>
          </p:cNvSpPr>
          <p:nvPr/>
        </p:nvSpPr>
        <p:spPr>
          <a:xfrm xmlns:a="http://schemas.openxmlformats.org/drawingml/2006/main">
            <a:off x="6419850" y="180975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247A64"/>
                </a:solidFill>
                <a:latin typeface="Helvetica Neue"/>
                <a:ea typeface="Helvetica Neue"/>
                <a:cs typeface="Helvetica Neue"/>
              </a:defRPr>
            </a:pPr>
            <a:r>
              <a:rPr sz="2100" b="1">
                <a:solidFill>
                  <a:srgbClr val="247A64"/>
                </a:solidFill>
                <a:latin typeface="Helvetica Neue"/>
                <a:ea typeface="Helvetica Neue"/>
                <a:cs typeface="Helvetica Neue"/>
              </a:rPr>
              <a:t>Error analysis</a:t>
            </a:r>
          </a:p>
        </p:txBody>
      </p:sp>
      <p:sp>
        <p:nvSpPr>
          <p:cNvPr id="6" name="">
            <a:extLst xmlns:a="http://schemas.openxmlformats.org/drawingml/2006/main">
              <a:ext uri="{FF2B5EF4-FFF2-40B4-BE49-F238E27FC236}">
                <a16:creationId xmlns:a16="http://schemas.microsoft.com/office/drawing/2014/main" id="{B37FC577-B4F1-4504-9CBA-FD7454CFF8D1}"/>
              </a:ext>
            </a:extLst>
          </p:cNvPr>
          <p:cNvSpPr>
            <a:spLocks xmlns:a="http://schemas.openxmlformats.org/drawingml/2006/main" noGrp="1"/>
          </p:cNvSpPr>
          <p:nvPr/>
        </p:nvSpPr>
        <p:spPr>
          <a:xfrm xmlns:a="http://schemas.openxmlformats.org/drawingml/2006/main">
            <a:off x="6419850" y="2305050"/>
            <a:ext cx="5143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62C3D"/>
                </a:solidFill>
                <a:latin typeface="Helvetica Neue"/>
                <a:ea typeface="Helvetica Neue"/>
                <a:cs typeface="Helvetica Neue"/>
              </a:defRPr>
            </a:pPr>
            <a:r>
              <a:rPr sz="2025" b="0">
                <a:solidFill>
                  <a:srgbClr val="162C3D"/>
                </a:solidFill>
                <a:latin typeface="Helvetica Neue"/>
                <a:ea typeface="Helvetica Neue"/>
                <a:cs typeface="Helvetica Neue"/>
              </a:rPr>
              <a:t>Compare rules, optional model and blend.</a:t>
            </a:r>
          </a:p>
          <a:p xmlns:a="http://schemas.openxmlformats.org/drawingml/2006/main">
            <a:pPr>
              <a:defRPr sz="2025" b="0">
                <a:solidFill>
                  <a:srgbClr val="162C3D"/>
                </a:solidFill>
                <a:latin typeface="Helvetica Neue"/>
                <a:ea typeface="Helvetica Neue"/>
                <a:cs typeface="Helvetica Neue"/>
              </a:defRPr>
            </a:pPr>
            <a:r>
              <a:rPr sz="2025" b="0">
                <a:solidFill>
                  <a:srgbClr val="162C3D"/>
                </a:solidFill>
                <a:latin typeface="Helvetica Neue"/>
                <a:ea typeface="Helvetica Neue"/>
                <a:cs typeface="Helvetica Neue"/>
              </a:rPr>
              <a:t>Report false positives by attack family</a:t>
            </a:r>
          </a:p>
          <a:p xmlns:a="http://schemas.openxmlformats.org/drawingml/2006/main">
            <a:pPr>
              <a:defRPr sz="2025" b="0">
                <a:solidFill>
                  <a:srgbClr val="162C3D"/>
                </a:solidFill>
                <a:latin typeface="Helvetica Neue"/>
                <a:ea typeface="Helvetica Neue"/>
                <a:cs typeface="Helvetica Neue"/>
              </a:defRPr>
            </a:pPr>
            <a:r>
              <a:rPr sz="2025" b="0">
                <a:solidFill>
                  <a:srgbClr val="162C3D"/>
                </a:solidFill>
                <a:latin typeface="Helvetica Neue"/>
                <a:ea typeface="Helvetica Neue"/>
                <a:cs typeface="Helvetica Neue"/>
              </a:rPr>
              <a:t>and language.</a:t>
            </a:r>
          </a:p>
        </p:txBody>
      </p:sp>
      <p:sp>
        <p:nvSpPr>
          <p:cNvPr id="7" name="">
            <a:extLst xmlns:a="http://schemas.openxmlformats.org/drawingml/2006/main">
              <a:ext uri="{FF2B5EF4-FFF2-40B4-BE49-F238E27FC236}">
                <a16:creationId xmlns:a16="http://schemas.microsoft.com/office/drawing/2014/main" id="{ABDB1535-E071-473C-957E-A9F17474DA9A}"/>
              </a:ext>
            </a:extLst>
          </p:cNvPr>
          <p:cNvSpPr>
            <a:spLocks xmlns:a="http://schemas.openxmlformats.org/drawingml/2006/main" noGrp="1"/>
          </p:cNvSpPr>
          <p:nvPr/>
        </p:nvSpPr>
        <p:spPr>
          <a:xfrm xmlns:a="http://schemas.openxmlformats.org/drawingml/2006/main">
            <a:off x="609600" y="4219575"/>
            <a:ext cx="10953750" cy="0"/>
          </a:xfrm>
          <a:prstGeom xmlns:a="http://schemas.openxmlformats.org/drawingml/2006/main" prst="line">
            <a:avLst/>
          </a:prstGeom>
          <a:noFill xmlns:a="http://schemas.openxmlformats.org/drawingml/2006/main"/>
          <a:ln xmlns:a="http://schemas.openxmlformats.org/drawingml/2006/main" w="9525">
            <a:solidFill>
              <a:srgbClr val="CAD3CF"/>
            </a:solidFill>
          </a:ln>
        </p:spPr>
      </p:sp>
      <p:sp>
        <p:nvSpPr>
          <p:cNvPr id="8" name="">
            <a:extLst xmlns:a="http://schemas.openxmlformats.org/drawingml/2006/main">
              <a:ext uri="{FF2B5EF4-FFF2-40B4-BE49-F238E27FC236}">
                <a16:creationId xmlns:a16="http://schemas.microsoft.com/office/drawing/2014/main" id="{C019257A-71A1-4AF8-AA61-6D1C52668941}"/>
              </a:ext>
            </a:extLst>
          </p:cNvPr>
          <p:cNvSpPr>
            <a:spLocks xmlns:a="http://schemas.openxmlformats.org/drawingml/2006/main" noGrp="1"/>
          </p:cNvSpPr>
          <p:nvPr/>
        </p:nvSpPr>
        <p:spPr>
          <a:xfrm xmlns:a="http://schemas.openxmlformats.org/drawingml/2006/main">
            <a:off x="609600" y="455295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247A64"/>
                </a:solidFill>
                <a:latin typeface="Helvetica Neue"/>
                <a:ea typeface="Helvetica Neue"/>
                <a:cs typeface="Helvetica Neue"/>
              </a:defRPr>
            </a:pPr>
            <a:r>
              <a:rPr sz="2100" b="1">
                <a:solidFill>
                  <a:srgbClr val="247A64"/>
                </a:solidFill>
                <a:latin typeface="Helvetica Neue"/>
                <a:ea typeface="Helvetica Neue"/>
                <a:cs typeface="Helvetica Neue"/>
              </a:rPr>
              <a:t>Deliverable</a:t>
            </a:r>
          </a:p>
        </p:txBody>
      </p:sp>
      <p:sp>
        <p:nvSpPr>
          <p:cNvPr id="9" name="">
            <a:extLst xmlns:a="http://schemas.openxmlformats.org/drawingml/2006/main">
              <a:ext uri="{FF2B5EF4-FFF2-40B4-BE49-F238E27FC236}">
                <a16:creationId xmlns:a16="http://schemas.microsoft.com/office/drawing/2014/main" id="{902342FC-0069-4332-8AF7-C0A510332481}"/>
              </a:ext>
            </a:extLst>
          </p:cNvPr>
          <p:cNvSpPr>
            <a:spLocks xmlns:a="http://schemas.openxmlformats.org/drawingml/2006/main" noGrp="1"/>
          </p:cNvSpPr>
          <p:nvPr/>
        </p:nvSpPr>
        <p:spPr>
          <a:xfrm xmlns:a="http://schemas.openxmlformats.org/drawingml/2006/main">
            <a:off x="609600" y="5086350"/>
            <a:ext cx="10858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550" b="0">
                <a:solidFill>
                  <a:srgbClr val="162C3D"/>
                </a:solidFill>
                <a:latin typeface="Helvetica Neue"/>
                <a:ea typeface="Helvetica Neue"/>
                <a:cs typeface="Helvetica Neue"/>
              </a:defRPr>
            </a:pPr>
            <a:r>
              <a:rPr sz="2550" b="0">
                <a:solidFill>
                  <a:srgbClr val="162C3D"/>
                </a:solidFill>
                <a:latin typeface="Helvetica Neue"/>
                <a:ea typeface="Helvetica Neue"/>
                <a:cs typeface="Helvetica Neue"/>
              </a:rPr>
              <a:t>An evaluation script, documented dataset procedure</a:t>
            </a:r>
          </a:p>
          <a:p xmlns:a="http://schemas.openxmlformats.org/drawingml/2006/main">
            <a:pPr>
              <a:defRPr sz="2550" b="0">
                <a:solidFill>
                  <a:srgbClr val="162C3D"/>
                </a:solidFill>
                <a:latin typeface="Helvetica Neue"/>
                <a:ea typeface="Helvetica Neue"/>
                <a:cs typeface="Helvetica Neue"/>
              </a:defRPr>
            </a:pPr>
            <a:r>
              <a:rPr sz="2550" b="0">
                <a:solidFill>
                  <a:srgbClr val="162C3D"/>
                </a:solidFill>
                <a:latin typeface="Helvetica Neue"/>
                <a:ea typeface="Helvetica Neue"/>
                <a:cs typeface="Helvetica Neue"/>
              </a:rPr>
              <a:t>and a short report that explains failure cases.</a:t>
            </a:r>
          </a:p>
        </p:txBody>
      </p:sp>
    </p:spTree>
    <p:extLst>
      <p:ext uri="{BB962C8B-B14F-4D97-AF65-F5344CB8AC3E}">
        <p14:creationId xmlns:p14="http://schemas.microsoft.com/office/powerpoint/2010/main" val="1510730034"/>
      </p:ext>
    </p:extLst>
  </p:cSld>
</p:sld>
</file>

<file path=ppt/slides/slide15.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FC853C3-432B-4E44-AD34-B506C411AEC4}"/>
              </a:ext>
            </a:extLst>
          </p:cNvPr>
          <p:cNvSpPr>
            <a:spLocks xmlns:a="http://schemas.openxmlformats.org/drawingml/2006/main" noGrp="1"/>
          </p:cNvSpPr>
          <p:nvPr/>
        </p:nvSpPr>
        <p:spPr>
          <a:xfrm xmlns:a="http://schemas.openxmlformats.org/drawingml/2006/main">
            <a:off x="609600" y="51435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162C3D"/>
                </a:solidFill>
                <a:latin typeface="Helvetica Neue"/>
                <a:ea typeface="Helvetica Neue"/>
                <a:cs typeface="Helvetica Neue"/>
              </a:defRPr>
            </a:pPr>
            <a:r>
              <a:rPr sz="3450" b="1">
                <a:solidFill>
                  <a:srgbClr val="162C3D"/>
                </a:solidFill>
                <a:latin typeface="Helvetica Neue"/>
                <a:ea typeface="Helvetica Neue"/>
                <a:cs typeface="Helvetica Neue"/>
              </a:rPr>
              <a:t>Feedback requested</a:t>
            </a:r>
          </a:p>
        </p:txBody>
      </p:sp>
      <p:sp>
        <p:nvSpPr>
          <p:cNvPr id="2" name="">
            <a:extLst xmlns:a="http://schemas.openxmlformats.org/drawingml/2006/main">
              <a:ext uri="{FF2B5EF4-FFF2-40B4-BE49-F238E27FC236}">
                <a16:creationId xmlns:a16="http://schemas.microsoft.com/office/drawing/2014/main" id="{42821A03-0893-4059-9F2D-1F90C4AEF288}"/>
              </a:ext>
            </a:extLst>
          </p:cNvPr>
          <p:cNvSpPr>
            <a:spLocks xmlns:a="http://schemas.openxmlformats.org/drawingml/2006/main" noGrp="1"/>
          </p:cNvSpPr>
          <p:nvPr/>
        </p:nvSpPr>
        <p:spPr>
          <a:xfrm xmlns:a="http://schemas.openxmlformats.org/drawingml/2006/main">
            <a:off x="111442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53616A"/>
                </a:solidFill>
                <a:latin typeface="Helvetica Neue"/>
                <a:ea typeface="Helvetica Neue"/>
                <a:cs typeface="Helvetica Neue"/>
              </a:defRPr>
            </a:pPr>
            <a:r>
              <a:rPr sz="1200" b="0">
                <a:solidFill>
                  <a:srgbClr val="53616A"/>
                </a:solidFill>
                <a:latin typeface="Helvetica Neue"/>
                <a:ea typeface="Helvetica Neue"/>
                <a:cs typeface="Helvetica Neue"/>
              </a:rPr>
              <a:t>15</a:t>
            </a:r>
          </a:p>
        </p:txBody>
      </p:sp>
      <p:sp>
        <p:nvSpPr>
          <p:cNvPr id="3" name="">
            <a:extLst xmlns:a="http://schemas.openxmlformats.org/drawingml/2006/main">
              <a:ext uri="{FF2B5EF4-FFF2-40B4-BE49-F238E27FC236}">
                <a16:creationId xmlns:a16="http://schemas.microsoft.com/office/drawing/2014/main" id="{326A9BFD-7BB4-4DF8-B7C9-64F33A0C49A3}"/>
              </a:ext>
            </a:extLst>
          </p:cNvPr>
          <p:cNvSpPr>
            <a:spLocks xmlns:a="http://schemas.openxmlformats.org/drawingml/2006/main" noGrp="1"/>
          </p:cNvSpPr>
          <p:nvPr/>
        </p:nvSpPr>
        <p:spPr>
          <a:xfrm xmlns:a="http://schemas.openxmlformats.org/drawingml/2006/main">
            <a:off x="609600" y="1828800"/>
            <a:ext cx="1090612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75" b="1">
                <a:solidFill>
                  <a:srgbClr val="162C3D"/>
                </a:solidFill>
                <a:latin typeface="Helvetica Neue"/>
                <a:ea typeface="Helvetica Neue"/>
                <a:cs typeface="Helvetica Neue"/>
              </a:defRPr>
            </a:pPr>
            <a:r>
              <a:rPr sz="3375" b="1">
                <a:solidFill>
                  <a:srgbClr val="162C3D"/>
                </a:solidFill>
                <a:latin typeface="Helvetica Neue"/>
                <a:ea typeface="Helvetica Neue"/>
                <a:cs typeface="Helvetica Neue"/>
              </a:rPr>
              <a:t>How should I distinguish learning transfer</a:t>
            </a:r>
          </a:p>
          <a:p xmlns:a="http://schemas.openxmlformats.org/drawingml/2006/main">
            <a:pPr>
              <a:defRPr sz="3375" b="1">
                <a:solidFill>
                  <a:srgbClr val="162C3D"/>
                </a:solidFill>
                <a:latin typeface="Helvetica Neue"/>
                <a:ea typeface="Helvetica Neue"/>
                <a:cs typeface="Helvetica Neue"/>
              </a:defRPr>
            </a:pPr>
            <a:r>
              <a:rPr sz="3375" b="1">
                <a:solidFill>
                  <a:srgbClr val="162C3D"/>
                </a:solidFill>
                <a:latin typeface="Helvetica Neue"/>
                <a:ea typeface="Helvetica Neue"/>
                <a:cs typeface="Helvetica Neue"/>
              </a:rPr>
              <a:t>from memorizing familiar phishing cues?</a:t>
            </a:r>
          </a:p>
        </p:txBody>
      </p:sp>
      <p:sp>
        <p:nvSpPr>
          <p:cNvPr id="4" name="">
            <a:extLst xmlns:a="http://schemas.openxmlformats.org/drawingml/2006/main">
              <a:ext uri="{FF2B5EF4-FFF2-40B4-BE49-F238E27FC236}">
                <a16:creationId xmlns:a16="http://schemas.microsoft.com/office/drawing/2014/main" id="{AF58D193-E809-4F11-BDA8-2F4D7ECD60C9}"/>
              </a:ext>
            </a:extLst>
          </p:cNvPr>
          <p:cNvSpPr>
            <a:spLocks xmlns:a="http://schemas.openxmlformats.org/drawingml/2006/main" noGrp="1"/>
          </p:cNvSpPr>
          <p:nvPr/>
        </p:nvSpPr>
        <p:spPr>
          <a:xfrm xmlns:a="http://schemas.openxmlformats.org/drawingml/2006/main">
            <a:off x="609600" y="3552825"/>
            <a:ext cx="1090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700" b="0">
                <a:solidFill>
                  <a:srgbClr val="162C3D"/>
                </a:solidFill>
                <a:latin typeface="Helvetica Neue"/>
                <a:ea typeface="Helvetica Neue"/>
                <a:cs typeface="Helvetica Neue"/>
              </a:defRPr>
            </a:pPr>
            <a:r>
              <a:rPr sz="2700" b="0">
                <a:solidFill>
                  <a:srgbClr val="162C3D"/>
                </a:solidFill>
                <a:latin typeface="Helvetica Neue"/>
                <a:ea typeface="Helvetica Neue"/>
                <a:cs typeface="Helvetica Neue"/>
              </a:rPr>
              <a:t>Which assessment design would make a small pilot credible?</a:t>
            </a:r>
          </a:p>
        </p:txBody>
      </p:sp>
      <p:sp>
        <p:nvSpPr>
          <p:cNvPr id="5" name="">
            <a:extLst xmlns:a="http://schemas.openxmlformats.org/drawingml/2006/main">
              <a:ext uri="{FF2B5EF4-FFF2-40B4-BE49-F238E27FC236}">
                <a16:creationId xmlns:a16="http://schemas.microsoft.com/office/drawing/2014/main" id="{BC0C5B99-70D4-4C9A-9B9F-533AB2D5A558}"/>
              </a:ext>
            </a:extLst>
          </p:cNvPr>
          <p:cNvSpPr>
            <a:spLocks xmlns:a="http://schemas.openxmlformats.org/drawingml/2006/main" noGrp="1"/>
          </p:cNvSpPr>
          <p:nvPr/>
        </p:nvSpPr>
        <p:spPr>
          <a:xfrm xmlns:a="http://schemas.openxmlformats.org/drawingml/2006/main">
            <a:off x="609600" y="4762500"/>
            <a:ext cx="109061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700" b="0">
                <a:solidFill>
                  <a:srgbClr val="162C3D"/>
                </a:solidFill>
                <a:latin typeface="Helvetica Neue"/>
                <a:ea typeface="Helvetica Neue"/>
                <a:cs typeface="Helvetica Neue"/>
              </a:defRPr>
            </a:pPr>
            <a:r>
              <a:rPr sz="2700" b="0">
                <a:solidFill>
                  <a:srgbClr val="162C3D"/>
                </a:solidFill>
                <a:latin typeface="Helvetica Neue"/>
                <a:ea typeface="Helvetica Neue"/>
                <a:cs typeface="Helvetica Neue"/>
              </a:rPr>
              <a:t>Would error analysis or a learning study be the more useful next step?</a:t>
            </a:r>
          </a:p>
        </p:txBody>
      </p:sp>
      <p:sp>
        <p:nvSpPr>
          <p:cNvPr id="6" name="">
            <a:extLst xmlns:a="http://schemas.openxmlformats.org/drawingml/2006/main">
              <a:ext uri="{FF2B5EF4-FFF2-40B4-BE49-F238E27FC236}">
                <a16:creationId xmlns:a16="http://schemas.microsoft.com/office/drawing/2014/main" id="{D399A47E-679D-4777-9F8C-5B9800FA7089}"/>
              </a:ext>
            </a:extLst>
          </p:cNvPr>
          <p:cNvSpPr>
            <a:spLocks xmlns:a="http://schemas.openxmlformats.org/drawingml/2006/main" noGrp="1"/>
          </p:cNvSpPr>
          <p:nvPr/>
        </p:nvSpPr>
        <p:spPr>
          <a:xfrm xmlns:a="http://schemas.openxmlformats.org/drawingml/2006/main">
            <a:off x="609600" y="6067425"/>
            <a:ext cx="1000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247A64"/>
                </a:solidFill>
                <a:latin typeface="Helvetica Neue"/>
                <a:ea typeface="Helvetica Neue"/>
                <a:cs typeface="Helvetica Neue"/>
              </a:defRPr>
            </a:pPr>
            <a:r>
              <a:rPr sz="1650" b="0">
                <a:solidFill>
                  <a:srgbClr val="247A64"/>
                </a:solidFill>
                <a:latin typeface="Helvetica Neue"/>
                <a:ea typeface="Helvetica Neue"/>
                <a:cs typeface="Helvetica Neue"/>
              </a:rPr>
              <a:t>Volkov Artem Aleksandrovich  /  High-school student</a:t>
            </a:r>
          </a:p>
        </p:txBody>
      </p:sp>
    </p:spTree>
    <p:extLst>
      <p:ext uri="{BB962C8B-B14F-4D97-AF65-F5344CB8AC3E}">
        <p14:creationId xmlns:p14="http://schemas.microsoft.com/office/powerpoint/2010/main" val="3894118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2026-09-30T15:43:52.3610000Z</dcterms:created>
  <dcterms:modified xsi:type="dcterms:W3CDTF">2026-09-30T15:43:52.3610000Z</dcterms:modified>
</coreProperties>
</file>