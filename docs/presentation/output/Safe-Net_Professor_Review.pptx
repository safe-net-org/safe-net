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e1f1a90dda47ab" /><Relationship Type="http://schemas.openxmlformats.org/officeDocument/2006/relationships/extended-properties" Target="/docProps/app.xml" Id="Rbd9e6be41bf9452b" /><Relationship Type="http://schemas.openxmlformats.org/officeDocument/2006/relationships/officeDocument" Target="/ppt/presentation.xml" Id="R17a38919cd2445ec" /></Relationships>
</file>

<file path=ppt/presentation.xml><?xml version="1.0" encoding="utf-8"?>
<p:presentation xmlns:p="http://schemas.openxmlformats.org/presentationml/2006/main">
  <p:sldMasterIdLst>
    <p:sldMasterId xmlns:r="http://schemas.openxmlformats.org/officeDocument/2006/relationships" id="2147483648" r:id="R90f8b6c9468a442c"/>
  </p:sldMasterIdLst>
  <p:notesMasterIdLst>
    <p:notesMasterId xmlns:r="http://schemas.openxmlformats.org/officeDocument/2006/relationships" r:id="Ra9f898b3ffc3402d"/>
  </p:notesMasterIdLst>
  <p:sldIdLst>
    <p:sldId xmlns:r="http://schemas.openxmlformats.org/officeDocument/2006/relationships" id="256" r:id="Re7a3a39aa956419b"/>
    <p:sldId xmlns:r="http://schemas.openxmlformats.org/officeDocument/2006/relationships" id="257" r:id="R74a959435757427c"/>
    <p:sldId xmlns:r="http://schemas.openxmlformats.org/officeDocument/2006/relationships" id="258" r:id="R8180ebb84ab44e02"/>
    <p:sldId xmlns:r="http://schemas.openxmlformats.org/officeDocument/2006/relationships" id="259" r:id="Rc86dc2ab067d493e"/>
    <p:sldId xmlns:r="http://schemas.openxmlformats.org/officeDocument/2006/relationships" id="260" r:id="R610ac3bf3e5a4aa2"/>
    <p:sldId xmlns:r="http://schemas.openxmlformats.org/officeDocument/2006/relationships" id="261" r:id="Rb12559f2c19e42bd"/>
    <p:sldId xmlns:r="http://schemas.openxmlformats.org/officeDocument/2006/relationships" id="262" r:id="Ra89eb8ab1d10428a"/>
    <p:sldId xmlns:r="http://schemas.openxmlformats.org/officeDocument/2006/relationships" id="263" r:id="R9f09e0f7ca924596"/>
    <p:sldId xmlns:r="http://schemas.openxmlformats.org/officeDocument/2006/relationships" id="264" r:id="R2d79aab747354806"/>
    <p:sldId xmlns:r="http://schemas.openxmlformats.org/officeDocument/2006/relationships" id="265" r:id="R36067a76bb4c4143"/>
    <p:sldId xmlns:r="http://schemas.openxmlformats.org/officeDocument/2006/relationships" id="266" r:id="R3c68910d5d71493c"/>
    <p:sldId xmlns:r="http://schemas.openxmlformats.org/officeDocument/2006/relationships" id="267" r:id="R9fdeea03a90540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6af575d3b3439f" /><Relationship Type="http://schemas.openxmlformats.org/officeDocument/2006/relationships/slideMaster" Target="/ppt/slideMasters/slideMaster1.xml" Id="R90f8b6c9468a442c" /><Relationship Type="http://schemas.openxmlformats.org/officeDocument/2006/relationships/notesMaster" Target="/ppt/notesMasters/notesMaster1.xml" Id="Ra9f898b3ffc3402d" /><Relationship Type="http://schemas.openxmlformats.org/officeDocument/2006/relationships/presProps" Target="/ppt/presProps.xml" Id="Rbf8d0fd379ef4e52" /><Relationship Type="http://schemas.openxmlformats.org/officeDocument/2006/relationships/tableStyles" Target="/ppt/tableStyles.xml" Id="R7e759b9362ed4fdb" /><Relationship Type="http://schemas.openxmlformats.org/officeDocument/2006/relationships/slide" Target="/ppt/slides/slide1.xml" Id="Re7a3a39aa956419b" /><Relationship Type="http://schemas.openxmlformats.org/officeDocument/2006/relationships/slide" Target="/ppt/slides/slide2.xml" Id="R74a959435757427c" /><Relationship Type="http://schemas.openxmlformats.org/officeDocument/2006/relationships/slide" Target="/ppt/slides/slide3.xml" Id="R8180ebb84ab44e02" /><Relationship Type="http://schemas.openxmlformats.org/officeDocument/2006/relationships/slide" Target="/ppt/slides/slide4.xml" Id="Rc86dc2ab067d493e" /><Relationship Type="http://schemas.openxmlformats.org/officeDocument/2006/relationships/slide" Target="/ppt/slides/slide5.xml" Id="R610ac3bf3e5a4aa2" /><Relationship Type="http://schemas.openxmlformats.org/officeDocument/2006/relationships/slide" Target="/ppt/slides/slide6.xml" Id="Rb12559f2c19e42bd" /><Relationship Type="http://schemas.openxmlformats.org/officeDocument/2006/relationships/slide" Target="/ppt/slides/slide7.xml" Id="Ra89eb8ab1d10428a" /><Relationship Type="http://schemas.openxmlformats.org/officeDocument/2006/relationships/slide" Target="/ppt/slides/slide8.xml" Id="R9f09e0f7ca924596" /><Relationship Type="http://schemas.openxmlformats.org/officeDocument/2006/relationships/slide" Target="/ppt/slides/slide9.xml" Id="R2d79aab747354806" /><Relationship Type="http://schemas.openxmlformats.org/officeDocument/2006/relationships/slide" Target="/ppt/slides/slide10.xml" Id="R36067a76bb4c4143" /><Relationship Type="http://schemas.openxmlformats.org/officeDocument/2006/relationships/slide" Target="/ppt/slides/slide11.xml" Id="R3c68910d5d71493c" /><Relationship Type="http://schemas.openxmlformats.org/officeDocument/2006/relationships/slide" Target="/ppt/slides/slide12.xml" Id="R9fdeea03a90540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53a2cf4dd144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b6000d42f54c1f" /><Relationship Type="http://schemas.openxmlformats.org/officeDocument/2006/relationships/notesMaster" Target="/ppt/notesMasters/notesMaster1.xml" Id="R5725d7dd2cbf46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aa9f04c5c14128" /><Relationship Type="http://schemas.openxmlformats.org/officeDocument/2006/relationships/notesMaster" Target="/ppt/notesMasters/notesMaster1.xml" Id="R06e94c18cbf44d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b41b96c5a64ca7" /><Relationship Type="http://schemas.openxmlformats.org/officeDocument/2006/relationships/notesMaster" Target="/ppt/notesMasters/notesMaster1.xml" Id="R4d5f2d1323ab45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07b8d2a5c34240" /><Relationship Type="http://schemas.openxmlformats.org/officeDocument/2006/relationships/notesMaster" Target="/ppt/notesMasters/notesMaster1.xml" Id="R4b31f719c5fb4b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98dca885574720" /><Relationship Type="http://schemas.openxmlformats.org/officeDocument/2006/relationships/notesMaster" Target="/ppt/notesMasters/notesMaster1.xml" Id="R49c2fefa61ab4c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414a21f4dd44c0" /><Relationship Type="http://schemas.openxmlformats.org/officeDocument/2006/relationships/notesMaster" Target="/ppt/notesMasters/notesMaster1.xml" Id="R26c5d4bd22154e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0b21fc3c0f485b" /><Relationship Type="http://schemas.openxmlformats.org/officeDocument/2006/relationships/notesMaster" Target="/ppt/notesMasters/notesMaster1.xml" Id="R7a313a9b8fb84f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35000a2d6e472d" /><Relationship Type="http://schemas.openxmlformats.org/officeDocument/2006/relationships/notesMaster" Target="/ppt/notesMasters/notesMaster1.xml" Id="R60b746bea8e446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520449cbc64f5d" /><Relationship Type="http://schemas.openxmlformats.org/officeDocument/2006/relationships/notesMaster" Target="/ppt/notesMasters/notesMaster1.xml" Id="R5aa90fda41634c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a36475c9cc4d24" /><Relationship Type="http://schemas.openxmlformats.org/officeDocument/2006/relationships/notesMaster" Target="/ppt/notesMasters/notesMaster1.xml" Id="Rf6580ba90c2447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8bdd009a894512" /><Relationship Type="http://schemas.openxmlformats.org/officeDocument/2006/relationships/notesMaster" Target="/ppt/notesMasters/notesMaster1.xml" Id="R3188d1dcd44249a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a053cd3c9534ce1" /><Relationship Type="http://schemas.openxmlformats.org/officeDocument/2006/relationships/notesMaster" Target="/ppt/notesMasters/notesMaster1.xml" Id="Rd5ba0ce571fd49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Safe-Net is a local engineering prototype. This deck requests methodological feedback. It does not claim a deployed service, independent detection accuracy or a completed study. Presenter: Artem, high-school student. Local source commit 8d1b2dc. Evidence: docs/audits/LOCAL_VERIFICATION_2026-09-30.md. Repository: https://github.com/safe-net-org/Safe-Net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only. No human study or learning-gain measurement has been conducted. Protocol: docs/RESEARCH_PROTOCOL_DRAFT.md.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shows actual components. The learning API persists progress in PostgreSQL. The web scanner and extension import guard-core directly. The optional Python service mirrors the rules and can add a model opinion. It is not a shared binary. Sources: docs/ARCHITECTURE.md; packages/guard-core/src; extension/src; server/src.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 commit 8d1b2dc. Evidence: docs/audits/LOCAL_VERIFICATION_2026-09-30.md. Repository: https://github.com/safe-net-org/Safe-Net The screenshot is a synthetic local learner completing the VPN course, not participant data. The correct answers were known for this engineering acceptance check. The 100% result measures the test flow, not learning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phishing simulator sends selected field/text spans. The API evaluates answers against an answer key excluded from the learner payload. Completion and XP awards persist per user. Sources: server/src/learning/answers/task-answer.evaluator.ts; server/src/learning/services/progress.service.ts; tools/test-http-integration.cjs. Diagram is an illustrative flow, not a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Executed locally on 2026-09-30: scoreUrl(url, analyzeUrl(url)). Input https://micros0ft-alerts.com/login. Output score 88, level danger, signals brand_token_leet and suspicious_word. Sources: packages/guard-core/src/model/score.ts and src/lib/url-analyzer.ts. This synthetic example is not an independently labelled benchmark. Do not visit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extension/src/shared/lib/url-privacy.ts; extension/src/shared/i18n/messages.ts; ml-service/MODEL_CARD.md; packages/guard-core/src/model/blend.ts. Default local rule analysis. Optional model endpoint receives scheme, host, port, path and query names; removes credentials, query values and fragment. Host and path can still be sensitive. Upstream checkpoint is ealvaradob/bert-finetuned-phishing pinned to fa8fb73a007174c410ab7160d4e4c6e6b8d998d4. No claim that Artem trained BERT.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source commit 8d1b2dc. Evidence: docs/audits/LOCAL_VERIFICATION_2026-09-30.md. Repository: https://github.com/safe-net-org/Safe-Net Counts are engineering checks, not scientific results. The 30 curated URLs test TypeScript/Python rule parity, not real-world accuracy. All configured local checks passed before these presentation-only files were created.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participants recruited, no human outcome dataset, no independent detector benchmark. Remaining release checks documented in FIX.md and docs/EVIDENCE_AND_LIMITATIONS.md. Local SMTP capture does not prove delivery to an external inbox. Installed Chrome extension behavior and hosted CI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proposal, not approved or conducted research. Source: docs/RESEARCH_PROTOCOL_DRAFT.md. Random assignment and equal duration. Distinct domains and templates across baseline, immediate and delayed item sets. Delayed interval and sample size need justification before collection. Prefer an adult pilot with appropriate review/consent before minors. Freeze exclusions, missingness handling and primary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independent detector experiment, not an existing result. Distinguish detector evaluation from the learner study. Public dataset release depends on licensing, safety and privacy. Do not publish live malicious links or personal information. All future outcome numbers must derive from actual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request for narrow methodological feedback, not a request for a recommendation, endorsement, admissions support or guaranteed supervision. Repo link is source entry point, not a claim that unpublished local fixes are visible on GitHub. Local source commit: 8d1b2dc.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10d794a05c4e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4b631f0d9e464b" /><Relationship Type="http://schemas.openxmlformats.org/officeDocument/2006/relationships/slideLayout" Target="/ppt/slideLayouts/slideLayout1.xml" Id="R1ba34dae5afc49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a34dae5afc49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26d00111ce4ddf" /><Relationship Type="http://schemas.openxmlformats.org/officeDocument/2006/relationships/notesSlide" Target="/ppt/notesSlides/notesSlide1.xml" Id="R274f9acf65ff44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b6d8e74a1245a8" /><Relationship Type="http://schemas.openxmlformats.org/officeDocument/2006/relationships/notesSlide" Target="/ppt/notesSlides/notesSlide2.xml" Id="Rdec3f5f39f724b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5020c5c3c44dad" /><Relationship Type="http://schemas.openxmlformats.org/officeDocument/2006/relationships/notesSlide" Target="/ppt/notesSlides/notesSlide3.xml" Id="Rc5c717bbf3bc4b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a2c998e78f47ea" /><Relationship Type="http://schemas.openxmlformats.org/officeDocument/2006/relationships/image" Target="/ppt/media/image.jpeg" Id="Rbd8d9fb8ef574a7e" /><Relationship Type="http://schemas.openxmlformats.org/officeDocument/2006/relationships/notesSlide" Target="/ppt/notesSlides/notesSlide4.xml" Id="Rdfd1644af4de4a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4d463590632498c" /><Relationship Type="http://schemas.openxmlformats.org/officeDocument/2006/relationships/notesSlide" Target="/ppt/notesSlides/notesSlide5.xml" Id="Rd2e5b2ea4bde4e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ae4cf8389c4fe1" /><Relationship Type="http://schemas.openxmlformats.org/officeDocument/2006/relationships/notesSlide" Target="/ppt/notesSlides/notesSlide6.xml" Id="Rb030f3e2fd7442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9c3a5835fd4f32" /><Relationship Type="http://schemas.openxmlformats.org/officeDocument/2006/relationships/notesSlide" Target="/ppt/notesSlides/notesSlide7.xml" Id="Rcf69002e214f409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34071faea84efd" /><Relationship Type="http://schemas.openxmlformats.org/officeDocument/2006/relationships/notesSlide" Target="/ppt/notesSlides/notesSlide8.xml" Id="R3026648b20be47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c34e4c61804b21" /><Relationship Type="http://schemas.openxmlformats.org/officeDocument/2006/relationships/notesSlide" Target="/ppt/notesSlides/notesSlide9.xml" Id="R8a218cf367d643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b09c15fe374f10" /><Relationship Type="http://schemas.openxmlformats.org/officeDocument/2006/relationships/notesSlide" Target="/ppt/notesSlides/notesSlide10.xml" Id="Rdc9fa9461be34bd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9ae5e1f30a453e" /><Relationship Type="http://schemas.openxmlformats.org/officeDocument/2006/relationships/notesSlide" Target="/ppt/notesSlides/notesSlide11.xml" Id="Rf0020050754c46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3d2e814ee546e6" /><Relationship Type="http://schemas.openxmlformats.org/officeDocument/2006/relationships/notesSlide" Target="/ppt/notesSlides/notesSlide12.xml" Id="R7854804812ab4eeb" /></Relationships>
</file>

<file path=ppt/slides/slide1.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5ACADF-63C0-494E-B99E-E1D7F8754E1F}"/>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7E6C2"/>
                </a:solidFill>
                <a:latin typeface="Helvetica Neue"/>
                <a:ea typeface="Helvetica Neue"/>
                <a:cs typeface="Helvetica Neue"/>
              </a:defRPr>
            </a:pPr>
            <a:r>
              <a:rPr sz="1200" b="0">
                <a:solidFill>
                  <a:srgbClr val="B7E6C2"/>
                </a:solidFill>
                <a:latin typeface="Helvetica Neue"/>
                <a:ea typeface="Helvetica Neue"/>
                <a:cs typeface="Helvetica Neue"/>
              </a:rPr>
              <a:t>01</a:t>
            </a:r>
          </a:p>
        </p:txBody>
      </p:sp>
      <p:sp>
        <p:nvSpPr>
          <p:cNvPr id="2" name="">
            <a:extLst xmlns:a="http://schemas.openxmlformats.org/drawingml/2006/main">
              <a:ext uri="{FF2B5EF4-FFF2-40B4-BE49-F238E27FC236}">
                <a16:creationId xmlns:a16="http://schemas.microsoft.com/office/drawing/2014/main" id="{11B0122A-BE61-4D25-AFC1-4CB626FBDCBC}"/>
              </a:ext>
            </a:extLst>
          </p:cNvPr>
          <p:cNvSpPr>
            <a:spLocks xmlns:a="http://schemas.openxmlformats.org/drawingml/2006/main" noGrp="1"/>
          </p:cNvSpPr>
          <p:nvPr/>
        </p:nvSpPr>
        <p:spPr>
          <a:xfrm xmlns:a="http://schemas.openxmlformats.org/drawingml/2006/main">
            <a:off x="609600" y="1381125"/>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700" b="1">
                <a:solidFill>
                  <a:srgbClr val="FFFFFF"/>
                </a:solidFill>
                <a:latin typeface="Helvetica Neue"/>
                <a:ea typeface="Helvetica Neue"/>
                <a:cs typeface="Helvetica Neue"/>
              </a:defRPr>
            </a:pPr>
            <a:r>
              <a:rPr sz="8700" b="1">
                <a:solidFill>
                  <a:srgbClr val="FFFFFF"/>
                </a:solidFill>
                <a:latin typeface="Helvetica Neue"/>
                <a:ea typeface="Helvetica Neue"/>
                <a:cs typeface="Helvetica Neue"/>
              </a:rPr>
              <a:t>Safe-Net</a:t>
            </a:r>
          </a:p>
        </p:txBody>
      </p:sp>
      <p:sp>
        <p:nvSpPr>
          <p:cNvPr id="3" name="">
            <a:extLst xmlns:a="http://schemas.openxmlformats.org/drawingml/2006/main">
              <a:ext uri="{FF2B5EF4-FFF2-40B4-BE49-F238E27FC236}">
                <a16:creationId xmlns:a16="http://schemas.microsoft.com/office/drawing/2014/main" id="{8E4AFF68-AC22-4B43-9419-3B07A278D996}"/>
              </a:ext>
            </a:extLst>
          </p:cNvPr>
          <p:cNvSpPr>
            <a:spLocks xmlns:a="http://schemas.openxmlformats.org/drawingml/2006/main" noGrp="1"/>
          </p:cNvSpPr>
          <p:nvPr/>
        </p:nvSpPr>
        <p:spPr>
          <a:xfrm xmlns:a="http://schemas.openxmlformats.org/drawingml/2006/main">
            <a:off x="666750" y="306705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0">
                <a:solidFill>
                  <a:srgbClr val="B7E6C2"/>
                </a:solidFill>
                <a:latin typeface="Helvetica Neue"/>
                <a:ea typeface="Helvetica Neue"/>
                <a:cs typeface="Helvetica Neue"/>
              </a:defRPr>
            </a:pPr>
            <a:r>
              <a:rPr sz="3300" b="0">
                <a:solidFill>
                  <a:srgbClr val="B7E6C2"/>
                </a:solidFill>
                <a:latin typeface="Helvetica Neue"/>
                <a:ea typeface="Helvetica Neue"/>
                <a:cs typeface="Helvetica Neue"/>
              </a:rPr>
              <a:t>Cybersecurity learning with</a:t>
            </a:r>
          </a:p>
          <a:p xmlns:a="http://schemas.openxmlformats.org/drawingml/2006/main">
            <a:pPr>
              <a:defRPr sz="3300" b="0">
                <a:solidFill>
                  <a:srgbClr val="B7E6C2"/>
                </a:solidFill>
                <a:latin typeface="Helvetica Neue"/>
                <a:ea typeface="Helvetica Neue"/>
                <a:cs typeface="Helvetica Neue"/>
              </a:defRPr>
            </a:pPr>
            <a:r>
              <a:rPr sz="3300" b="0">
                <a:solidFill>
                  <a:srgbClr val="B7E6C2"/>
                </a:solidFill>
                <a:latin typeface="Helvetica Neue"/>
                <a:ea typeface="Helvetica Neue"/>
                <a:cs typeface="Helvetica Neue"/>
              </a:rPr>
              <a:t>explainable URL warnings</a:t>
            </a:r>
          </a:p>
        </p:txBody>
      </p:sp>
      <p:sp>
        <p:nvSpPr>
          <p:cNvPr id="4" name="">
            <a:extLst xmlns:a="http://schemas.openxmlformats.org/drawingml/2006/main">
              <a:ext uri="{FF2B5EF4-FFF2-40B4-BE49-F238E27FC236}">
                <a16:creationId xmlns:a16="http://schemas.microsoft.com/office/drawing/2014/main" id="{942949CC-53ED-49A8-B781-692B7829C6B2}"/>
              </a:ext>
            </a:extLst>
          </p:cNvPr>
          <p:cNvSpPr>
            <a:spLocks xmlns:a="http://schemas.openxmlformats.org/drawingml/2006/main" noGrp="1"/>
          </p:cNvSpPr>
          <p:nvPr/>
        </p:nvSpPr>
        <p:spPr>
          <a:xfrm xmlns:a="http://schemas.openxmlformats.org/drawingml/2006/main">
            <a:off x="666750" y="54673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Artem  /  Student project  /  September 2026</a:t>
            </a:r>
          </a:p>
        </p:txBody>
      </p:sp>
    </p:spTree>
    <p:extLst>
      <p:ext uri="{BB962C8B-B14F-4D97-AF65-F5344CB8AC3E}">
        <p14:creationId xmlns:p14="http://schemas.microsoft.com/office/powerpoint/2010/main" val="1166676265"/>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BD7E47-CF0C-415B-A2FC-87BFB7474BC5}"/>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The research question</a:t>
            </a:r>
          </a:p>
        </p:txBody>
      </p:sp>
      <p:sp>
        <p:nvSpPr>
          <p:cNvPr id="2" name="">
            <a:extLst xmlns:a="http://schemas.openxmlformats.org/drawingml/2006/main">
              <a:ext uri="{FF2B5EF4-FFF2-40B4-BE49-F238E27FC236}">
                <a16:creationId xmlns:a16="http://schemas.microsoft.com/office/drawing/2014/main" id="{38B09BD8-4383-4C6F-B386-9C09C0236A9A}"/>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D5FB7DF3-7021-4C65-8186-4954C409C5EE}"/>
              </a:ext>
            </a:extLst>
          </p:cNvPr>
          <p:cNvSpPr>
            <a:spLocks xmlns:a="http://schemas.openxmlformats.org/drawingml/2006/main" noGrp="1"/>
          </p:cNvSpPr>
          <p:nvPr/>
        </p:nvSpPr>
        <p:spPr>
          <a:xfrm xmlns:a="http://schemas.openxmlformats.org/drawingml/2006/main">
            <a:off x="609600" y="1724025"/>
            <a:ext cx="108394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4200" b="1">
                <a:solidFill>
                  <a:srgbClr val="162C3D"/>
                </a:solidFill>
                <a:latin typeface="Helvetica Neue"/>
                <a:ea typeface="Helvetica Neue"/>
                <a:cs typeface="Helvetica Neue"/>
              </a:defRPr>
            </a:pPr>
            <a:r>
              <a:rPr sz="4200" b="1">
                <a:solidFill>
                  <a:srgbClr val="162C3D"/>
                </a:solidFill>
                <a:latin typeface="Helvetica Neue"/>
                <a:ea typeface="Helvetica Neue"/>
                <a:cs typeface="Helvetica Neue"/>
              </a:rPr>
              <a:t>Can practice with explanations improve</a:t>
            </a:r>
          </a:p>
          <a:p xmlns:a="http://schemas.openxmlformats.org/drawingml/2006/main">
            <a:pPr>
              <a:defRPr sz="4200" b="1">
                <a:solidFill>
                  <a:srgbClr val="162C3D"/>
                </a:solidFill>
                <a:latin typeface="Helvetica Neue"/>
                <a:ea typeface="Helvetica Neue"/>
                <a:cs typeface="Helvetica Neue"/>
              </a:defRPr>
            </a:pPr>
            <a:r>
              <a:rPr sz="4200" b="1">
                <a:solidFill>
                  <a:srgbClr val="162C3D"/>
                </a:solidFill>
                <a:latin typeface="Helvetica Neue"/>
                <a:ea typeface="Helvetica Neue"/>
                <a:cs typeface="Helvetica Neue"/>
              </a:rPr>
              <a:t>recognition of unfamiliar phishing cues?</a:t>
            </a:r>
          </a:p>
        </p:txBody>
      </p:sp>
      <p:sp>
        <p:nvSpPr>
          <p:cNvPr id="4" name="">
            <a:extLst xmlns:a="http://schemas.openxmlformats.org/drawingml/2006/main">
              <a:ext uri="{FF2B5EF4-FFF2-40B4-BE49-F238E27FC236}">
                <a16:creationId xmlns:a16="http://schemas.microsoft.com/office/drawing/2014/main" id="{A5C1E685-5445-42CB-BD8A-D41A013F4A55}"/>
              </a:ext>
            </a:extLst>
          </p:cNvPr>
          <p:cNvSpPr>
            <a:spLocks xmlns:a="http://schemas.openxmlformats.org/drawingml/2006/main" noGrp="1"/>
          </p:cNvSpPr>
          <p:nvPr/>
        </p:nvSpPr>
        <p:spPr>
          <a:xfrm xmlns:a="http://schemas.openxmlformats.org/drawingml/2006/main">
            <a:off x="609600" y="3886200"/>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5" name="">
            <a:extLst xmlns:a="http://schemas.openxmlformats.org/drawingml/2006/main">
              <a:ext uri="{FF2B5EF4-FFF2-40B4-BE49-F238E27FC236}">
                <a16:creationId xmlns:a16="http://schemas.microsoft.com/office/drawing/2014/main" id="{63EDB3AB-08C9-43B2-A48C-CA925B07A033}"/>
              </a:ext>
            </a:extLst>
          </p:cNvPr>
          <p:cNvSpPr>
            <a:spLocks xmlns:a="http://schemas.openxmlformats.org/drawingml/2006/main" noGrp="1"/>
          </p:cNvSpPr>
          <p:nvPr/>
        </p:nvSpPr>
        <p:spPr>
          <a:xfrm xmlns:a="http://schemas.openxmlformats.org/drawingml/2006/main">
            <a:off x="609600" y="430530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247A64"/>
                </a:solidFill>
                <a:latin typeface="Helvetica Neue"/>
                <a:ea typeface="Helvetica Neue"/>
                <a:cs typeface="Helvetica Neue"/>
              </a:defRPr>
            </a:pPr>
            <a:r>
              <a:rPr sz="1950" b="1">
                <a:solidFill>
                  <a:srgbClr val="247A64"/>
                </a:solidFill>
                <a:latin typeface="Helvetica Neue"/>
                <a:ea typeface="Helvetica Neue"/>
                <a:cs typeface="Helvetica Neue"/>
              </a:rPr>
              <a:t>Proposed comparison</a:t>
            </a:r>
          </a:p>
        </p:txBody>
      </p:sp>
      <p:sp>
        <p:nvSpPr>
          <p:cNvPr id="6" name="">
            <a:extLst xmlns:a="http://schemas.openxmlformats.org/drawingml/2006/main">
              <a:ext uri="{FF2B5EF4-FFF2-40B4-BE49-F238E27FC236}">
                <a16:creationId xmlns:a16="http://schemas.microsoft.com/office/drawing/2014/main" id="{B24EA699-3123-4AEB-B4A3-1B42243FDFF2}"/>
              </a:ext>
            </a:extLst>
          </p:cNvPr>
          <p:cNvSpPr>
            <a:spLocks xmlns:a="http://schemas.openxmlformats.org/drawingml/2006/main" noGrp="1"/>
          </p:cNvSpPr>
          <p:nvPr/>
        </p:nvSpPr>
        <p:spPr>
          <a:xfrm xmlns:a="http://schemas.openxmlformats.org/drawingml/2006/main">
            <a:off x="609600" y="48196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0">
                <a:solidFill>
                  <a:srgbClr val="162C3D"/>
                </a:solidFill>
                <a:latin typeface="Helvetica Neue"/>
                <a:ea typeface="Helvetica Neue"/>
                <a:cs typeface="Helvetica Neue"/>
              </a:defRPr>
            </a:pPr>
            <a:r>
              <a:rPr sz="2325" b="0">
                <a:solidFill>
                  <a:srgbClr val="162C3D"/>
                </a:solidFill>
                <a:latin typeface="Helvetica Neue"/>
                <a:ea typeface="Helvetica Neue"/>
                <a:cs typeface="Helvetica Neue"/>
              </a:rPr>
              <a:t>Interactive practice versus an equal-duration text lesson.</a:t>
            </a:r>
          </a:p>
          <a:p xmlns:a="http://schemas.openxmlformats.org/drawingml/2006/main">
            <a:pPr>
              <a:defRPr sz="2325" b="0">
                <a:solidFill>
                  <a:srgbClr val="162C3D"/>
                </a:solidFill>
                <a:latin typeface="Helvetica Neue"/>
                <a:ea typeface="Helvetica Neue"/>
                <a:cs typeface="Helvetica Neue"/>
              </a:defRPr>
            </a:pPr>
            <a:r>
              <a:rPr sz="2325" b="0">
                <a:solidFill>
                  <a:srgbClr val="162C3D"/>
                </a:solidFill>
                <a:latin typeface="Helvetica Neue"/>
                <a:ea typeface="Helvetica Neue"/>
                <a:cs typeface="Helvetica Neue"/>
              </a:rPr>
              <a:t>Assess new examples immediately and after a delay.</a:t>
            </a:r>
          </a:p>
        </p:txBody>
      </p:sp>
    </p:spTree>
    <p:extLst>
      <p:ext uri="{BB962C8B-B14F-4D97-AF65-F5344CB8AC3E}">
        <p14:creationId xmlns:p14="http://schemas.microsoft.com/office/powerpoint/2010/main" val="1973210004"/>
      </p:ext>
    </p:extLst>
  </p:cSld>
</p:sld>
</file>

<file path=ppt/slides/slide3.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cxnSp>
        <p:nvCxnSpPr>
          <p:cNvPr id="30" name=""/>
          <p:cNvCxnSpPr>
            <a:stCxn xmlns:a="http://schemas.openxmlformats.org/drawingml/2006/main" id="15" idx="2"/>
            <a:endCxn xmlns:a="http://schemas.openxmlformats.org/drawingml/2006/main" id="21" idx="0"/>
          </p:cNvCxnSpPr>
          <p:nvPr/>
        </p:nvCxnSpPr>
        <p:spPr>
          <a:xfrm xmlns:a="http://schemas.openxmlformats.org/drawingml/2006/main" flipH="1">
            <a:off x="9534525" y="5248275"/>
            <a:ext cx="533400" cy="161925"/>
          </a:xfrm>
          <a:prstGeom xmlns:a="http://schemas.openxmlformats.org/drawingml/2006/main" prst="bentConnector4">
            <a:avLst>
              <a:gd name="adj1" fmla="val 0"/>
              <a:gd name="adj2" fmla="val 50000"/>
            </a:avLst>
          </a:prstGeom>
          <a:ln xmlns:a="http://schemas.openxmlformats.org/drawingml/2006/main" w="19050">
            <a:solidFill>
              <a:srgbClr val="247A64"/>
            </a:solidFill>
          </a:ln>
        </p:spPr>
      </p:cxnSp>
      <p:cxnSp>
        <p:nvCxnSpPr>
          <p:cNvPr id="31" name=""/>
          <p:cNvCxnSpPr>
            <a:stCxn xmlns:a="http://schemas.openxmlformats.org/drawingml/2006/main" id="12" idx="2"/>
            <a:endCxn xmlns:a="http://schemas.openxmlformats.org/drawingml/2006/main" id="18" idx="0"/>
          </p:cNvCxnSpPr>
          <p:nvPr/>
        </p:nvCxnSpPr>
        <p:spPr>
          <a:xfrm xmlns:a="http://schemas.openxmlformats.org/drawingml/2006/main">
            <a:off x="2124075" y="5248275"/>
            <a:ext cx="533400" cy="161925"/>
          </a:xfrm>
          <a:prstGeom xmlns:a="http://schemas.openxmlformats.org/drawingml/2006/main" prst="bentConnector4">
            <a:avLst>
              <a:gd name="adj1" fmla="val 0"/>
              <a:gd name="adj2" fmla="val 50000"/>
            </a:avLst>
          </a:prstGeom>
          <a:ln xmlns:a="http://schemas.openxmlformats.org/drawingml/2006/main" w="19050">
            <a:solidFill>
              <a:srgbClr val="247A64"/>
            </a:solidFill>
          </a:ln>
        </p:spPr>
      </p:cxnSp>
      <p:cxnSp>
        <p:nvCxnSpPr>
          <p:cNvPr id="32" name=""/>
          <p:cNvCxnSpPr>
            <a:stCxn xmlns:a="http://schemas.openxmlformats.org/drawingml/2006/main" id="3" idx="3"/>
            <a:endCxn xmlns:a="http://schemas.openxmlformats.org/drawingml/2006/main" id="15" idx="1"/>
          </p:cNvCxnSpPr>
          <p:nvPr/>
        </p:nvCxnSpPr>
        <p:spPr>
          <a:xfrm xmlns:a="http://schemas.openxmlformats.org/drawingml/2006/main">
            <a:off x="7734300" y="3405188"/>
            <a:ext cx="819150" cy="1309688"/>
          </a:xfrm>
          <a:prstGeom xmlns:a="http://schemas.openxmlformats.org/drawingml/2006/main" prst="bentConnector3">
            <a:avLst>
              <a:gd name="adj1" fmla="val 50000"/>
            </a:avLst>
          </a:prstGeom>
          <a:ln xmlns:a="http://schemas.openxmlformats.org/drawingml/2006/main" w="19050">
            <a:solidFill>
              <a:srgbClr val="247A64"/>
            </a:solidFill>
          </a:ln>
        </p:spPr>
      </p:cxnSp>
      <p:cxnSp>
        <p:nvCxnSpPr>
          <p:cNvPr id="33" name=""/>
          <p:cNvCxnSpPr>
            <a:stCxn xmlns:a="http://schemas.openxmlformats.org/drawingml/2006/main" id="12" idx="3"/>
            <a:endCxn xmlns:a="http://schemas.openxmlformats.org/drawingml/2006/main" id="3" idx="1"/>
          </p:cNvCxnSpPr>
          <p:nvPr/>
        </p:nvCxnSpPr>
        <p:spPr>
          <a:xfrm xmlns:a="http://schemas.openxmlformats.org/drawingml/2006/main" flipV="1">
            <a:off x="3638550" y="3405188"/>
            <a:ext cx="819150" cy="1309688"/>
          </a:xfrm>
          <a:prstGeom xmlns:a="http://schemas.openxmlformats.org/drawingml/2006/main" prst="bentConnector3">
            <a:avLst>
              <a:gd name="adj1" fmla="val 50000"/>
            </a:avLst>
          </a:prstGeom>
          <a:ln xmlns:a="http://schemas.openxmlformats.org/drawingml/2006/main" w="19050">
            <a:solidFill>
              <a:srgbClr val="247A64"/>
            </a:solidFill>
          </a:ln>
        </p:spPr>
      </p:cxn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flipV="1">
            <a:off x="7734300" y="2181225"/>
            <a:ext cx="819150" cy="1223963"/>
          </a:xfrm>
          <a:prstGeom xmlns:a="http://schemas.openxmlformats.org/drawingml/2006/main" prst="bentConnector3">
            <a:avLst>
              <a:gd name="adj1" fmla="val 50000"/>
            </a:avLst>
          </a:prstGeom>
          <a:ln xmlns:a="http://schemas.openxmlformats.org/drawingml/2006/main" w="19050">
            <a:solidFill>
              <a:srgbClr val="247A64"/>
            </a:solidFill>
          </a:ln>
        </p:spPr>
      </p:cxnSp>
      <p:cxnSp>
        <p:nvCxnSpPr>
          <p:cNvPr id="35" name=""/>
          <p:cNvCxnSpPr>
            <a:stCxn xmlns:a="http://schemas.openxmlformats.org/drawingml/2006/main" id="6" idx="3"/>
            <a:endCxn xmlns:a="http://schemas.openxmlformats.org/drawingml/2006/main" id="3" idx="1"/>
          </p:cNvCxnSpPr>
          <p:nvPr/>
        </p:nvCxnSpPr>
        <p:spPr>
          <a:xfrm xmlns:a="http://schemas.openxmlformats.org/drawingml/2006/main">
            <a:off x="3638550" y="2181225"/>
            <a:ext cx="819150" cy="1223963"/>
          </a:xfrm>
          <a:prstGeom xmlns:a="http://schemas.openxmlformats.org/drawingml/2006/main" prst="bentConnector3">
            <a:avLst>
              <a:gd name="adj1" fmla="val 50000"/>
            </a:avLst>
          </a:prstGeom>
          <a:ln xmlns:a="http://schemas.openxmlformats.org/drawingml/2006/main" w="19050">
            <a:solidFill>
              <a:srgbClr val="247A64"/>
            </a:solidFill>
          </a:ln>
        </p:spPr>
      </p:cxnSp>
      <p:sp>
        <p:nvSpPr>
          <p:cNvPr id="36" name="">
            <a:extLst xmlns:a="http://schemas.openxmlformats.org/drawingml/2006/main">
              <a:ext uri="{FF2B5EF4-FFF2-40B4-BE49-F238E27FC236}">
                <a16:creationId xmlns:a16="http://schemas.microsoft.com/office/drawing/2014/main" id="{D01803EC-DC5D-493D-86FF-91C31EC9975A}"/>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How the system works</a:t>
            </a:r>
          </a:p>
        </p:txBody>
      </p:sp>
      <p:sp>
        <p:nvSpPr>
          <p:cNvPr id="2" name="">
            <a:extLst xmlns:a="http://schemas.openxmlformats.org/drawingml/2006/main">
              <a:ext uri="{FF2B5EF4-FFF2-40B4-BE49-F238E27FC236}">
                <a16:creationId xmlns:a16="http://schemas.microsoft.com/office/drawing/2014/main" id="{F087FD28-8E8E-475D-8D9C-FC4DC2E4DE26}"/>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9382D2CB-7792-4960-A3F2-DD4F26B8D09C}"/>
              </a:ext>
            </a:extLst>
          </p:cNvPr>
          <p:cNvSpPr>
            <a:spLocks xmlns:a="http://schemas.openxmlformats.org/drawingml/2006/main" noGrp="1"/>
          </p:cNvSpPr>
          <p:nvPr/>
        </p:nvSpPr>
        <p:spPr>
          <a:xfrm xmlns:a="http://schemas.openxmlformats.org/drawingml/2006/main">
            <a:off x="4457700" y="2857500"/>
            <a:ext cx="3276600" cy="109537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4" name="">
            <a:extLst xmlns:a="http://schemas.openxmlformats.org/drawingml/2006/main">
              <a:ext uri="{FF2B5EF4-FFF2-40B4-BE49-F238E27FC236}">
                <a16:creationId xmlns:a16="http://schemas.microsoft.com/office/drawing/2014/main" id="{AEF82705-6BB5-4830-86BE-6AB15C72195E}"/>
              </a:ext>
            </a:extLst>
          </p:cNvPr>
          <p:cNvSpPr>
            <a:spLocks xmlns:a="http://schemas.openxmlformats.org/drawingml/2006/main" noGrp="1"/>
          </p:cNvSpPr>
          <p:nvPr/>
        </p:nvSpPr>
        <p:spPr>
          <a:xfrm xmlns:a="http://schemas.openxmlformats.org/drawingml/2006/main">
            <a:off x="4629150" y="3009900"/>
            <a:ext cx="2933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Safe-Net</a:t>
            </a:r>
          </a:p>
        </p:txBody>
      </p:sp>
      <p:sp>
        <p:nvSpPr>
          <p:cNvPr id="5" name="">
            <a:extLst xmlns:a="http://schemas.openxmlformats.org/drawingml/2006/main">
              <a:ext uri="{FF2B5EF4-FFF2-40B4-BE49-F238E27FC236}">
                <a16:creationId xmlns:a16="http://schemas.microsoft.com/office/drawing/2014/main" id="{86C6F30D-884A-438A-ADC0-4DD3936BE4BC}"/>
              </a:ext>
            </a:extLst>
          </p:cNvPr>
          <p:cNvSpPr>
            <a:spLocks xmlns:a="http://schemas.openxmlformats.org/drawingml/2006/main" noGrp="1"/>
          </p:cNvSpPr>
          <p:nvPr/>
        </p:nvSpPr>
        <p:spPr>
          <a:xfrm xmlns:a="http://schemas.openxmlformats.org/drawingml/2006/main">
            <a:off x="4629150" y="3400425"/>
            <a:ext cx="2933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Learn a cue. Explain a warning.</a:t>
            </a:r>
          </a:p>
        </p:txBody>
      </p:sp>
      <p:sp>
        <p:nvSpPr>
          <p:cNvPr id="6" name="">
            <a:extLst xmlns:a="http://schemas.openxmlformats.org/drawingml/2006/main">
              <a:ext uri="{FF2B5EF4-FFF2-40B4-BE49-F238E27FC236}">
                <a16:creationId xmlns:a16="http://schemas.microsoft.com/office/drawing/2014/main" id="{F00BC6CF-B1DC-4C83-8987-2429DC702C23}"/>
              </a:ext>
            </a:extLst>
          </p:cNvPr>
          <p:cNvSpPr>
            <a:spLocks xmlns:a="http://schemas.openxmlformats.org/drawingml/2006/main" noGrp="1"/>
          </p:cNvSpPr>
          <p:nvPr/>
        </p:nvSpPr>
        <p:spPr>
          <a:xfrm xmlns:a="http://schemas.openxmlformats.org/drawingml/2006/main">
            <a:off x="609600" y="164782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7" name="">
            <a:extLst xmlns:a="http://schemas.openxmlformats.org/drawingml/2006/main">
              <a:ext uri="{FF2B5EF4-FFF2-40B4-BE49-F238E27FC236}">
                <a16:creationId xmlns:a16="http://schemas.microsoft.com/office/drawing/2014/main" id="{44006424-987C-4275-A66C-CE47744BD821}"/>
              </a:ext>
            </a:extLst>
          </p:cNvPr>
          <p:cNvSpPr>
            <a:spLocks xmlns:a="http://schemas.openxmlformats.org/drawingml/2006/main" noGrp="1"/>
          </p:cNvSpPr>
          <p:nvPr/>
        </p:nvSpPr>
        <p:spPr>
          <a:xfrm xmlns:a="http://schemas.openxmlformats.org/drawingml/2006/main">
            <a:off x="781050" y="18002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Learning web app</a:t>
            </a:r>
          </a:p>
        </p:txBody>
      </p:sp>
      <p:sp>
        <p:nvSpPr>
          <p:cNvPr id="8" name="">
            <a:extLst xmlns:a="http://schemas.openxmlformats.org/drawingml/2006/main">
              <a:ext uri="{FF2B5EF4-FFF2-40B4-BE49-F238E27FC236}">
                <a16:creationId xmlns:a16="http://schemas.microsoft.com/office/drawing/2014/main" id="{2A615424-B7B3-4A2A-ABB5-0FF769D54FB0}"/>
              </a:ext>
            </a:extLst>
          </p:cNvPr>
          <p:cNvSpPr>
            <a:spLocks xmlns:a="http://schemas.openxmlformats.org/drawingml/2006/main" noGrp="1"/>
          </p:cNvSpPr>
          <p:nvPr/>
        </p:nvSpPr>
        <p:spPr>
          <a:xfrm xmlns:a="http://schemas.openxmlformats.org/drawingml/2006/main">
            <a:off x="781050" y="219075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EN/RU courses and simulations</a:t>
            </a:r>
          </a:p>
        </p:txBody>
      </p:sp>
      <p:sp>
        <p:nvSpPr>
          <p:cNvPr id="9" name="">
            <a:extLst xmlns:a="http://schemas.openxmlformats.org/drawingml/2006/main">
              <a:ext uri="{FF2B5EF4-FFF2-40B4-BE49-F238E27FC236}">
                <a16:creationId xmlns:a16="http://schemas.microsoft.com/office/drawing/2014/main" id="{65E31CFD-B8CC-42FB-9C77-C732703310A4}"/>
              </a:ext>
            </a:extLst>
          </p:cNvPr>
          <p:cNvSpPr>
            <a:spLocks xmlns:a="http://schemas.openxmlformats.org/drawingml/2006/main" noGrp="1"/>
          </p:cNvSpPr>
          <p:nvPr/>
        </p:nvSpPr>
        <p:spPr>
          <a:xfrm xmlns:a="http://schemas.openxmlformats.org/drawingml/2006/main">
            <a:off x="8553450" y="164782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0" name="">
            <a:extLst xmlns:a="http://schemas.openxmlformats.org/drawingml/2006/main">
              <a:ext uri="{FF2B5EF4-FFF2-40B4-BE49-F238E27FC236}">
                <a16:creationId xmlns:a16="http://schemas.microsoft.com/office/drawing/2014/main" id="{58790B9C-036F-4EBE-8EB0-6316CD6D8B9D}"/>
              </a:ext>
            </a:extLst>
          </p:cNvPr>
          <p:cNvSpPr>
            <a:spLocks xmlns:a="http://schemas.openxmlformats.org/drawingml/2006/main" noGrp="1"/>
          </p:cNvSpPr>
          <p:nvPr/>
        </p:nvSpPr>
        <p:spPr>
          <a:xfrm xmlns:a="http://schemas.openxmlformats.org/drawingml/2006/main">
            <a:off x="8724900" y="180022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Guard extension</a:t>
            </a:r>
          </a:p>
        </p:txBody>
      </p:sp>
      <p:sp>
        <p:nvSpPr>
          <p:cNvPr id="11" name="">
            <a:extLst xmlns:a="http://schemas.openxmlformats.org/drawingml/2006/main">
              <a:ext uri="{FF2B5EF4-FFF2-40B4-BE49-F238E27FC236}">
                <a16:creationId xmlns:a16="http://schemas.microsoft.com/office/drawing/2014/main" id="{3F63C195-0107-4E88-8011-0A30FBBB157D}"/>
              </a:ext>
            </a:extLst>
          </p:cNvPr>
          <p:cNvSpPr>
            <a:spLocks xmlns:a="http://schemas.openxmlformats.org/drawingml/2006/main" noGrp="1"/>
          </p:cNvSpPr>
          <p:nvPr/>
        </p:nvSpPr>
        <p:spPr>
          <a:xfrm xmlns:a="http://schemas.openxmlformats.org/drawingml/2006/main">
            <a:off x="8724900" y="219075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Local URL rules and explanations</a:t>
            </a:r>
          </a:p>
        </p:txBody>
      </p:sp>
      <p:sp>
        <p:nvSpPr>
          <p:cNvPr id="12" name="">
            <a:extLst xmlns:a="http://schemas.openxmlformats.org/drawingml/2006/main">
              <a:ext uri="{FF2B5EF4-FFF2-40B4-BE49-F238E27FC236}">
                <a16:creationId xmlns:a16="http://schemas.microsoft.com/office/drawing/2014/main" id="{1E8A3421-568C-444C-8AEB-F0F63D21A8D2}"/>
              </a:ext>
            </a:extLst>
          </p:cNvPr>
          <p:cNvSpPr>
            <a:spLocks xmlns:a="http://schemas.openxmlformats.org/drawingml/2006/main" noGrp="1"/>
          </p:cNvSpPr>
          <p:nvPr/>
        </p:nvSpPr>
        <p:spPr>
          <a:xfrm xmlns:a="http://schemas.openxmlformats.org/drawingml/2006/main">
            <a:off x="609600" y="418147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3" name="">
            <a:extLst xmlns:a="http://schemas.openxmlformats.org/drawingml/2006/main">
              <a:ext uri="{FF2B5EF4-FFF2-40B4-BE49-F238E27FC236}">
                <a16:creationId xmlns:a16="http://schemas.microsoft.com/office/drawing/2014/main" id="{936B91C6-26DA-40B0-85D1-AE97E01D2BBE}"/>
              </a:ext>
            </a:extLst>
          </p:cNvPr>
          <p:cNvSpPr>
            <a:spLocks xmlns:a="http://schemas.openxmlformats.org/drawingml/2006/main" noGrp="1"/>
          </p:cNvSpPr>
          <p:nvPr/>
        </p:nvSpPr>
        <p:spPr>
          <a:xfrm xmlns:a="http://schemas.openxmlformats.org/drawingml/2006/main">
            <a:off x="781050" y="43338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Learning API</a:t>
            </a:r>
          </a:p>
        </p:txBody>
      </p:sp>
      <p:sp>
        <p:nvSpPr>
          <p:cNvPr id="14" name="">
            <a:extLst xmlns:a="http://schemas.openxmlformats.org/drawingml/2006/main">
              <a:ext uri="{FF2B5EF4-FFF2-40B4-BE49-F238E27FC236}">
                <a16:creationId xmlns:a16="http://schemas.microsoft.com/office/drawing/2014/main" id="{11D03B38-5FF3-4ACA-9508-211F30272395}"/>
              </a:ext>
            </a:extLst>
          </p:cNvPr>
          <p:cNvSpPr>
            <a:spLocks xmlns:a="http://schemas.openxmlformats.org/drawingml/2006/main" noGrp="1"/>
          </p:cNvSpPr>
          <p:nvPr/>
        </p:nvSpPr>
        <p:spPr>
          <a:xfrm xmlns:a="http://schemas.openxmlformats.org/drawingml/2006/main">
            <a:off x="781050" y="472440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Auth and server-side grading</a:t>
            </a:r>
          </a:p>
        </p:txBody>
      </p:sp>
      <p:sp>
        <p:nvSpPr>
          <p:cNvPr id="15" name="">
            <a:extLst xmlns:a="http://schemas.openxmlformats.org/drawingml/2006/main">
              <a:ext uri="{FF2B5EF4-FFF2-40B4-BE49-F238E27FC236}">
                <a16:creationId xmlns:a16="http://schemas.microsoft.com/office/drawing/2014/main" id="{3404ABC3-067E-42CF-BC9F-A2F57B42C221}"/>
              </a:ext>
            </a:extLst>
          </p:cNvPr>
          <p:cNvSpPr>
            <a:spLocks xmlns:a="http://schemas.openxmlformats.org/drawingml/2006/main" noGrp="1"/>
          </p:cNvSpPr>
          <p:nvPr/>
        </p:nvSpPr>
        <p:spPr>
          <a:xfrm xmlns:a="http://schemas.openxmlformats.org/drawingml/2006/main">
            <a:off x="8553450" y="4181475"/>
            <a:ext cx="3028950"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6" name="">
            <a:extLst xmlns:a="http://schemas.openxmlformats.org/drawingml/2006/main">
              <a:ext uri="{FF2B5EF4-FFF2-40B4-BE49-F238E27FC236}">
                <a16:creationId xmlns:a16="http://schemas.microsoft.com/office/drawing/2014/main" id="{FDE0A54A-D88D-419A-8BA7-B9F054A1F659}"/>
              </a:ext>
            </a:extLst>
          </p:cNvPr>
          <p:cNvSpPr>
            <a:spLocks xmlns:a="http://schemas.openxmlformats.org/drawingml/2006/main" noGrp="1"/>
          </p:cNvSpPr>
          <p:nvPr/>
        </p:nvSpPr>
        <p:spPr>
          <a:xfrm xmlns:a="http://schemas.openxmlformats.org/drawingml/2006/main">
            <a:off x="8724900" y="4333875"/>
            <a:ext cx="2686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Shared rule engine</a:t>
            </a:r>
          </a:p>
        </p:txBody>
      </p:sp>
      <p:sp>
        <p:nvSpPr>
          <p:cNvPr id="17" name="">
            <a:extLst xmlns:a="http://schemas.openxmlformats.org/drawingml/2006/main">
              <a:ext uri="{FF2B5EF4-FFF2-40B4-BE49-F238E27FC236}">
                <a16:creationId xmlns:a16="http://schemas.microsoft.com/office/drawing/2014/main" id="{D566BEA1-C533-41FB-8339-1C8A543B754C}"/>
              </a:ext>
            </a:extLst>
          </p:cNvPr>
          <p:cNvSpPr>
            <a:spLocks xmlns:a="http://schemas.openxmlformats.org/drawingml/2006/main" noGrp="1"/>
          </p:cNvSpPr>
          <p:nvPr/>
        </p:nvSpPr>
        <p:spPr>
          <a:xfrm xmlns:a="http://schemas.openxmlformats.org/drawingml/2006/main">
            <a:off x="8724900" y="4724400"/>
            <a:ext cx="2686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Web scanner and extension</a:t>
            </a:r>
          </a:p>
        </p:txBody>
      </p:sp>
      <p:sp>
        <p:nvSpPr>
          <p:cNvPr id="18" name="">
            <a:extLst xmlns:a="http://schemas.openxmlformats.org/drawingml/2006/main">
              <a:ext uri="{FF2B5EF4-FFF2-40B4-BE49-F238E27FC236}">
                <a16:creationId xmlns:a16="http://schemas.microsoft.com/office/drawing/2014/main" id="{0E2121DC-1EC0-49B8-886A-3198A3C36010}"/>
              </a:ext>
            </a:extLst>
          </p:cNvPr>
          <p:cNvSpPr>
            <a:spLocks xmlns:a="http://schemas.openxmlformats.org/drawingml/2006/main" noGrp="1"/>
          </p:cNvSpPr>
          <p:nvPr/>
        </p:nvSpPr>
        <p:spPr>
          <a:xfrm xmlns:a="http://schemas.openxmlformats.org/drawingml/2006/main">
            <a:off x="609600" y="5410200"/>
            <a:ext cx="4095750" cy="809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9" name="">
            <a:extLst xmlns:a="http://schemas.openxmlformats.org/drawingml/2006/main">
              <a:ext uri="{FF2B5EF4-FFF2-40B4-BE49-F238E27FC236}">
                <a16:creationId xmlns:a16="http://schemas.microsoft.com/office/drawing/2014/main" id="{6EC629E3-3150-43DE-BEC2-5A4A235464C5}"/>
              </a:ext>
            </a:extLst>
          </p:cNvPr>
          <p:cNvSpPr>
            <a:spLocks xmlns:a="http://schemas.openxmlformats.org/drawingml/2006/main" noGrp="1"/>
          </p:cNvSpPr>
          <p:nvPr/>
        </p:nvSpPr>
        <p:spPr>
          <a:xfrm xmlns:a="http://schemas.openxmlformats.org/drawingml/2006/main">
            <a:off x="781050" y="5562600"/>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PostgreSQL</a:t>
            </a:r>
          </a:p>
        </p:txBody>
      </p:sp>
      <p:sp>
        <p:nvSpPr>
          <p:cNvPr id="20" name="">
            <a:extLst xmlns:a="http://schemas.openxmlformats.org/drawingml/2006/main">
              <a:ext uri="{FF2B5EF4-FFF2-40B4-BE49-F238E27FC236}">
                <a16:creationId xmlns:a16="http://schemas.microsoft.com/office/drawing/2014/main" id="{D2E8338C-1569-4207-9BB2-44C9650FCF8A}"/>
              </a:ext>
            </a:extLst>
          </p:cNvPr>
          <p:cNvSpPr>
            <a:spLocks xmlns:a="http://schemas.openxmlformats.org/drawingml/2006/main" noGrp="1"/>
          </p:cNvSpPr>
          <p:nvPr/>
        </p:nvSpPr>
        <p:spPr>
          <a:xfrm xmlns:a="http://schemas.openxmlformats.org/drawingml/2006/main">
            <a:off x="781050" y="5953125"/>
            <a:ext cx="375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Per-user progress and certificates</a:t>
            </a:r>
          </a:p>
        </p:txBody>
      </p:sp>
      <p:sp>
        <p:nvSpPr>
          <p:cNvPr id="21" name="">
            <a:extLst xmlns:a="http://schemas.openxmlformats.org/drawingml/2006/main">
              <a:ext uri="{FF2B5EF4-FFF2-40B4-BE49-F238E27FC236}">
                <a16:creationId xmlns:a16="http://schemas.microsoft.com/office/drawing/2014/main" id="{C977BE8A-13DA-445D-87F8-CDB2078D32D7}"/>
              </a:ext>
            </a:extLst>
          </p:cNvPr>
          <p:cNvSpPr>
            <a:spLocks xmlns:a="http://schemas.openxmlformats.org/drawingml/2006/main" noGrp="1"/>
          </p:cNvSpPr>
          <p:nvPr/>
        </p:nvSpPr>
        <p:spPr>
          <a:xfrm xmlns:a="http://schemas.openxmlformats.org/drawingml/2006/main">
            <a:off x="7486650" y="5410200"/>
            <a:ext cx="4095750" cy="809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22" name="">
            <a:extLst xmlns:a="http://schemas.openxmlformats.org/drawingml/2006/main">
              <a:ext uri="{FF2B5EF4-FFF2-40B4-BE49-F238E27FC236}">
                <a16:creationId xmlns:a16="http://schemas.microsoft.com/office/drawing/2014/main" id="{DAAC58B8-157A-498F-8372-20169DCF0EBF}"/>
              </a:ext>
            </a:extLst>
          </p:cNvPr>
          <p:cNvSpPr>
            <a:spLocks xmlns:a="http://schemas.openxmlformats.org/drawingml/2006/main" noGrp="1"/>
          </p:cNvSpPr>
          <p:nvPr/>
        </p:nvSpPr>
        <p:spPr>
          <a:xfrm xmlns:a="http://schemas.openxmlformats.org/drawingml/2006/main">
            <a:off x="7658100" y="5562600"/>
            <a:ext cx="3752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Optional ML service</a:t>
            </a:r>
          </a:p>
        </p:txBody>
      </p:sp>
      <p:sp>
        <p:nvSpPr>
          <p:cNvPr id="23" name="">
            <a:extLst xmlns:a="http://schemas.openxmlformats.org/drawingml/2006/main">
              <a:ext uri="{FF2B5EF4-FFF2-40B4-BE49-F238E27FC236}">
                <a16:creationId xmlns:a16="http://schemas.microsoft.com/office/drawing/2014/main" id="{8CBCE30A-81C2-4A06-81F6-F7B9B44AA03E}"/>
              </a:ext>
            </a:extLst>
          </p:cNvPr>
          <p:cNvSpPr>
            <a:spLocks xmlns:a="http://schemas.openxmlformats.org/drawingml/2006/main" noGrp="1"/>
          </p:cNvSpPr>
          <p:nvPr/>
        </p:nvSpPr>
        <p:spPr>
          <a:xfrm xmlns:a="http://schemas.openxmlformats.org/drawingml/2006/main">
            <a:off x="7658100" y="5953125"/>
            <a:ext cx="3752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Sanitized URL, opt-in model opinion</a:t>
            </a:r>
          </a:p>
        </p:txBody>
      </p:sp>
    </p:spTree>
    <p:extLst>
      <p:ext uri="{BB962C8B-B14F-4D97-AF65-F5344CB8AC3E}">
        <p14:creationId xmlns:p14="http://schemas.microsoft.com/office/powerpoint/2010/main" val="1862214844"/>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A6068E-E136-4E1F-9F8B-01BE8BFF4D67}"/>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The learning experience</a:t>
            </a:r>
          </a:p>
        </p:txBody>
      </p:sp>
      <p:sp>
        <p:nvSpPr>
          <p:cNvPr id="2" name="">
            <a:extLst xmlns:a="http://schemas.openxmlformats.org/drawingml/2006/main">
              <a:ext uri="{FF2B5EF4-FFF2-40B4-BE49-F238E27FC236}">
                <a16:creationId xmlns:a16="http://schemas.microsoft.com/office/drawing/2014/main" id="{A05D3C19-9C35-4E81-A1D3-ED1D0880D0DE}"/>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d8d9fb8ef574a7e"/>
          <a:stretch xmlns:a="http://schemas.openxmlformats.org/drawingml/2006/main"/>
        </p:blipFill>
        <p:spPr>
          <a:xfrm xmlns:a="http://schemas.openxmlformats.org/drawingml/2006/main">
            <a:off x="5238750" y="1686520"/>
            <a:ext cx="6353175" cy="397073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FAB93E-B59A-4B47-A11F-F49F1810F71F}"/>
              </a:ext>
            </a:extLst>
          </p:cNvPr>
          <p:cNvSpPr>
            <a:spLocks xmlns:a="http://schemas.openxmlformats.org/drawingml/2006/main" noGrp="1"/>
          </p:cNvSpPr>
          <p:nvPr/>
        </p:nvSpPr>
        <p:spPr>
          <a:xfrm xmlns:a="http://schemas.openxmlformats.org/drawingml/2006/main">
            <a:off x="609600" y="169545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21 courses</a:t>
            </a:r>
          </a:p>
        </p:txBody>
      </p:sp>
      <p:sp>
        <p:nvSpPr>
          <p:cNvPr id="5" name="">
            <a:extLst xmlns:a="http://schemas.openxmlformats.org/drawingml/2006/main">
              <a:ext uri="{FF2B5EF4-FFF2-40B4-BE49-F238E27FC236}">
                <a16:creationId xmlns:a16="http://schemas.microsoft.com/office/drawing/2014/main" id="{F3A80BE2-6002-4C78-8963-B5AC7828ACC1}"/>
              </a:ext>
            </a:extLst>
          </p:cNvPr>
          <p:cNvSpPr>
            <a:spLocks xmlns:a="http://schemas.openxmlformats.org/drawingml/2006/main" noGrp="1"/>
          </p:cNvSpPr>
          <p:nvPr/>
        </p:nvSpPr>
        <p:spPr>
          <a:xfrm xmlns:a="http://schemas.openxmlformats.org/drawingml/2006/main">
            <a:off x="609600" y="2190750"/>
            <a:ext cx="3905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27 lessons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163 tasks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21 final tests</a:t>
            </a:r>
          </a:p>
        </p:txBody>
      </p:sp>
      <p:sp>
        <p:nvSpPr>
          <p:cNvPr id="6" name="">
            <a:extLst xmlns:a="http://schemas.openxmlformats.org/drawingml/2006/main">
              <a:ext uri="{FF2B5EF4-FFF2-40B4-BE49-F238E27FC236}">
                <a16:creationId xmlns:a16="http://schemas.microsoft.com/office/drawing/2014/main" id="{30DB3566-49D4-4BC0-A141-22AD1513E492}"/>
              </a:ext>
            </a:extLst>
          </p:cNvPr>
          <p:cNvSpPr>
            <a:spLocks xmlns:a="http://schemas.openxmlformats.org/drawingml/2006/main" noGrp="1"/>
          </p:cNvSpPr>
          <p:nvPr/>
        </p:nvSpPr>
        <p:spPr>
          <a:xfrm xmlns:a="http://schemas.openxmlformats.org/drawingml/2006/main">
            <a:off x="609600" y="41624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247A64"/>
                </a:solidFill>
                <a:latin typeface="Helvetica Neue"/>
                <a:ea typeface="Helvetica Neue"/>
                <a:cs typeface="Helvetica Neue"/>
              </a:defRPr>
            </a:pPr>
            <a:r>
              <a:rPr sz="1950" b="1">
                <a:solidFill>
                  <a:srgbClr val="247A64"/>
                </a:solidFill>
                <a:latin typeface="Helvetica Neue"/>
                <a:ea typeface="Helvetica Neue"/>
                <a:cs typeface="Helvetica Neue"/>
              </a:rPr>
              <a:t>Verified local journey</a:t>
            </a:r>
          </a:p>
        </p:txBody>
      </p:sp>
      <p:sp>
        <p:nvSpPr>
          <p:cNvPr id="7" name="">
            <a:extLst xmlns:a="http://schemas.openxmlformats.org/drawingml/2006/main">
              <a:ext uri="{FF2B5EF4-FFF2-40B4-BE49-F238E27FC236}">
                <a16:creationId xmlns:a16="http://schemas.microsoft.com/office/drawing/2014/main" id="{72088B5C-F4FB-47DB-AA00-599D4834DD48}"/>
              </a:ext>
            </a:extLst>
          </p:cNvPr>
          <p:cNvSpPr>
            <a:spLocks xmlns:a="http://schemas.openxmlformats.org/drawingml/2006/main" noGrp="1"/>
          </p:cNvSpPr>
          <p:nvPr/>
        </p:nvSpPr>
        <p:spPr>
          <a:xfrm xmlns:a="http://schemas.openxmlformats.org/drawingml/2006/main">
            <a:off x="609600" y="4657725"/>
            <a:ext cx="4095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162C3D"/>
                </a:solidFill>
                <a:latin typeface="Helvetica Neue"/>
                <a:ea typeface="Helvetica Neue"/>
                <a:cs typeface="Helvetica Neue"/>
              </a:defRPr>
            </a:pPr>
            <a:r>
              <a:rPr sz="2250" b="0">
                <a:solidFill>
                  <a:srgbClr val="162C3D"/>
                </a:solidFill>
                <a:latin typeface="Helvetica Neue"/>
                <a:ea typeface="Helvetica Neue"/>
                <a:cs typeface="Helvetica Neue"/>
              </a:rPr>
              <a:t>6 tasks completed</a:t>
            </a:r>
          </a:p>
          <a:p xmlns:a="http://schemas.openxmlformats.org/drawingml/2006/main">
            <a:pPr>
              <a:defRPr sz="2250" b="0">
                <a:solidFill>
                  <a:srgbClr val="162C3D"/>
                </a:solidFill>
                <a:latin typeface="Helvetica Neue"/>
                <a:ea typeface="Helvetica Neue"/>
                <a:cs typeface="Helvetica Neue"/>
              </a:defRPr>
            </a:pPr>
            <a:r>
              <a:rPr sz="2250" b="0">
                <a:solidFill>
                  <a:srgbClr val="162C3D"/>
                </a:solidFill>
                <a:latin typeface="Helvetica Neue"/>
                <a:ea typeface="Helvetica Neue"/>
                <a:cs typeface="Helvetica Neue"/>
              </a:rPr>
              <a:t>8 test answers graded</a:t>
            </a:r>
          </a:p>
          <a:p xmlns:a="http://schemas.openxmlformats.org/drawingml/2006/main">
            <a:pPr>
              <a:defRPr sz="2250" b="0">
                <a:solidFill>
                  <a:srgbClr val="162C3D"/>
                </a:solidFill>
                <a:latin typeface="Helvetica Neue"/>
                <a:ea typeface="Helvetica Neue"/>
                <a:cs typeface="Helvetica Neue"/>
              </a:defRPr>
            </a:pPr>
            <a:r>
              <a:rPr sz="2250" b="0">
                <a:solidFill>
                  <a:srgbClr val="162C3D"/>
                </a:solidFill>
                <a:latin typeface="Helvetica Neue"/>
                <a:ea typeface="Helvetica Neue"/>
                <a:cs typeface="Helvetica Neue"/>
              </a:rPr>
              <a:t>1 certificate issued</a:t>
            </a:r>
          </a:p>
        </p:txBody>
      </p:sp>
    </p:spTree>
    <p:extLst>
      <p:ext uri="{BB962C8B-B14F-4D97-AF65-F5344CB8AC3E}">
        <p14:creationId xmlns:p14="http://schemas.microsoft.com/office/powerpoint/2010/main" val="421572356"/>
      </p:ext>
    </p:extLst>
  </p:cSld>
</p:sld>
</file>

<file path=ppt/slides/slide5.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cxnSp>
        <p:nvCxnSpPr>
          <p:cNvPr id="16" name=""/>
          <p:cNvCxnSpPr>
            <a:stCxn xmlns:a="http://schemas.openxmlformats.org/drawingml/2006/main" id="6" idx="3"/>
            <a:endCxn xmlns:a="http://schemas.openxmlformats.org/drawingml/2006/main" id="9" idx="1"/>
          </p:cNvCxnSpPr>
          <p:nvPr/>
        </p:nvCxnSpPr>
        <p:spPr>
          <a:xfrm xmlns:a="http://schemas.openxmlformats.org/drawingml/2006/main">
            <a:off x="7658100" y="2690813"/>
            <a:ext cx="762000" cy="0"/>
          </a:xfrm>
          <a:prstGeom xmlns:a="http://schemas.openxmlformats.org/drawingml/2006/main" prst="straightConnector1">
            <a:avLst/>
          </a:prstGeom>
          <a:ln xmlns:a="http://schemas.openxmlformats.org/drawingml/2006/main" w="19050">
            <a:solidFill>
              <a:srgbClr val="247A64"/>
            </a:solidFill>
          </a:ln>
        </p:spPr>
      </p:cxnSp>
      <p:cxnSp>
        <p:nvCxnSpPr>
          <p:cNvPr id="17" name=""/>
          <p:cNvCxnSpPr>
            <a:stCxn xmlns:a="http://schemas.openxmlformats.org/drawingml/2006/main" id="3" idx="3"/>
            <a:endCxn xmlns:a="http://schemas.openxmlformats.org/drawingml/2006/main" id="6" idx="1"/>
          </p:cNvCxnSpPr>
          <p:nvPr/>
        </p:nvCxnSpPr>
        <p:spPr>
          <a:xfrm xmlns:a="http://schemas.openxmlformats.org/drawingml/2006/main">
            <a:off x="3752850" y="2690813"/>
            <a:ext cx="762000" cy="0"/>
          </a:xfrm>
          <a:prstGeom xmlns:a="http://schemas.openxmlformats.org/drawingml/2006/main" prst="straightConnector1">
            <a:avLst/>
          </a:prstGeom>
          <a:ln xmlns:a="http://schemas.openxmlformats.org/drawingml/2006/main" w="19050">
            <a:solidFill>
              <a:srgbClr val="247A64"/>
            </a:solidFill>
          </a:ln>
        </p:spPr>
      </p:cxnSp>
      <p:sp>
        <p:nvSpPr>
          <p:cNvPr id="18" name="">
            <a:extLst xmlns:a="http://schemas.openxmlformats.org/drawingml/2006/main">
              <a:ext uri="{FF2B5EF4-FFF2-40B4-BE49-F238E27FC236}">
                <a16:creationId xmlns:a16="http://schemas.microsoft.com/office/drawing/2014/main" id="{0FA615F4-4117-4952-AEF4-A12234C2760B}"/>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Server-side assessment</a:t>
            </a:r>
          </a:p>
        </p:txBody>
      </p:sp>
      <p:sp>
        <p:nvSpPr>
          <p:cNvPr id="2" name="">
            <a:extLst xmlns:a="http://schemas.openxmlformats.org/drawingml/2006/main">
              <a:ext uri="{FF2B5EF4-FFF2-40B4-BE49-F238E27FC236}">
                <a16:creationId xmlns:a16="http://schemas.microsoft.com/office/drawing/2014/main" id="{7D30EA44-1D24-4280-8A55-28B996F0687E}"/>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4CF32FFA-A343-4CC2-8E72-CE6774E8F63E}"/>
              </a:ext>
            </a:extLst>
          </p:cNvPr>
          <p:cNvSpPr>
            <a:spLocks xmlns:a="http://schemas.openxmlformats.org/drawingml/2006/main" noGrp="1"/>
          </p:cNvSpPr>
          <p:nvPr/>
        </p:nvSpPr>
        <p:spPr>
          <a:xfrm xmlns:a="http://schemas.openxmlformats.org/drawingml/2006/main">
            <a:off x="609600" y="2095500"/>
            <a:ext cx="3143250" cy="1190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4" name="">
            <a:extLst xmlns:a="http://schemas.openxmlformats.org/drawingml/2006/main">
              <a:ext uri="{FF2B5EF4-FFF2-40B4-BE49-F238E27FC236}">
                <a16:creationId xmlns:a16="http://schemas.microsoft.com/office/drawing/2014/main" id="{E935239A-0542-4499-A712-9EEA6A2949D1}"/>
              </a:ext>
            </a:extLst>
          </p:cNvPr>
          <p:cNvSpPr>
            <a:spLocks xmlns:a="http://schemas.openxmlformats.org/drawingml/2006/main" noGrp="1"/>
          </p:cNvSpPr>
          <p:nvPr/>
        </p:nvSpPr>
        <p:spPr>
          <a:xfrm xmlns:a="http://schemas.openxmlformats.org/drawingml/2006/main">
            <a:off x="781050" y="22479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Learner selection</a:t>
            </a:r>
          </a:p>
        </p:txBody>
      </p:sp>
      <p:sp>
        <p:nvSpPr>
          <p:cNvPr id="5" name="">
            <a:extLst xmlns:a="http://schemas.openxmlformats.org/drawingml/2006/main">
              <a:ext uri="{FF2B5EF4-FFF2-40B4-BE49-F238E27FC236}">
                <a16:creationId xmlns:a16="http://schemas.microsoft.com/office/drawing/2014/main" id="{C3D938EE-9598-4670-9686-89E8869340CD}"/>
              </a:ext>
            </a:extLst>
          </p:cNvPr>
          <p:cNvSpPr>
            <a:spLocks xmlns:a="http://schemas.openxmlformats.org/drawingml/2006/main" noGrp="1"/>
          </p:cNvSpPr>
          <p:nvPr/>
        </p:nvSpPr>
        <p:spPr>
          <a:xfrm xmlns:a="http://schemas.openxmlformats.org/drawingml/2006/main">
            <a:off x="781050" y="2638425"/>
            <a:ext cx="2800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Red flags in a safe simulation</a:t>
            </a:r>
          </a:p>
        </p:txBody>
      </p:sp>
      <p:sp>
        <p:nvSpPr>
          <p:cNvPr id="6" name="">
            <a:extLst xmlns:a="http://schemas.openxmlformats.org/drawingml/2006/main">
              <a:ext uri="{FF2B5EF4-FFF2-40B4-BE49-F238E27FC236}">
                <a16:creationId xmlns:a16="http://schemas.microsoft.com/office/drawing/2014/main" id="{C890C029-5625-442D-9D79-44ECFED20213}"/>
              </a:ext>
            </a:extLst>
          </p:cNvPr>
          <p:cNvSpPr>
            <a:spLocks xmlns:a="http://schemas.openxmlformats.org/drawingml/2006/main" noGrp="1"/>
          </p:cNvSpPr>
          <p:nvPr/>
        </p:nvSpPr>
        <p:spPr>
          <a:xfrm xmlns:a="http://schemas.openxmlformats.org/drawingml/2006/main">
            <a:off x="4514850" y="2095500"/>
            <a:ext cx="3143250" cy="1190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7" name="">
            <a:extLst xmlns:a="http://schemas.openxmlformats.org/drawingml/2006/main">
              <a:ext uri="{FF2B5EF4-FFF2-40B4-BE49-F238E27FC236}">
                <a16:creationId xmlns:a16="http://schemas.microsoft.com/office/drawing/2014/main" id="{73B9A04C-E7FF-453E-836B-FAD81A0DB9A0}"/>
              </a:ext>
            </a:extLst>
          </p:cNvPr>
          <p:cNvSpPr>
            <a:spLocks xmlns:a="http://schemas.openxmlformats.org/drawingml/2006/main" noGrp="1"/>
          </p:cNvSpPr>
          <p:nvPr/>
        </p:nvSpPr>
        <p:spPr>
          <a:xfrm xmlns:a="http://schemas.openxmlformats.org/drawingml/2006/main">
            <a:off x="4686300" y="22479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API evaluation</a:t>
            </a:r>
          </a:p>
        </p:txBody>
      </p:sp>
      <p:sp>
        <p:nvSpPr>
          <p:cNvPr id="8" name="">
            <a:extLst xmlns:a="http://schemas.openxmlformats.org/drawingml/2006/main">
              <a:ext uri="{FF2B5EF4-FFF2-40B4-BE49-F238E27FC236}">
                <a16:creationId xmlns:a16="http://schemas.microsoft.com/office/drawing/2014/main" id="{17CEB84D-85F9-4FCB-80C7-55D26BE2B711}"/>
              </a:ext>
            </a:extLst>
          </p:cNvPr>
          <p:cNvSpPr>
            <a:spLocks xmlns:a="http://schemas.openxmlformats.org/drawingml/2006/main" noGrp="1"/>
          </p:cNvSpPr>
          <p:nvPr/>
        </p:nvSpPr>
        <p:spPr>
          <a:xfrm xmlns:a="http://schemas.openxmlformats.org/drawingml/2006/main">
            <a:off x="4686300" y="2638425"/>
            <a:ext cx="2800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Protected answer key</a:t>
            </a:r>
          </a:p>
        </p:txBody>
      </p:sp>
      <p:sp>
        <p:nvSpPr>
          <p:cNvPr id="9" name="">
            <a:extLst xmlns:a="http://schemas.openxmlformats.org/drawingml/2006/main">
              <a:ext uri="{FF2B5EF4-FFF2-40B4-BE49-F238E27FC236}">
                <a16:creationId xmlns:a16="http://schemas.microsoft.com/office/drawing/2014/main" id="{63704C94-A85D-422C-857B-507F22D16415}"/>
              </a:ext>
            </a:extLst>
          </p:cNvPr>
          <p:cNvSpPr>
            <a:spLocks xmlns:a="http://schemas.openxmlformats.org/drawingml/2006/main" noGrp="1"/>
          </p:cNvSpPr>
          <p:nvPr/>
        </p:nvSpPr>
        <p:spPr>
          <a:xfrm xmlns:a="http://schemas.openxmlformats.org/drawingml/2006/main">
            <a:off x="8420100" y="2095500"/>
            <a:ext cx="3143250" cy="1190625"/>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0" name="">
            <a:extLst xmlns:a="http://schemas.openxmlformats.org/drawingml/2006/main">
              <a:ext uri="{FF2B5EF4-FFF2-40B4-BE49-F238E27FC236}">
                <a16:creationId xmlns:a16="http://schemas.microsoft.com/office/drawing/2014/main" id="{A7D2B921-BEBC-4CBB-96C7-7697CC3B5CA4}"/>
              </a:ext>
            </a:extLst>
          </p:cNvPr>
          <p:cNvSpPr>
            <a:spLocks xmlns:a="http://schemas.openxmlformats.org/drawingml/2006/main" noGrp="1"/>
          </p:cNvSpPr>
          <p:nvPr/>
        </p:nvSpPr>
        <p:spPr>
          <a:xfrm xmlns:a="http://schemas.openxmlformats.org/drawingml/2006/main">
            <a:off x="8591550" y="2247900"/>
            <a:ext cx="2800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Saved result</a:t>
            </a:r>
          </a:p>
        </p:txBody>
      </p:sp>
      <p:sp>
        <p:nvSpPr>
          <p:cNvPr id="11" name="">
            <a:extLst xmlns:a="http://schemas.openxmlformats.org/drawingml/2006/main">
              <a:ext uri="{FF2B5EF4-FFF2-40B4-BE49-F238E27FC236}">
                <a16:creationId xmlns:a16="http://schemas.microsoft.com/office/drawing/2014/main" id="{EDCAF286-0EFF-482C-8C32-E918484197AB}"/>
              </a:ext>
            </a:extLst>
          </p:cNvPr>
          <p:cNvSpPr>
            <a:spLocks xmlns:a="http://schemas.openxmlformats.org/drawingml/2006/main" noGrp="1"/>
          </p:cNvSpPr>
          <p:nvPr/>
        </p:nvSpPr>
        <p:spPr>
          <a:xfrm xmlns:a="http://schemas.openxmlformats.org/drawingml/2006/main">
            <a:off x="8591550" y="2638425"/>
            <a:ext cx="28003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Progress, XP, feedback</a:t>
            </a:r>
          </a:p>
        </p:txBody>
      </p:sp>
      <p:sp>
        <p:nvSpPr>
          <p:cNvPr id="14" name="">
            <a:extLst xmlns:a="http://schemas.openxmlformats.org/drawingml/2006/main">
              <a:ext uri="{FF2B5EF4-FFF2-40B4-BE49-F238E27FC236}">
                <a16:creationId xmlns:a16="http://schemas.microsoft.com/office/drawing/2014/main" id="{AB1C212F-73C7-4F4A-9479-475F9260D7C1}"/>
              </a:ext>
            </a:extLst>
          </p:cNvPr>
          <p:cNvSpPr>
            <a:spLocks xmlns:a="http://schemas.openxmlformats.org/drawingml/2006/main" noGrp="1"/>
          </p:cNvSpPr>
          <p:nvPr/>
        </p:nvSpPr>
        <p:spPr>
          <a:xfrm xmlns:a="http://schemas.openxmlformats.org/drawingml/2006/main">
            <a:off x="609600" y="4048125"/>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62C3D"/>
                </a:solidFill>
                <a:latin typeface="Helvetica Neue"/>
                <a:ea typeface="Helvetica Neue"/>
                <a:cs typeface="Helvetica Neue"/>
              </a:defRPr>
            </a:pPr>
            <a:r>
              <a:rPr sz="3000" b="1">
                <a:solidFill>
                  <a:srgbClr val="162C3D"/>
                </a:solidFill>
                <a:latin typeface="Helvetica Neue"/>
                <a:ea typeface="Helvetica Neue"/>
                <a:cs typeface="Helvetica Neue"/>
              </a:rPr>
              <a:t>A completed task belongs to the learner account</a:t>
            </a:r>
          </a:p>
        </p:txBody>
      </p:sp>
      <p:sp>
        <p:nvSpPr>
          <p:cNvPr id="15" name="">
            <a:extLst xmlns:a="http://schemas.openxmlformats.org/drawingml/2006/main">
              <a:ext uri="{FF2B5EF4-FFF2-40B4-BE49-F238E27FC236}">
                <a16:creationId xmlns:a16="http://schemas.microsoft.com/office/drawing/2014/main" id="{52124CD3-DD7C-49FC-8D8F-950F728B5A79}"/>
              </a:ext>
            </a:extLst>
          </p:cNvPr>
          <p:cNvSpPr>
            <a:spLocks xmlns:a="http://schemas.openxmlformats.org/drawingml/2006/main" noGrp="1"/>
          </p:cNvSpPr>
          <p:nvPr/>
        </p:nvSpPr>
        <p:spPr>
          <a:xfrm xmlns:a="http://schemas.openxmlformats.org/drawingml/2006/main">
            <a:off x="609600" y="5019675"/>
            <a:ext cx="10953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Database constraints prevent repeated XP and duplicate course certificates.</a:t>
            </a:r>
          </a:p>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A fresh tab reloads progress from the server.</a:t>
            </a:r>
          </a:p>
        </p:txBody>
      </p:sp>
    </p:spTree>
    <p:extLst>
      <p:ext uri="{BB962C8B-B14F-4D97-AF65-F5344CB8AC3E}">
        <p14:creationId xmlns:p14="http://schemas.microsoft.com/office/powerpoint/2010/main" val="2144918031"/>
      </p:ext>
    </p:extLst>
  </p:cSld>
</p:sld>
</file>

<file path=ppt/slides/slide6.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B807F70-BBA6-4913-8026-CCF46A1CC017}"/>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An explainable warning</a:t>
            </a:r>
          </a:p>
        </p:txBody>
      </p:sp>
      <p:sp>
        <p:nvSpPr>
          <p:cNvPr id="2" name="">
            <a:extLst xmlns:a="http://schemas.openxmlformats.org/drawingml/2006/main">
              <a:ext uri="{FF2B5EF4-FFF2-40B4-BE49-F238E27FC236}">
                <a16:creationId xmlns:a16="http://schemas.microsoft.com/office/drawing/2014/main" id="{017FBDA4-766E-4859-AB00-1E997DE6C741}"/>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3BE8A9C5-AFA7-49B6-AB7F-698AD47E3A11}"/>
              </a:ext>
            </a:extLst>
          </p:cNvPr>
          <p:cNvSpPr>
            <a:spLocks xmlns:a="http://schemas.openxmlformats.org/drawingml/2006/main" noGrp="1"/>
          </p:cNvSpPr>
          <p:nvPr/>
        </p:nvSpPr>
        <p:spPr>
          <a:xfrm xmlns:a="http://schemas.openxmlformats.org/drawingml/2006/main">
            <a:off x="609600" y="171450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975" b="1">
                <a:solidFill>
                  <a:srgbClr val="162C3D"/>
                </a:solidFill>
                <a:latin typeface="Helvetica Neue"/>
                <a:ea typeface="Helvetica Neue"/>
                <a:cs typeface="Helvetica Neue"/>
              </a:defRPr>
            </a:pPr>
            <a:r>
              <a:rPr sz="3975" b="1">
                <a:solidFill>
                  <a:srgbClr val="162C3D"/>
                </a:solidFill>
                <a:latin typeface="Helvetica Neue"/>
                <a:ea typeface="Helvetica Neue"/>
                <a:cs typeface="Helvetica Neue"/>
              </a:rPr>
              <a:t>micros0ft-alerts.com/login</a:t>
            </a:r>
          </a:p>
        </p:txBody>
      </p:sp>
      <p:sp>
        <p:nvSpPr>
          <p:cNvPr id="4" name="">
            <a:extLst xmlns:a="http://schemas.openxmlformats.org/drawingml/2006/main">
              <a:ext uri="{FF2B5EF4-FFF2-40B4-BE49-F238E27FC236}">
                <a16:creationId xmlns:a16="http://schemas.microsoft.com/office/drawing/2014/main" id="{25555997-F613-4E00-8208-424E84B941A9}"/>
              </a:ext>
            </a:extLst>
          </p:cNvPr>
          <p:cNvSpPr>
            <a:spLocks xmlns:a="http://schemas.openxmlformats.org/drawingml/2006/main" noGrp="1"/>
          </p:cNvSpPr>
          <p:nvPr/>
        </p:nvSpPr>
        <p:spPr>
          <a:xfrm xmlns:a="http://schemas.openxmlformats.org/drawingml/2006/main">
            <a:off x="609600" y="3095625"/>
            <a:ext cx="409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5700" b="1">
                <a:solidFill>
                  <a:srgbClr val="B74035"/>
                </a:solidFill>
                <a:latin typeface="Helvetica Neue"/>
                <a:ea typeface="Helvetica Neue"/>
                <a:cs typeface="Helvetica Neue"/>
              </a:defRPr>
            </a:pPr>
            <a:r>
              <a:rPr sz="5700" b="1">
                <a:solidFill>
                  <a:srgbClr val="B74035"/>
                </a:solidFill>
                <a:latin typeface="Helvetica Neue"/>
                <a:ea typeface="Helvetica Neue"/>
                <a:cs typeface="Helvetica Neue"/>
              </a:rPr>
              <a:t>88 / 100</a:t>
            </a:r>
          </a:p>
        </p:txBody>
      </p:sp>
      <p:sp>
        <p:nvSpPr>
          <p:cNvPr id="5" name="">
            <a:extLst xmlns:a="http://schemas.openxmlformats.org/drawingml/2006/main">
              <a:ext uri="{FF2B5EF4-FFF2-40B4-BE49-F238E27FC236}">
                <a16:creationId xmlns:a16="http://schemas.microsoft.com/office/drawing/2014/main" id="{9B11814A-2AE1-4F08-BF98-031C491AC481}"/>
              </a:ext>
            </a:extLst>
          </p:cNvPr>
          <p:cNvSpPr>
            <a:spLocks xmlns:a="http://schemas.openxmlformats.org/drawingml/2006/main" noGrp="1"/>
          </p:cNvSpPr>
          <p:nvPr/>
        </p:nvSpPr>
        <p:spPr>
          <a:xfrm xmlns:a="http://schemas.openxmlformats.org/drawingml/2006/main">
            <a:off x="647700" y="4210050"/>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625" b="1">
                <a:solidFill>
                  <a:srgbClr val="B74035"/>
                </a:solidFill>
                <a:latin typeface="Helvetica Neue"/>
                <a:ea typeface="Helvetica Neue"/>
                <a:cs typeface="Helvetica Neue"/>
              </a:defRPr>
            </a:pPr>
            <a:r>
              <a:rPr sz="2625" b="1">
                <a:solidFill>
                  <a:srgbClr val="B74035"/>
                </a:solidFill>
                <a:latin typeface="Helvetica Neue"/>
                <a:ea typeface="Helvetica Neue"/>
                <a:cs typeface="Helvetica Neue"/>
              </a:rPr>
              <a:t>Danger</a:t>
            </a:r>
          </a:p>
        </p:txBody>
      </p:sp>
      <p:sp>
        <p:nvSpPr>
          <p:cNvPr id="6" name="">
            <a:extLst xmlns:a="http://schemas.openxmlformats.org/drawingml/2006/main">
              <a:ext uri="{FF2B5EF4-FFF2-40B4-BE49-F238E27FC236}">
                <a16:creationId xmlns:a16="http://schemas.microsoft.com/office/drawing/2014/main" id="{244BAB18-23DF-44CC-90C1-1380399FA2D0}"/>
              </a:ext>
            </a:extLst>
          </p:cNvPr>
          <p:cNvSpPr>
            <a:spLocks xmlns:a="http://schemas.openxmlformats.org/drawingml/2006/main" noGrp="1"/>
          </p:cNvSpPr>
          <p:nvPr/>
        </p:nvSpPr>
        <p:spPr>
          <a:xfrm xmlns:a="http://schemas.openxmlformats.org/drawingml/2006/main">
            <a:off x="5429250" y="3114675"/>
            <a:ext cx="607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Why the rule fires</a:t>
            </a:r>
          </a:p>
        </p:txBody>
      </p:sp>
      <p:sp>
        <p:nvSpPr>
          <p:cNvPr id="7" name="">
            <a:extLst xmlns:a="http://schemas.openxmlformats.org/drawingml/2006/main">
              <a:ext uri="{FF2B5EF4-FFF2-40B4-BE49-F238E27FC236}">
                <a16:creationId xmlns:a16="http://schemas.microsoft.com/office/drawing/2014/main" id="{11697315-C3BC-4C51-9C51-17921B4F0517}"/>
              </a:ext>
            </a:extLst>
          </p:cNvPr>
          <p:cNvSpPr>
            <a:spLocks xmlns:a="http://schemas.openxmlformats.org/drawingml/2006/main" noGrp="1"/>
          </p:cNvSpPr>
          <p:nvPr/>
        </p:nvSpPr>
        <p:spPr>
          <a:xfrm xmlns:a="http://schemas.openxmlformats.org/drawingml/2006/main">
            <a:off x="5429250" y="3609975"/>
            <a:ext cx="60769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The domain embeds a brand with a zero</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in place of “o”. The path also contains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 suspicious word.</a:t>
            </a:r>
          </a:p>
        </p:txBody>
      </p:sp>
      <p:sp>
        <p:nvSpPr>
          <p:cNvPr id="8" name="">
            <a:extLst xmlns:a="http://schemas.openxmlformats.org/drawingml/2006/main">
              <a:ext uri="{FF2B5EF4-FFF2-40B4-BE49-F238E27FC236}">
                <a16:creationId xmlns:a16="http://schemas.microsoft.com/office/drawing/2014/main" id="{5BB067AE-576C-402E-A321-F9F58B483361}"/>
              </a:ext>
            </a:extLst>
          </p:cNvPr>
          <p:cNvSpPr>
            <a:spLocks xmlns:a="http://schemas.openxmlformats.org/drawingml/2006/main" noGrp="1"/>
          </p:cNvSpPr>
          <p:nvPr/>
        </p:nvSpPr>
        <p:spPr>
          <a:xfrm xmlns:a="http://schemas.openxmlformats.org/drawingml/2006/main">
            <a:off x="609600" y="58007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53616A"/>
                </a:solidFill>
                <a:latin typeface="Helvetica Neue"/>
                <a:ea typeface="Helvetica Neue"/>
                <a:cs typeface="Helvetica Neue"/>
              </a:defRPr>
            </a:pPr>
            <a:r>
              <a:rPr sz="1800" b="0">
                <a:solidFill>
                  <a:srgbClr val="53616A"/>
                </a:solidFill>
                <a:latin typeface="Helvetica Neue"/>
                <a:ea typeface="Helvetica Neue"/>
                <a:cs typeface="Helvetica Neue"/>
              </a:rPr>
              <a:t>Risk scores express product policy, not calibrated probabilities.</a:t>
            </a:r>
          </a:p>
        </p:txBody>
      </p:sp>
    </p:spTree>
    <p:extLst>
      <p:ext uri="{BB962C8B-B14F-4D97-AF65-F5344CB8AC3E}">
        <p14:creationId xmlns:p14="http://schemas.microsoft.com/office/powerpoint/2010/main" val="1959069475"/>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FC1F24-8F22-4989-A361-8A96BEA4E804}"/>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Privacy and model boundaries</a:t>
            </a:r>
          </a:p>
        </p:txBody>
      </p:sp>
      <p:sp>
        <p:nvSpPr>
          <p:cNvPr id="2" name="">
            <a:extLst xmlns:a="http://schemas.openxmlformats.org/drawingml/2006/main">
              <a:ext uri="{FF2B5EF4-FFF2-40B4-BE49-F238E27FC236}">
                <a16:creationId xmlns:a16="http://schemas.microsoft.com/office/drawing/2014/main" id="{7BC7B2C8-0128-4924-A62C-D47398C153DE}"/>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1CED0D46-CC72-4A83-8C2A-C94CDCAA421E}"/>
              </a:ext>
            </a:extLst>
          </p:cNvPr>
          <p:cNvSpPr>
            <a:spLocks xmlns:a="http://schemas.openxmlformats.org/drawingml/2006/main" noGrp="1"/>
          </p:cNvSpPr>
          <p:nvPr/>
        </p:nvSpPr>
        <p:spPr>
          <a:xfrm xmlns:a="http://schemas.openxmlformats.org/drawingml/2006/main">
            <a:off x="609600" y="18097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Default: local rules</a:t>
            </a:r>
          </a:p>
        </p:txBody>
      </p:sp>
      <p:sp>
        <p:nvSpPr>
          <p:cNvPr id="4" name="">
            <a:extLst xmlns:a="http://schemas.openxmlformats.org/drawingml/2006/main">
              <a:ext uri="{FF2B5EF4-FFF2-40B4-BE49-F238E27FC236}">
                <a16:creationId xmlns:a16="http://schemas.microsoft.com/office/drawing/2014/main" id="{0BEB7F09-BCB3-4453-AA23-4221D8FAD38C}"/>
              </a:ext>
            </a:extLst>
          </p:cNvPr>
          <p:cNvSpPr>
            <a:spLocks xmlns:a="http://schemas.openxmlformats.org/drawingml/2006/main" noGrp="1"/>
          </p:cNvSpPr>
          <p:nvPr/>
        </p:nvSpPr>
        <p:spPr>
          <a:xfrm xmlns:a="http://schemas.openxmlformats.org/drawingml/2006/main">
            <a:off x="609600" y="2305050"/>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The browser can score URLs without</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sending them to the ML service.</a:t>
            </a:r>
          </a:p>
        </p:txBody>
      </p:sp>
      <p:sp>
        <p:nvSpPr>
          <p:cNvPr id="5" name="">
            <a:extLst xmlns:a="http://schemas.openxmlformats.org/drawingml/2006/main">
              <a:ext uri="{FF2B5EF4-FFF2-40B4-BE49-F238E27FC236}">
                <a16:creationId xmlns:a16="http://schemas.microsoft.com/office/drawing/2014/main" id="{3091A654-0933-48E7-9156-2463EF7E8CCA}"/>
              </a:ext>
            </a:extLst>
          </p:cNvPr>
          <p:cNvSpPr>
            <a:spLocks xmlns:a="http://schemas.openxmlformats.org/drawingml/2006/main" noGrp="1"/>
          </p:cNvSpPr>
          <p:nvPr/>
        </p:nvSpPr>
        <p:spPr>
          <a:xfrm xmlns:a="http://schemas.openxmlformats.org/drawingml/2006/main">
            <a:off x="6419850" y="1809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Optional: model opinion</a:t>
            </a:r>
          </a:p>
        </p:txBody>
      </p:sp>
      <p:sp>
        <p:nvSpPr>
          <p:cNvPr id="6" name="">
            <a:extLst xmlns:a="http://schemas.openxmlformats.org/drawingml/2006/main">
              <a:ext uri="{FF2B5EF4-FFF2-40B4-BE49-F238E27FC236}">
                <a16:creationId xmlns:a16="http://schemas.microsoft.com/office/drawing/2014/main" id="{ED3F7F01-2A46-4435-B95B-50BD6986584E}"/>
              </a:ext>
            </a:extLst>
          </p:cNvPr>
          <p:cNvSpPr>
            <a:spLocks xmlns:a="http://schemas.openxmlformats.org/drawingml/2006/main" noGrp="1"/>
          </p:cNvSpPr>
          <p:nvPr/>
        </p:nvSpPr>
        <p:spPr>
          <a:xfrm xmlns:a="http://schemas.openxmlformats.org/drawingml/2006/main">
            <a:off x="6419850" y="23050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Explicit opt-in sends a sanitized URL</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to the configured endpoint.</a:t>
            </a:r>
          </a:p>
        </p:txBody>
      </p:sp>
      <p:sp>
        <p:nvSpPr>
          <p:cNvPr id="7" name="">
            <a:extLst xmlns:a="http://schemas.openxmlformats.org/drawingml/2006/main">
              <a:ext uri="{FF2B5EF4-FFF2-40B4-BE49-F238E27FC236}">
                <a16:creationId xmlns:a16="http://schemas.microsoft.com/office/drawing/2014/main" id="{272EACB7-8FA6-47AB-B15A-232282F23713}"/>
              </a:ext>
            </a:extLst>
          </p:cNvPr>
          <p:cNvSpPr>
            <a:spLocks xmlns:a="http://schemas.openxmlformats.org/drawingml/2006/main" noGrp="1"/>
          </p:cNvSpPr>
          <p:nvPr/>
        </p:nvSpPr>
        <p:spPr>
          <a:xfrm xmlns:a="http://schemas.openxmlformats.org/drawingml/2006/main">
            <a:off x="609600" y="4105275"/>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8" name="">
            <a:extLst xmlns:a="http://schemas.openxmlformats.org/drawingml/2006/main">
              <a:ext uri="{FF2B5EF4-FFF2-40B4-BE49-F238E27FC236}">
                <a16:creationId xmlns:a16="http://schemas.microsoft.com/office/drawing/2014/main" id="{260D5E8A-5969-49A4-9D59-0D9EE7FED126}"/>
              </a:ext>
            </a:extLst>
          </p:cNvPr>
          <p:cNvSpPr>
            <a:spLocks xmlns:a="http://schemas.openxmlformats.org/drawingml/2006/main" noGrp="1"/>
          </p:cNvSpPr>
          <p:nvPr/>
        </p:nvSpPr>
        <p:spPr>
          <a:xfrm xmlns:a="http://schemas.openxmlformats.org/drawingml/2006/main">
            <a:off x="609600" y="44386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47A64"/>
                </a:solidFill>
                <a:latin typeface="Helvetica Neue"/>
                <a:ea typeface="Helvetica Neue"/>
                <a:cs typeface="Helvetica Neue"/>
              </a:defRPr>
            </a:pPr>
            <a:r>
              <a:rPr sz="2250" b="1">
                <a:solidFill>
                  <a:srgbClr val="247A64"/>
                </a:solidFill>
                <a:latin typeface="Helvetica Neue"/>
                <a:ea typeface="Helvetica Neue"/>
                <a:cs typeface="Helvetica Neue"/>
              </a:rPr>
              <a:t>What remains in the optional request</a:t>
            </a:r>
          </a:p>
        </p:txBody>
      </p:sp>
      <p:sp>
        <p:nvSpPr>
          <p:cNvPr id="9" name="">
            <a:extLst xmlns:a="http://schemas.openxmlformats.org/drawingml/2006/main">
              <a:ext uri="{FF2B5EF4-FFF2-40B4-BE49-F238E27FC236}">
                <a16:creationId xmlns:a16="http://schemas.microsoft.com/office/drawing/2014/main" id="{40DFC70F-D059-49D1-87CE-1482D24827F5}"/>
              </a:ext>
            </a:extLst>
          </p:cNvPr>
          <p:cNvSpPr>
            <a:spLocks xmlns:a="http://schemas.openxmlformats.org/drawingml/2006/main" noGrp="1"/>
          </p:cNvSpPr>
          <p:nvPr/>
        </p:nvSpPr>
        <p:spPr>
          <a:xfrm xmlns:a="http://schemas.openxmlformats.org/drawingml/2006/main">
            <a:off x="609600" y="499110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162C3D"/>
                </a:solidFill>
                <a:latin typeface="Helvetica Neue"/>
                <a:ea typeface="Helvetica Neue"/>
                <a:cs typeface="Helvetica Neue"/>
              </a:defRPr>
            </a:pPr>
            <a:r>
              <a:rPr sz="2100" b="0">
                <a:solidFill>
                  <a:srgbClr val="162C3D"/>
                </a:solidFill>
                <a:latin typeface="Helvetica Neue"/>
                <a:ea typeface="Helvetica Neue"/>
                <a:cs typeface="Helvetica Neue"/>
              </a:rPr>
              <a:t>Hostnames and paths still reveal information.</a:t>
            </a:r>
          </a:p>
          <a:p xmlns:a="http://schemas.openxmlformats.org/drawingml/2006/main">
            <a:pPr>
              <a:defRPr sz="2100" b="0">
                <a:solidFill>
                  <a:srgbClr val="162C3D"/>
                </a:solidFill>
                <a:latin typeface="Helvetica Neue"/>
                <a:ea typeface="Helvetica Neue"/>
                <a:cs typeface="Helvetica Neue"/>
              </a:defRPr>
            </a:pPr>
            <a:r>
              <a:rPr sz="2100" b="0">
                <a:solidFill>
                  <a:srgbClr val="162C3D"/>
                </a:solidFill>
                <a:latin typeface="Helvetica Neue"/>
                <a:ea typeface="Helvetica Neue"/>
                <a:cs typeface="Helvetica Neue"/>
              </a:rPr>
              <a:t>The BERT checkpoint comes from a third party.</a:t>
            </a:r>
          </a:p>
          <a:p xmlns:a="http://schemas.openxmlformats.org/drawingml/2006/main">
            <a:pPr>
              <a:defRPr sz="2100" b="0">
                <a:solidFill>
                  <a:srgbClr val="162C3D"/>
                </a:solidFill>
                <a:latin typeface="Helvetica Neue"/>
                <a:ea typeface="Helvetica Neue"/>
                <a:cs typeface="Helvetica Neue"/>
              </a:defRPr>
            </a:pPr>
            <a:r>
              <a:rPr sz="2100" b="0">
                <a:solidFill>
                  <a:srgbClr val="162C3D"/>
                </a:solidFill>
                <a:latin typeface="Helvetica Neue"/>
                <a:ea typeface="Helvetica Neue"/>
                <a:cs typeface="Helvetica Neue"/>
              </a:rPr>
              <a:t>Independent model evaluation remains open.</a:t>
            </a:r>
          </a:p>
        </p:txBody>
      </p:sp>
    </p:spTree>
    <p:extLst>
      <p:ext uri="{BB962C8B-B14F-4D97-AF65-F5344CB8AC3E}">
        <p14:creationId xmlns:p14="http://schemas.microsoft.com/office/powerpoint/2010/main" val="1448114873"/>
      </p:ext>
    </p:extLst>
  </p:cSld>
</p:sld>
</file>

<file path=ppt/slides/slide8.xml><?xml version="1.0" encoding="utf-8"?>
<p:sld xmlns:p="http://schemas.openxmlformats.org/presentationml/2006/main">
  <p:cSld>
    <p:bg>
      <p:bgPr>
        <a:solidFill xmlns:a="http://schemas.openxmlformats.org/drawingml/2006/main">
          <a:srgbClr val="101E2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8BBEDA-775E-4CE9-9412-680BAE8EB1F1}"/>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Engineering evidence</a:t>
            </a:r>
          </a:p>
        </p:txBody>
      </p:sp>
      <p:sp>
        <p:nvSpPr>
          <p:cNvPr id="2" name="">
            <a:extLst xmlns:a="http://schemas.openxmlformats.org/drawingml/2006/main">
              <a:ext uri="{FF2B5EF4-FFF2-40B4-BE49-F238E27FC236}">
                <a16:creationId xmlns:a16="http://schemas.microsoft.com/office/drawing/2014/main" id="{D37EAA30-AAE7-4102-82C3-74E48C666BF1}"/>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B7E6C2"/>
                </a:solidFill>
                <a:latin typeface="Helvetica Neue"/>
                <a:ea typeface="Helvetica Neue"/>
                <a:cs typeface="Helvetica Neue"/>
              </a:defRPr>
            </a:pPr>
            <a:r>
              <a:rPr sz="1200" b="0">
                <a:solidFill>
                  <a:srgbClr val="B7E6C2"/>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40495F39-D0A6-4CAB-BBEE-DC8DE6CBFDC8}"/>
              </a:ext>
            </a:extLst>
          </p:cNvPr>
          <p:cNvSpPr>
            <a:spLocks xmlns:a="http://schemas.openxmlformats.org/drawingml/2006/main" noGrp="1"/>
          </p:cNvSpPr>
          <p:nvPr/>
        </p:nvSpPr>
        <p:spPr>
          <a:xfrm xmlns:a="http://schemas.openxmlformats.org/drawingml/2006/main">
            <a:off x="609600" y="1685925"/>
            <a:ext cx="400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400" b="1">
                <a:solidFill>
                  <a:srgbClr val="B7E6C2"/>
                </a:solidFill>
                <a:latin typeface="Helvetica Neue"/>
                <a:ea typeface="Helvetica Neue"/>
                <a:cs typeface="Helvetica Neue"/>
              </a:defRPr>
            </a:pPr>
            <a:r>
              <a:rPr sz="8400" b="1">
                <a:solidFill>
                  <a:srgbClr val="B7E6C2"/>
                </a:solidFill>
                <a:latin typeface="Helvetica Neue"/>
                <a:ea typeface="Helvetica Neue"/>
                <a:cs typeface="Helvetica Neue"/>
              </a:rPr>
              <a:t>98</a:t>
            </a:r>
          </a:p>
        </p:txBody>
      </p:sp>
      <p:sp>
        <p:nvSpPr>
          <p:cNvPr id="4" name="">
            <a:extLst xmlns:a="http://schemas.openxmlformats.org/drawingml/2006/main">
              <a:ext uri="{FF2B5EF4-FFF2-40B4-BE49-F238E27FC236}">
                <a16:creationId xmlns:a16="http://schemas.microsoft.com/office/drawing/2014/main" id="{D4344AAF-AADE-4BDD-9285-719FC5996ACB}"/>
              </a:ext>
            </a:extLst>
          </p:cNvPr>
          <p:cNvSpPr>
            <a:spLocks xmlns:a="http://schemas.openxmlformats.org/drawingml/2006/main" noGrp="1"/>
          </p:cNvSpPr>
          <p:nvPr/>
        </p:nvSpPr>
        <p:spPr>
          <a:xfrm xmlns:a="http://schemas.openxmlformats.org/drawingml/2006/main">
            <a:off x="657225" y="30384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API regression tests</a:t>
            </a:r>
          </a:p>
        </p:txBody>
      </p:sp>
      <p:sp>
        <p:nvSpPr>
          <p:cNvPr id="5" name="">
            <a:extLst xmlns:a="http://schemas.openxmlformats.org/drawingml/2006/main">
              <a:ext uri="{FF2B5EF4-FFF2-40B4-BE49-F238E27FC236}">
                <a16:creationId xmlns:a16="http://schemas.microsoft.com/office/drawing/2014/main" id="{662D82A7-EBB5-4CFC-96AA-7D086B4D6027}"/>
              </a:ext>
            </a:extLst>
          </p:cNvPr>
          <p:cNvSpPr>
            <a:spLocks xmlns:a="http://schemas.openxmlformats.org/drawingml/2006/main" noGrp="1"/>
          </p:cNvSpPr>
          <p:nvPr/>
        </p:nvSpPr>
        <p:spPr>
          <a:xfrm xmlns:a="http://schemas.openxmlformats.org/drawingml/2006/main">
            <a:off x="6562725" y="1685925"/>
            <a:ext cx="4000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400" b="1">
                <a:solidFill>
                  <a:srgbClr val="B7E6C2"/>
                </a:solidFill>
                <a:latin typeface="Helvetica Neue"/>
                <a:ea typeface="Helvetica Neue"/>
                <a:cs typeface="Helvetica Neue"/>
              </a:defRPr>
            </a:pPr>
            <a:r>
              <a:rPr sz="8400" b="1">
                <a:solidFill>
                  <a:srgbClr val="B7E6C2"/>
                </a:solidFill>
                <a:latin typeface="Helvetica Neue"/>
                <a:ea typeface="Helvetica Neue"/>
                <a:cs typeface="Helvetica Neue"/>
              </a:rPr>
              <a:t>30</a:t>
            </a:r>
          </a:p>
        </p:txBody>
      </p:sp>
      <p:sp>
        <p:nvSpPr>
          <p:cNvPr id="6" name="">
            <a:extLst xmlns:a="http://schemas.openxmlformats.org/drawingml/2006/main">
              <a:ext uri="{FF2B5EF4-FFF2-40B4-BE49-F238E27FC236}">
                <a16:creationId xmlns:a16="http://schemas.microsoft.com/office/drawing/2014/main" id="{60711A32-9C28-422C-B612-1786772DC9ED}"/>
              </a:ext>
            </a:extLst>
          </p:cNvPr>
          <p:cNvSpPr>
            <a:spLocks xmlns:a="http://schemas.openxmlformats.org/drawingml/2006/main" noGrp="1"/>
          </p:cNvSpPr>
          <p:nvPr/>
        </p:nvSpPr>
        <p:spPr>
          <a:xfrm xmlns:a="http://schemas.openxmlformats.org/drawingml/2006/main">
            <a:off x="6610350" y="3038475"/>
            <a:ext cx="4857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URLs in the rule parity corpus</a:t>
            </a:r>
          </a:p>
        </p:txBody>
      </p:sp>
      <p:sp>
        <p:nvSpPr>
          <p:cNvPr id="7" name="">
            <a:extLst xmlns:a="http://schemas.openxmlformats.org/drawingml/2006/main">
              <a:ext uri="{FF2B5EF4-FFF2-40B4-BE49-F238E27FC236}">
                <a16:creationId xmlns:a16="http://schemas.microsoft.com/office/drawing/2014/main" id="{43528ED5-1241-4BCF-B8E4-2BA112AC8619}"/>
              </a:ext>
            </a:extLst>
          </p:cNvPr>
          <p:cNvSpPr>
            <a:spLocks xmlns:a="http://schemas.openxmlformats.org/drawingml/2006/main" noGrp="1"/>
          </p:cNvSpPr>
          <p:nvPr/>
        </p:nvSpPr>
        <p:spPr>
          <a:xfrm xmlns:a="http://schemas.openxmlformats.org/drawingml/2006/main">
            <a:off x="609600" y="4286250"/>
            <a:ext cx="10953750" cy="0"/>
          </a:xfrm>
          <a:prstGeom xmlns:a="http://schemas.openxmlformats.org/drawingml/2006/main" prst="line">
            <a:avLst/>
          </a:prstGeom>
          <a:noFill xmlns:a="http://schemas.openxmlformats.org/drawingml/2006/main"/>
          <a:ln xmlns:a="http://schemas.openxmlformats.org/drawingml/2006/main" w="9525">
            <a:solidFill>
              <a:srgbClr val="53616A"/>
            </a:solidFill>
          </a:ln>
        </p:spPr>
      </p:sp>
      <p:sp>
        <p:nvSpPr>
          <p:cNvPr id="8" name="">
            <a:extLst xmlns:a="http://schemas.openxmlformats.org/drawingml/2006/main">
              <a:ext uri="{FF2B5EF4-FFF2-40B4-BE49-F238E27FC236}">
                <a16:creationId xmlns:a16="http://schemas.microsoft.com/office/drawing/2014/main" id="{8A5AF150-43EB-4BFF-9325-45E78448735C}"/>
              </a:ext>
            </a:extLst>
          </p:cNvPr>
          <p:cNvSpPr>
            <a:spLocks xmlns:a="http://schemas.openxmlformats.org/drawingml/2006/main" noGrp="1"/>
          </p:cNvSpPr>
          <p:nvPr/>
        </p:nvSpPr>
        <p:spPr>
          <a:xfrm xmlns:a="http://schemas.openxmlformats.org/drawingml/2006/main">
            <a:off x="609600" y="4695825"/>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Local builds and package checks passed</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HTTP checks covered auth, grading and concurrency</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Mailpit received EN/RU account emails</a:t>
            </a:r>
          </a:p>
        </p:txBody>
      </p:sp>
    </p:spTree>
    <p:extLst>
      <p:ext uri="{BB962C8B-B14F-4D97-AF65-F5344CB8AC3E}">
        <p14:creationId xmlns:p14="http://schemas.microsoft.com/office/powerpoint/2010/main" val="1990258855"/>
      </p:ext>
    </p:extLst>
  </p:cSld>
</p:sld>
</file>

<file path=ppt/slides/slide9.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8F64CB-4626-4CD8-ADCA-D3D4984FD377}"/>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What the evidence does not establish</a:t>
            </a:r>
          </a:p>
        </p:txBody>
      </p:sp>
      <p:sp>
        <p:nvSpPr>
          <p:cNvPr id="2" name="">
            <a:extLst xmlns:a="http://schemas.openxmlformats.org/drawingml/2006/main">
              <a:ext uri="{FF2B5EF4-FFF2-40B4-BE49-F238E27FC236}">
                <a16:creationId xmlns:a16="http://schemas.microsoft.com/office/drawing/2014/main" id="{70E300CC-1C3E-46A4-A34C-750C56146D86}"/>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F04F7E39-F760-472F-B09C-AF7B6DF74E42}"/>
              </a:ext>
            </a:extLst>
          </p:cNvPr>
          <p:cNvSpPr>
            <a:spLocks xmlns:a="http://schemas.openxmlformats.org/drawingml/2006/main" noGrp="1"/>
          </p:cNvSpPr>
          <p:nvPr/>
        </p:nvSpPr>
        <p:spPr>
          <a:xfrm xmlns:a="http://schemas.openxmlformats.org/drawingml/2006/main">
            <a:off x="609600" y="18669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Research outcomes</a:t>
            </a:r>
          </a:p>
        </p:txBody>
      </p:sp>
      <p:sp>
        <p:nvSpPr>
          <p:cNvPr id="4" name="">
            <a:extLst xmlns:a="http://schemas.openxmlformats.org/drawingml/2006/main">
              <a:ext uri="{FF2B5EF4-FFF2-40B4-BE49-F238E27FC236}">
                <a16:creationId xmlns:a16="http://schemas.microsoft.com/office/drawing/2014/main" id="{E0F0B007-C67A-4E38-8823-52E30633BCE7}"/>
              </a:ext>
            </a:extLst>
          </p:cNvPr>
          <p:cNvSpPr>
            <a:spLocks xmlns:a="http://schemas.openxmlformats.org/drawingml/2006/main" noGrp="1"/>
          </p:cNvSpPr>
          <p:nvPr/>
        </p:nvSpPr>
        <p:spPr>
          <a:xfrm xmlns:a="http://schemas.openxmlformats.org/drawingml/2006/main">
            <a:off x="609600" y="23622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No measured learning gains</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No independent detection accuracy</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No user study yet</a:t>
            </a:r>
          </a:p>
        </p:txBody>
      </p:sp>
      <p:sp>
        <p:nvSpPr>
          <p:cNvPr id="5" name="">
            <a:extLst xmlns:a="http://schemas.openxmlformats.org/drawingml/2006/main">
              <a:ext uri="{FF2B5EF4-FFF2-40B4-BE49-F238E27FC236}">
                <a16:creationId xmlns:a16="http://schemas.microsoft.com/office/drawing/2014/main" id="{EED12092-7D07-4350-A98E-65B748EFCA17}"/>
              </a:ext>
            </a:extLst>
          </p:cNvPr>
          <p:cNvSpPr>
            <a:spLocks xmlns:a="http://schemas.openxmlformats.org/drawingml/2006/main" noGrp="1"/>
          </p:cNvSpPr>
          <p:nvPr/>
        </p:nvSpPr>
        <p:spPr>
          <a:xfrm xmlns:a="http://schemas.openxmlformats.org/drawingml/2006/main">
            <a:off x="6410325" y="1866900"/>
            <a:ext cx="519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Release acceptance</a:t>
            </a:r>
          </a:p>
        </p:txBody>
      </p:sp>
      <p:sp>
        <p:nvSpPr>
          <p:cNvPr id="6" name="">
            <a:extLst xmlns:a="http://schemas.openxmlformats.org/drawingml/2006/main">
              <a:ext uri="{FF2B5EF4-FFF2-40B4-BE49-F238E27FC236}">
                <a16:creationId xmlns:a16="http://schemas.microsoft.com/office/drawing/2014/main" id="{573705E4-0399-43D2-A395-8DD5BC6C4FA3}"/>
              </a:ext>
            </a:extLst>
          </p:cNvPr>
          <p:cNvSpPr>
            <a:spLocks xmlns:a="http://schemas.openxmlformats.org/drawingml/2006/main" noGrp="1"/>
          </p:cNvSpPr>
          <p:nvPr/>
        </p:nvSpPr>
        <p:spPr>
          <a:xfrm xmlns:a="http://schemas.openxmlformats.org/drawingml/2006/main">
            <a:off x="6410325" y="2362200"/>
            <a:ext cx="5191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Chrome installation and behavior</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External inbox delivery and hosted CI</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Accessibility and broader browser coverage</a:t>
            </a:r>
          </a:p>
        </p:txBody>
      </p:sp>
      <p:sp>
        <p:nvSpPr>
          <p:cNvPr id="7" name="">
            <a:extLst xmlns:a="http://schemas.openxmlformats.org/drawingml/2006/main">
              <a:ext uri="{FF2B5EF4-FFF2-40B4-BE49-F238E27FC236}">
                <a16:creationId xmlns:a16="http://schemas.microsoft.com/office/drawing/2014/main" id="{13601B19-7479-4315-A4F2-DD87B996E144}"/>
              </a:ext>
            </a:extLst>
          </p:cNvPr>
          <p:cNvSpPr>
            <a:spLocks xmlns:a="http://schemas.openxmlformats.org/drawingml/2006/main" noGrp="1"/>
          </p:cNvSpPr>
          <p:nvPr/>
        </p:nvSpPr>
        <p:spPr>
          <a:xfrm xmlns:a="http://schemas.openxmlformats.org/drawingml/2006/main">
            <a:off x="609600" y="4305300"/>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8" name="">
            <a:extLst xmlns:a="http://schemas.openxmlformats.org/drawingml/2006/main">
              <a:ext uri="{FF2B5EF4-FFF2-40B4-BE49-F238E27FC236}">
                <a16:creationId xmlns:a16="http://schemas.microsoft.com/office/drawing/2014/main" id="{1DF6BA94-B65A-40C5-9F4C-89DCD6DF0498}"/>
              </a:ext>
            </a:extLst>
          </p:cNvPr>
          <p:cNvSpPr>
            <a:spLocks xmlns:a="http://schemas.openxmlformats.org/drawingml/2006/main" noGrp="1"/>
          </p:cNvSpPr>
          <p:nvPr/>
        </p:nvSpPr>
        <p:spPr>
          <a:xfrm xmlns:a="http://schemas.openxmlformats.org/drawingml/2006/main">
            <a:off x="609600" y="4743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000" b="1">
                <a:solidFill>
                  <a:srgbClr val="162C3D"/>
                </a:solidFill>
                <a:latin typeface="Helvetica Neue"/>
                <a:ea typeface="Helvetica Neue"/>
                <a:cs typeface="Helvetica Neue"/>
              </a:defRPr>
            </a:pPr>
            <a:r>
              <a:rPr sz="3000" b="1">
                <a:solidFill>
                  <a:srgbClr val="162C3D"/>
                </a:solidFill>
                <a:latin typeface="Helvetica Neue"/>
                <a:ea typeface="Helvetica Neue"/>
                <a:cs typeface="Helvetica Neue"/>
              </a:rPr>
              <a:t>Current scope: a working local prototype</a:t>
            </a:r>
          </a:p>
        </p:txBody>
      </p:sp>
      <p:sp>
        <p:nvSpPr>
          <p:cNvPr id="9" name="">
            <a:extLst xmlns:a="http://schemas.openxmlformats.org/drawingml/2006/main">
              <a:ext uri="{FF2B5EF4-FFF2-40B4-BE49-F238E27FC236}">
                <a16:creationId xmlns:a16="http://schemas.microsoft.com/office/drawing/2014/main" id="{BCC6A1C4-EA76-466A-BEB8-F9A67336239F}"/>
              </a:ext>
            </a:extLst>
          </p:cNvPr>
          <p:cNvSpPr>
            <a:spLocks xmlns:a="http://schemas.openxmlformats.org/drawingml/2006/main" noGrp="1"/>
          </p:cNvSpPr>
          <p:nvPr/>
        </p:nvSpPr>
        <p:spPr>
          <a:xfrm xmlns:a="http://schemas.openxmlformats.org/drawingml/2006/main">
            <a:off x="609600" y="55149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162C3D"/>
                </a:solidFill>
                <a:latin typeface="Helvetica Neue"/>
                <a:ea typeface="Helvetica Neue"/>
                <a:cs typeface="Helvetica Neue"/>
              </a:defRPr>
            </a:pPr>
            <a:r>
              <a:rPr sz="2175" b="0">
                <a:solidFill>
                  <a:srgbClr val="162C3D"/>
                </a:solidFill>
                <a:latin typeface="Helvetica Neue"/>
                <a:ea typeface="Helvetica Neue"/>
                <a:cs typeface="Helvetica Neue"/>
              </a:rPr>
              <a:t>Suitable for technical feedback and study-design review.</a:t>
            </a:r>
          </a:p>
        </p:txBody>
      </p:sp>
    </p:spTree>
    <p:extLst>
      <p:ext uri="{BB962C8B-B14F-4D97-AF65-F5344CB8AC3E}">
        <p14:creationId xmlns:p14="http://schemas.microsoft.com/office/powerpoint/2010/main" val="1226745811"/>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cxnSp>
        <p:nvCxnSpPr>
          <p:cNvPr id="21" name=""/>
          <p:cNvCxnSpPr>
            <a:stCxn xmlns:a="http://schemas.openxmlformats.org/drawingml/2006/main" id="9" idx="3"/>
            <a:endCxn xmlns:a="http://schemas.openxmlformats.org/drawingml/2006/main" id="12" idx="1"/>
          </p:cNvCxnSpPr>
          <p:nvPr/>
        </p:nvCxnSpPr>
        <p:spPr>
          <a:xfrm xmlns:a="http://schemas.openxmlformats.org/drawingml/2006/main">
            <a:off x="8963025" y="2486025"/>
            <a:ext cx="390525" cy="0"/>
          </a:xfrm>
          <a:prstGeom xmlns:a="http://schemas.openxmlformats.org/drawingml/2006/main" prst="straightConnector1">
            <a:avLst/>
          </a:prstGeom>
          <a:ln xmlns:a="http://schemas.openxmlformats.org/drawingml/2006/main" w="19050">
            <a:solidFill>
              <a:srgbClr val="247A64"/>
            </a:solidFill>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6048375" y="2486025"/>
            <a:ext cx="390525" cy="0"/>
          </a:xfrm>
          <a:prstGeom xmlns:a="http://schemas.openxmlformats.org/drawingml/2006/main" prst="straightConnector1">
            <a:avLst/>
          </a:prstGeom>
          <a:ln xmlns:a="http://schemas.openxmlformats.org/drawingml/2006/main" w="19050">
            <a:solidFill>
              <a:srgbClr val="247A64"/>
            </a:solidFill>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3133725" y="2486025"/>
            <a:ext cx="390525" cy="0"/>
          </a:xfrm>
          <a:prstGeom xmlns:a="http://schemas.openxmlformats.org/drawingml/2006/main" prst="straightConnector1">
            <a:avLst/>
          </a:prstGeom>
          <a:ln xmlns:a="http://schemas.openxmlformats.org/drawingml/2006/main" w="19050">
            <a:solidFill>
              <a:srgbClr val="247A64"/>
            </a:solidFill>
          </a:ln>
        </p:spPr>
      </p:cxnSp>
      <p:sp>
        <p:nvSpPr>
          <p:cNvPr id="24" name="">
            <a:extLst xmlns:a="http://schemas.openxmlformats.org/drawingml/2006/main">
              <a:ext uri="{FF2B5EF4-FFF2-40B4-BE49-F238E27FC236}">
                <a16:creationId xmlns:a16="http://schemas.microsoft.com/office/drawing/2014/main" id="{C50DB73A-9255-4353-814D-5FDC5EF28B9D}"/>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Proposed learning-transfer study</a:t>
            </a:r>
          </a:p>
        </p:txBody>
      </p:sp>
      <p:sp>
        <p:nvSpPr>
          <p:cNvPr id="2" name="">
            <a:extLst xmlns:a="http://schemas.openxmlformats.org/drawingml/2006/main">
              <a:ext uri="{FF2B5EF4-FFF2-40B4-BE49-F238E27FC236}">
                <a16:creationId xmlns:a16="http://schemas.microsoft.com/office/drawing/2014/main" id="{83AE8CC5-9540-444F-BEFD-EB9F76663439}"/>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551510FC-1B03-4459-9B9E-8DA3A45C262D}"/>
              </a:ext>
            </a:extLst>
          </p:cNvPr>
          <p:cNvSpPr>
            <a:spLocks xmlns:a="http://schemas.openxmlformats.org/drawingml/2006/main" noGrp="1"/>
          </p:cNvSpPr>
          <p:nvPr/>
        </p:nvSpPr>
        <p:spPr>
          <a:xfrm xmlns:a="http://schemas.openxmlformats.org/drawingml/2006/main">
            <a:off x="60960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4" name="">
            <a:extLst xmlns:a="http://schemas.openxmlformats.org/drawingml/2006/main">
              <a:ext uri="{FF2B5EF4-FFF2-40B4-BE49-F238E27FC236}">
                <a16:creationId xmlns:a16="http://schemas.microsoft.com/office/drawing/2014/main" id="{CE14E1CB-E584-49BF-85F8-4AFD96AD4709}"/>
              </a:ext>
            </a:extLst>
          </p:cNvPr>
          <p:cNvSpPr>
            <a:spLocks xmlns:a="http://schemas.openxmlformats.org/drawingml/2006/main" noGrp="1"/>
          </p:cNvSpPr>
          <p:nvPr/>
        </p:nvSpPr>
        <p:spPr>
          <a:xfrm xmlns:a="http://schemas.openxmlformats.org/drawingml/2006/main">
            <a:off x="78105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Baseline</a:t>
            </a:r>
          </a:p>
        </p:txBody>
      </p:sp>
      <p:sp>
        <p:nvSpPr>
          <p:cNvPr id="5" name="">
            <a:extLst xmlns:a="http://schemas.openxmlformats.org/drawingml/2006/main">
              <a:ext uri="{FF2B5EF4-FFF2-40B4-BE49-F238E27FC236}">
                <a16:creationId xmlns:a16="http://schemas.microsoft.com/office/drawing/2014/main" id="{D6170B25-82BB-461B-A5F5-E221885E4FE8}"/>
              </a:ext>
            </a:extLst>
          </p:cNvPr>
          <p:cNvSpPr>
            <a:spLocks xmlns:a="http://schemas.openxmlformats.org/drawingml/2006/main" noGrp="1"/>
          </p:cNvSpPr>
          <p:nvPr/>
        </p:nvSpPr>
        <p:spPr>
          <a:xfrm xmlns:a="http://schemas.openxmlformats.org/drawingml/2006/main">
            <a:off x="78105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Unseen item bank A</a:t>
            </a:r>
          </a:p>
        </p:txBody>
      </p:sp>
      <p:sp>
        <p:nvSpPr>
          <p:cNvPr id="6" name="">
            <a:extLst xmlns:a="http://schemas.openxmlformats.org/drawingml/2006/main">
              <a:ext uri="{FF2B5EF4-FFF2-40B4-BE49-F238E27FC236}">
                <a16:creationId xmlns:a16="http://schemas.microsoft.com/office/drawing/2014/main" id="{D9A7D4A3-B6CE-41D8-BE22-9DA42EECE512}"/>
              </a:ext>
            </a:extLst>
          </p:cNvPr>
          <p:cNvSpPr>
            <a:spLocks xmlns:a="http://schemas.openxmlformats.org/drawingml/2006/main" noGrp="1"/>
          </p:cNvSpPr>
          <p:nvPr/>
        </p:nvSpPr>
        <p:spPr>
          <a:xfrm xmlns:a="http://schemas.openxmlformats.org/drawingml/2006/main">
            <a:off x="352425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7" name="">
            <a:extLst xmlns:a="http://schemas.openxmlformats.org/drawingml/2006/main">
              <a:ext uri="{FF2B5EF4-FFF2-40B4-BE49-F238E27FC236}">
                <a16:creationId xmlns:a16="http://schemas.microsoft.com/office/drawing/2014/main" id="{507CA154-8362-4FD4-84D5-1F4A9C56210A}"/>
              </a:ext>
            </a:extLst>
          </p:cNvPr>
          <p:cNvSpPr>
            <a:spLocks xmlns:a="http://schemas.openxmlformats.org/drawingml/2006/main" noGrp="1"/>
          </p:cNvSpPr>
          <p:nvPr/>
        </p:nvSpPr>
        <p:spPr>
          <a:xfrm xmlns:a="http://schemas.openxmlformats.org/drawingml/2006/main">
            <a:off x="369570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Learning</a:t>
            </a:r>
          </a:p>
        </p:txBody>
      </p:sp>
      <p:sp>
        <p:nvSpPr>
          <p:cNvPr id="8" name="">
            <a:extLst xmlns:a="http://schemas.openxmlformats.org/drawingml/2006/main">
              <a:ext uri="{FF2B5EF4-FFF2-40B4-BE49-F238E27FC236}">
                <a16:creationId xmlns:a16="http://schemas.microsoft.com/office/drawing/2014/main" id="{BF5259D5-0374-4A73-8B36-744684159731}"/>
              </a:ext>
            </a:extLst>
          </p:cNvPr>
          <p:cNvSpPr>
            <a:spLocks xmlns:a="http://schemas.openxmlformats.org/drawingml/2006/main" noGrp="1"/>
          </p:cNvSpPr>
          <p:nvPr/>
        </p:nvSpPr>
        <p:spPr>
          <a:xfrm xmlns:a="http://schemas.openxmlformats.org/drawingml/2006/main">
            <a:off x="369570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Practice or text lesson</a:t>
            </a:r>
          </a:p>
        </p:txBody>
      </p:sp>
      <p:sp>
        <p:nvSpPr>
          <p:cNvPr id="9" name="">
            <a:extLst xmlns:a="http://schemas.openxmlformats.org/drawingml/2006/main">
              <a:ext uri="{FF2B5EF4-FFF2-40B4-BE49-F238E27FC236}">
                <a16:creationId xmlns:a16="http://schemas.microsoft.com/office/drawing/2014/main" id="{EEC01521-9530-4EAF-894B-174C35749916}"/>
              </a:ext>
            </a:extLst>
          </p:cNvPr>
          <p:cNvSpPr>
            <a:spLocks xmlns:a="http://schemas.openxmlformats.org/drawingml/2006/main" noGrp="1"/>
          </p:cNvSpPr>
          <p:nvPr/>
        </p:nvSpPr>
        <p:spPr>
          <a:xfrm xmlns:a="http://schemas.openxmlformats.org/drawingml/2006/main">
            <a:off x="643890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0" name="">
            <a:extLst xmlns:a="http://schemas.openxmlformats.org/drawingml/2006/main">
              <a:ext uri="{FF2B5EF4-FFF2-40B4-BE49-F238E27FC236}">
                <a16:creationId xmlns:a16="http://schemas.microsoft.com/office/drawing/2014/main" id="{66E0E9ED-772D-48A5-A64E-6BA9ABABBFF4}"/>
              </a:ext>
            </a:extLst>
          </p:cNvPr>
          <p:cNvSpPr>
            <a:spLocks xmlns:a="http://schemas.openxmlformats.org/drawingml/2006/main" noGrp="1"/>
          </p:cNvSpPr>
          <p:nvPr/>
        </p:nvSpPr>
        <p:spPr>
          <a:xfrm xmlns:a="http://schemas.openxmlformats.org/drawingml/2006/main">
            <a:off x="661035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Immediate</a:t>
            </a:r>
          </a:p>
        </p:txBody>
      </p:sp>
      <p:sp>
        <p:nvSpPr>
          <p:cNvPr id="11" name="">
            <a:extLst xmlns:a="http://schemas.openxmlformats.org/drawingml/2006/main">
              <a:ext uri="{FF2B5EF4-FFF2-40B4-BE49-F238E27FC236}">
                <a16:creationId xmlns:a16="http://schemas.microsoft.com/office/drawing/2014/main" id="{C51DEAC0-61EC-4059-A7F1-32E6F7B9E902}"/>
              </a:ext>
            </a:extLst>
          </p:cNvPr>
          <p:cNvSpPr>
            <a:spLocks xmlns:a="http://schemas.openxmlformats.org/drawingml/2006/main" noGrp="1"/>
          </p:cNvSpPr>
          <p:nvPr/>
        </p:nvSpPr>
        <p:spPr>
          <a:xfrm xmlns:a="http://schemas.openxmlformats.org/drawingml/2006/main">
            <a:off x="661035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Unseen item bank B</a:t>
            </a:r>
          </a:p>
        </p:txBody>
      </p:sp>
      <p:sp>
        <p:nvSpPr>
          <p:cNvPr id="12" name="">
            <a:extLst xmlns:a="http://schemas.openxmlformats.org/drawingml/2006/main">
              <a:ext uri="{FF2B5EF4-FFF2-40B4-BE49-F238E27FC236}">
                <a16:creationId xmlns:a16="http://schemas.microsoft.com/office/drawing/2014/main" id="{E7EE4391-2167-491F-B942-AB97792D9EDE}"/>
              </a:ext>
            </a:extLst>
          </p:cNvPr>
          <p:cNvSpPr>
            <a:spLocks xmlns:a="http://schemas.openxmlformats.org/drawingml/2006/main" noGrp="1"/>
          </p:cNvSpPr>
          <p:nvPr/>
        </p:nvSpPr>
        <p:spPr>
          <a:xfrm xmlns:a="http://schemas.openxmlformats.org/drawingml/2006/main">
            <a:off x="9353550" y="1952625"/>
            <a:ext cx="2524125" cy="1066800"/>
          </a:xfrm>
          <a:prstGeom xmlns:a="http://schemas.openxmlformats.org/drawingml/2006/main" prst="rect">
            <a:avLst/>
          </a:prstGeom>
          <a:solidFill xmlns:a="http://schemas.openxmlformats.org/drawingml/2006/main">
            <a:srgbClr val="F5F3EE"/>
          </a:solidFill>
          <a:ln xmlns:a="http://schemas.openxmlformats.org/drawingml/2006/main" w="11430">
            <a:solidFill>
              <a:srgbClr val="247A64"/>
            </a:solidFill>
          </a:ln>
        </p:spPr>
      </p:sp>
      <p:sp>
        <p:nvSpPr>
          <p:cNvPr id="13" name="">
            <a:extLst xmlns:a="http://schemas.openxmlformats.org/drawingml/2006/main">
              <a:ext uri="{FF2B5EF4-FFF2-40B4-BE49-F238E27FC236}">
                <a16:creationId xmlns:a16="http://schemas.microsoft.com/office/drawing/2014/main" id="{717AE245-7C57-4580-862A-F4D771EF046E}"/>
              </a:ext>
            </a:extLst>
          </p:cNvPr>
          <p:cNvSpPr>
            <a:spLocks xmlns:a="http://schemas.openxmlformats.org/drawingml/2006/main" noGrp="1"/>
          </p:cNvSpPr>
          <p:nvPr/>
        </p:nvSpPr>
        <p:spPr>
          <a:xfrm xmlns:a="http://schemas.openxmlformats.org/drawingml/2006/main">
            <a:off x="9525000" y="2105025"/>
            <a:ext cx="21812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1">
                <a:solidFill>
                  <a:srgbClr val="162C3D"/>
                </a:solidFill>
                <a:latin typeface="Helvetica Neue"/>
                <a:ea typeface="Helvetica Neue"/>
                <a:cs typeface="Helvetica Neue"/>
              </a:defRPr>
            </a:pPr>
            <a:r>
              <a:rPr sz="2025" b="1">
                <a:solidFill>
                  <a:srgbClr val="162C3D"/>
                </a:solidFill>
                <a:latin typeface="Helvetica Neue"/>
                <a:ea typeface="Helvetica Neue"/>
                <a:cs typeface="Helvetica Neue"/>
              </a:rPr>
              <a:t>Delayed</a:t>
            </a:r>
          </a:p>
        </p:txBody>
      </p:sp>
      <p:sp>
        <p:nvSpPr>
          <p:cNvPr id="14" name="">
            <a:extLst xmlns:a="http://schemas.openxmlformats.org/drawingml/2006/main">
              <a:ext uri="{FF2B5EF4-FFF2-40B4-BE49-F238E27FC236}">
                <a16:creationId xmlns:a16="http://schemas.microsoft.com/office/drawing/2014/main" id="{FD737DCB-6E29-420B-B8C5-2028A385EA16}"/>
              </a:ext>
            </a:extLst>
          </p:cNvPr>
          <p:cNvSpPr>
            <a:spLocks xmlns:a="http://schemas.openxmlformats.org/drawingml/2006/main" noGrp="1"/>
          </p:cNvSpPr>
          <p:nvPr/>
        </p:nvSpPr>
        <p:spPr>
          <a:xfrm xmlns:a="http://schemas.openxmlformats.org/drawingml/2006/main">
            <a:off x="9525000" y="2495550"/>
            <a:ext cx="2181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00" b="0">
                <a:solidFill>
                  <a:srgbClr val="53616A"/>
                </a:solidFill>
                <a:latin typeface="Helvetica Neue"/>
                <a:ea typeface="Helvetica Neue"/>
                <a:cs typeface="Helvetica Neue"/>
              </a:defRPr>
            </a:pPr>
            <a:r>
              <a:rPr sz="1500" b="0">
                <a:solidFill>
                  <a:srgbClr val="53616A"/>
                </a:solidFill>
                <a:latin typeface="Helvetica Neue"/>
                <a:ea typeface="Helvetica Neue"/>
                <a:cs typeface="Helvetica Neue"/>
              </a:rPr>
              <a:t>Unseen item bank C</a:t>
            </a:r>
          </a:p>
        </p:txBody>
      </p:sp>
      <p:sp>
        <p:nvSpPr>
          <p:cNvPr id="18" name="">
            <a:extLst xmlns:a="http://schemas.openxmlformats.org/drawingml/2006/main">
              <a:ext uri="{FF2B5EF4-FFF2-40B4-BE49-F238E27FC236}">
                <a16:creationId xmlns:a16="http://schemas.microsoft.com/office/drawing/2014/main" id="{F2CB169D-7737-4D24-BEA4-FE6182E22A47}"/>
              </a:ext>
            </a:extLst>
          </p:cNvPr>
          <p:cNvSpPr>
            <a:spLocks xmlns:a="http://schemas.openxmlformats.org/drawingml/2006/main" noGrp="1"/>
          </p:cNvSpPr>
          <p:nvPr/>
        </p:nvSpPr>
        <p:spPr>
          <a:xfrm xmlns:a="http://schemas.openxmlformats.org/drawingml/2006/main">
            <a:off x="609600" y="38195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Primary outcome</a:t>
            </a:r>
          </a:p>
        </p:txBody>
      </p:sp>
      <p:sp>
        <p:nvSpPr>
          <p:cNvPr id="19" name="">
            <a:extLst xmlns:a="http://schemas.openxmlformats.org/drawingml/2006/main">
              <a:ext uri="{FF2B5EF4-FFF2-40B4-BE49-F238E27FC236}">
                <a16:creationId xmlns:a16="http://schemas.microsoft.com/office/drawing/2014/main" id="{58740C9D-FF3B-4449-90A1-F06ED5E70D69}"/>
              </a:ext>
            </a:extLst>
          </p:cNvPr>
          <p:cNvSpPr>
            <a:spLocks xmlns:a="http://schemas.openxmlformats.org/drawingml/2006/main" noGrp="1"/>
          </p:cNvSpPr>
          <p:nvPr/>
        </p:nvSpPr>
        <p:spPr>
          <a:xfrm xmlns:a="http://schemas.openxmlformats.org/drawingml/2006/main">
            <a:off x="609600" y="43624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75" b="1">
                <a:solidFill>
                  <a:srgbClr val="162C3D"/>
                </a:solidFill>
                <a:latin typeface="Helvetica Neue"/>
                <a:ea typeface="Helvetica Neue"/>
                <a:cs typeface="Helvetica Neue"/>
              </a:defRPr>
            </a:pPr>
            <a:r>
              <a:rPr sz="2775" b="1">
                <a:solidFill>
                  <a:srgbClr val="162C3D"/>
                </a:solidFill>
                <a:latin typeface="Helvetica Neue"/>
                <a:ea typeface="Helvetica Neue"/>
                <a:cs typeface="Helvetica Neue"/>
              </a:rPr>
              <a:t>Change in balanced accuracy on delayed, unfamiliar examples</a:t>
            </a:r>
          </a:p>
        </p:txBody>
      </p:sp>
      <p:sp>
        <p:nvSpPr>
          <p:cNvPr id="20" name="">
            <a:extLst xmlns:a="http://schemas.openxmlformats.org/drawingml/2006/main">
              <a:ext uri="{FF2B5EF4-FFF2-40B4-BE49-F238E27FC236}">
                <a16:creationId xmlns:a16="http://schemas.microsoft.com/office/drawing/2014/main" id="{11366443-B701-4080-BA7B-8B175FBE6482}"/>
              </a:ext>
            </a:extLst>
          </p:cNvPr>
          <p:cNvSpPr>
            <a:spLocks xmlns:a="http://schemas.openxmlformats.org/drawingml/2006/main" noGrp="1"/>
          </p:cNvSpPr>
          <p:nvPr/>
        </p:nvSpPr>
        <p:spPr>
          <a:xfrm xmlns:a="http://schemas.openxmlformats.org/drawingml/2006/main">
            <a:off x="609600" y="5391150"/>
            <a:ext cx="1085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Also report phishing recall, benign false alarms and attrition.</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Separate item banks reduce memorization of repeated examples.</a:t>
            </a:r>
          </a:p>
        </p:txBody>
      </p:sp>
    </p:spTree>
    <p:extLst>
      <p:ext uri="{BB962C8B-B14F-4D97-AF65-F5344CB8AC3E}">
        <p14:creationId xmlns:p14="http://schemas.microsoft.com/office/powerpoint/2010/main" val="634335284"/>
      </p:ext>
    </p:extLst>
  </p:cSld>
</p:sld>
</file>

<file path=ppt/slides/slide11.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C1881C-DF74-41FB-85BB-61C0E20203BA}"/>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A reproducible next contribution</a:t>
            </a:r>
          </a:p>
        </p:txBody>
      </p:sp>
      <p:sp>
        <p:nvSpPr>
          <p:cNvPr id="2" name="">
            <a:extLst xmlns:a="http://schemas.openxmlformats.org/drawingml/2006/main">
              <a:ext uri="{FF2B5EF4-FFF2-40B4-BE49-F238E27FC236}">
                <a16:creationId xmlns:a16="http://schemas.microsoft.com/office/drawing/2014/main" id="{F39A6CE1-0590-473E-906D-BE8D26C88341}"/>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53FB8A2C-7FBC-4808-AB50-2ED25F81F649}"/>
              </a:ext>
            </a:extLst>
          </p:cNvPr>
          <p:cNvSpPr>
            <a:spLocks xmlns:a="http://schemas.openxmlformats.org/drawingml/2006/main" noGrp="1"/>
          </p:cNvSpPr>
          <p:nvPr/>
        </p:nvSpPr>
        <p:spPr>
          <a:xfrm xmlns:a="http://schemas.openxmlformats.org/drawingml/2006/main">
            <a:off x="609600" y="18097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Detector experiment</a:t>
            </a:r>
          </a:p>
        </p:txBody>
      </p:sp>
      <p:sp>
        <p:nvSpPr>
          <p:cNvPr id="4" name="">
            <a:extLst xmlns:a="http://schemas.openxmlformats.org/drawingml/2006/main">
              <a:ext uri="{FF2B5EF4-FFF2-40B4-BE49-F238E27FC236}">
                <a16:creationId xmlns:a16="http://schemas.microsoft.com/office/drawing/2014/main" id="{FAC2CAF4-4125-4B57-8085-17A6804437BE}"/>
              </a:ext>
            </a:extLst>
          </p:cNvPr>
          <p:cNvSpPr>
            <a:spLocks xmlns:a="http://schemas.openxmlformats.org/drawingml/2006/main" noGrp="1"/>
          </p:cNvSpPr>
          <p:nvPr/>
        </p:nvSpPr>
        <p:spPr>
          <a:xfrm xmlns:a="http://schemas.openxmlformats.org/drawingml/2006/main">
            <a:off x="609600" y="23050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Build a versioned, independently labelled</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URL set with source-separated splits.</a:t>
            </a:r>
          </a:p>
        </p:txBody>
      </p:sp>
      <p:sp>
        <p:nvSpPr>
          <p:cNvPr id="5" name="">
            <a:extLst xmlns:a="http://schemas.openxmlformats.org/drawingml/2006/main">
              <a:ext uri="{FF2B5EF4-FFF2-40B4-BE49-F238E27FC236}">
                <a16:creationId xmlns:a16="http://schemas.microsoft.com/office/drawing/2014/main" id="{3D7E93CC-730E-42EB-9F7B-3C5C191003ED}"/>
              </a:ext>
            </a:extLst>
          </p:cNvPr>
          <p:cNvSpPr>
            <a:spLocks xmlns:a="http://schemas.openxmlformats.org/drawingml/2006/main" noGrp="1"/>
          </p:cNvSpPr>
          <p:nvPr/>
        </p:nvSpPr>
        <p:spPr>
          <a:xfrm xmlns:a="http://schemas.openxmlformats.org/drawingml/2006/main">
            <a:off x="6419850" y="18097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Error analysis</a:t>
            </a:r>
          </a:p>
        </p:txBody>
      </p:sp>
      <p:sp>
        <p:nvSpPr>
          <p:cNvPr id="6" name="">
            <a:extLst xmlns:a="http://schemas.openxmlformats.org/drawingml/2006/main">
              <a:ext uri="{FF2B5EF4-FFF2-40B4-BE49-F238E27FC236}">
                <a16:creationId xmlns:a16="http://schemas.microsoft.com/office/drawing/2014/main" id="{6367A4EC-69F3-4B50-BE8A-3B784DF7DF19}"/>
              </a:ext>
            </a:extLst>
          </p:cNvPr>
          <p:cNvSpPr>
            <a:spLocks xmlns:a="http://schemas.openxmlformats.org/drawingml/2006/main" noGrp="1"/>
          </p:cNvSpPr>
          <p:nvPr/>
        </p:nvSpPr>
        <p:spPr>
          <a:xfrm xmlns:a="http://schemas.openxmlformats.org/drawingml/2006/main">
            <a:off x="6419850" y="2305050"/>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Compare rules, optional model and blend.</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Report false positives by attack family</a:t>
            </a:r>
          </a:p>
          <a:p xmlns:a="http://schemas.openxmlformats.org/drawingml/2006/main">
            <a:pPr>
              <a:defRPr sz="2025" b="0">
                <a:solidFill>
                  <a:srgbClr val="162C3D"/>
                </a:solidFill>
                <a:latin typeface="Helvetica Neue"/>
                <a:ea typeface="Helvetica Neue"/>
                <a:cs typeface="Helvetica Neue"/>
              </a:defRPr>
            </a:pPr>
            <a:r>
              <a:rPr sz="2025" b="0">
                <a:solidFill>
                  <a:srgbClr val="162C3D"/>
                </a:solidFill>
                <a:latin typeface="Helvetica Neue"/>
                <a:ea typeface="Helvetica Neue"/>
                <a:cs typeface="Helvetica Neue"/>
              </a:rPr>
              <a:t>and language.</a:t>
            </a:r>
          </a:p>
        </p:txBody>
      </p:sp>
      <p:sp>
        <p:nvSpPr>
          <p:cNvPr id="7" name="">
            <a:extLst xmlns:a="http://schemas.openxmlformats.org/drawingml/2006/main">
              <a:ext uri="{FF2B5EF4-FFF2-40B4-BE49-F238E27FC236}">
                <a16:creationId xmlns:a16="http://schemas.microsoft.com/office/drawing/2014/main" id="{994E1770-5866-4991-9CCC-2AB64F456A1F}"/>
              </a:ext>
            </a:extLst>
          </p:cNvPr>
          <p:cNvSpPr>
            <a:spLocks xmlns:a="http://schemas.openxmlformats.org/drawingml/2006/main" noGrp="1"/>
          </p:cNvSpPr>
          <p:nvPr/>
        </p:nvSpPr>
        <p:spPr>
          <a:xfrm xmlns:a="http://schemas.openxmlformats.org/drawingml/2006/main">
            <a:off x="609600" y="4219575"/>
            <a:ext cx="10953750" cy="0"/>
          </a:xfrm>
          <a:prstGeom xmlns:a="http://schemas.openxmlformats.org/drawingml/2006/main" prst="line">
            <a:avLst/>
          </a:prstGeom>
          <a:noFill xmlns:a="http://schemas.openxmlformats.org/drawingml/2006/main"/>
          <a:ln xmlns:a="http://schemas.openxmlformats.org/drawingml/2006/main" w="9525">
            <a:solidFill>
              <a:srgbClr val="CAD3CF"/>
            </a:solidFill>
          </a:ln>
        </p:spPr>
      </p:sp>
      <p:sp>
        <p:nvSpPr>
          <p:cNvPr id="8" name="">
            <a:extLst xmlns:a="http://schemas.openxmlformats.org/drawingml/2006/main">
              <a:ext uri="{FF2B5EF4-FFF2-40B4-BE49-F238E27FC236}">
                <a16:creationId xmlns:a16="http://schemas.microsoft.com/office/drawing/2014/main" id="{1AD921BE-BAF2-4B30-B6D4-EB4CF100AC95}"/>
              </a:ext>
            </a:extLst>
          </p:cNvPr>
          <p:cNvSpPr>
            <a:spLocks xmlns:a="http://schemas.openxmlformats.org/drawingml/2006/main" noGrp="1"/>
          </p:cNvSpPr>
          <p:nvPr/>
        </p:nvSpPr>
        <p:spPr>
          <a:xfrm xmlns:a="http://schemas.openxmlformats.org/drawingml/2006/main">
            <a:off x="609600" y="45529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47A64"/>
                </a:solidFill>
                <a:latin typeface="Helvetica Neue"/>
                <a:ea typeface="Helvetica Neue"/>
                <a:cs typeface="Helvetica Neue"/>
              </a:defRPr>
            </a:pPr>
            <a:r>
              <a:rPr sz="2100" b="1">
                <a:solidFill>
                  <a:srgbClr val="247A64"/>
                </a:solidFill>
                <a:latin typeface="Helvetica Neue"/>
                <a:ea typeface="Helvetica Neue"/>
                <a:cs typeface="Helvetica Neue"/>
              </a:rPr>
              <a:t>Deliverable</a:t>
            </a:r>
          </a:p>
        </p:txBody>
      </p:sp>
      <p:sp>
        <p:nvSpPr>
          <p:cNvPr id="9" name="">
            <a:extLst xmlns:a="http://schemas.openxmlformats.org/drawingml/2006/main">
              <a:ext uri="{FF2B5EF4-FFF2-40B4-BE49-F238E27FC236}">
                <a16:creationId xmlns:a16="http://schemas.microsoft.com/office/drawing/2014/main" id="{49241568-8D39-473D-853B-B795AB54CD8C}"/>
              </a:ext>
            </a:extLst>
          </p:cNvPr>
          <p:cNvSpPr>
            <a:spLocks xmlns:a="http://schemas.openxmlformats.org/drawingml/2006/main" noGrp="1"/>
          </p:cNvSpPr>
          <p:nvPr/>
        </p:nvSpPr>
        <p:spPr>
          <a:xfrm xmlns:a="http://schemas.openxmlformats.org/drawingml/2006/main">
            <a:off x="609600" y="50863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0">
                <a:solidFill>
                  <a:srgbClr val="162C3D"/>
                </a:solidFill>
                <a:latin typeface="Helvetica Neue"/>
                <a:ea typeface="Helvetica Neue"/>
                <a:cs typeface="Helvetica Neue"/>
              </a:defRPr>
            </a:pPr>
            <a:r>
              <a:rPr sz="2550" b="0">
                <a:solidFill>
                  <a:srgbClr val="162C3D"/>
                </a:solidFill>
                <a:latin typeface="Helvetica Neue"/>
                <a:ea typeface="Helvetica Neue"/>
                <a:cs typeface="Helvetica Neue"/>
              </a:rPr>
              <a:t>An evaluation script, documented dataset procedure</a:t>
            </a:r>
          </a:p>
          <a:p xmlns:a="http://schemas.openxmlformats.org/drawingml/2006/main">
            <a:pPr>
              <a:defRPr sz="2550" b="0">
                <a:solidFill>
                  <a:srgbClr val="162C3D"/>
                </a:solidFill>
                <a:latin typeface="Helvetica Neue"/>
                <a:ea typeface="Helvetica Neue"/>
                <a:cs typeface="Helvetica Neue"/>
              </a:defRPr>
            </a:pPr>
            <a:r>
              <a:rPr sz="2550" b="0">
                <a:solidFill>
                  <a:srgbClr val="162C3D"/>
                </a:solidFill>
                <a:latin typeface="Helvetica Neue"/>
                <a:ea typeface="Helvetica Neue"/>
                <a:cs typeface="Helvetica Neue"/>
              </a:rPr>
              <a:t>and a short report that explains failure cases.</a:t>
            </a:r>
          </a:p>
        </p:txBody>
      </p:sp>
    </p:spTree>
    <p:extLst>
      <p:ext uri="{BB962C8B-B14F-4D97-AF65-F5344CB8AC3E}">
        <p14:creationId xmlns:p14="http://schemas.microsoft.com/office/powerpoint/2010/main" val="1813922560"/>
      </p:ext>
    </p:extLst>
  </p:cSld>
</p:sld>
</file>

<file path=ppt/slides/slide1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493806-DD4D-421C-9BE5-0F08A0CCA77B}"/>
              </a:ext>
            </a:extLst>
          </p:cNvPr>
          <p:cNvSpPr>
            <a:spLocks xmlns:a="http://schemas.openxmlformats.org/drawingml/2006/main" noGrp="1"/>
          </p:cNvSpPr>
          <p:nvPr/>
        </p:nvSpPr>
        <p:spPr>
          <a:xfrm xmlns:a="http://schemas.openxmlformats.org/drawingml/2006/main">
            <a:off x="609600" y="514350"/>
            <a:ext cx="1095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50" b="1">
                <a:solidFill>
                  <a:srgbClr val="162C3D"/>
                </a:solidFill>
                <a:latin typeface="Helvetica Neue"/>
                <a:ea typeface="Helvetica Neue"/>
                <a:cs typeface="Helvetica Neue"/>
              </a:defRPr>
            </a:pPr>
            <a:r>
              <a:rPr sz="3450" b="1">
                <a:solidFill>
                  <a:srgbClr val="162C3D"/>
                </a:solidFill>
                <a:latin typeface="Helvetica Neue"/>
                <a:ea typeface="Helvetica Neue"/>
                <a:cs typeface="Helvetica Neue"/>
              </a:rPr>
              <a:t>Feedback requested</a:t>
            </a:r>
          </a:p>
        </p:txBody>
      </p:sp>
      <p:sp>
        <p:nvSpPr>
          <p:cNvPr id="2" name="">
            <a:extLst xmlns:a="http://schemas.openxmlformats.org/drawingml/2006/main">
              <a:ext uri="{FF2B5EF4-FFF2-40B4-BE49-F238E27FC236}">
                <a16:creationId xmlns:a16="http://schemas.microsoft.com/office/drawing/2014/main" id="{64D5FF1B-DAF0-4E62-86F0-F5F6EBEF7BE7}"/>
              </a:ext>
            </a:extLst>
          </p:cNvPr>
          <p:cNvSpPr>
            <a:spLocks xmlns:a="http://schemas.openxmlformats.org/drawingml/2006/main" noGrp="1"/>
          </p:cNvSpPr>
          <p:nvPr/>
        </p:nvSpPr>
        <p:spPr>
          <a:xfrm xmlns:a="http://schemas.openxmlformats.org/drawingml/2006/main">
            <a:off x="11144250" y="63341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0">
                <a:solidFill>
                  <a:srgbClr val="53616A"/>
                </a:solidFill>
                <a:latin typeface="Helvetica Neue"/>
                <a:ea typeface="Helvetica Neue"/>
                <a:cs typeface="Helvetica Neue"/>
              </a:defRPr>
            </a:pPr>
            <a:r>
              <a:rPr sz="1200" b="0">
                <a:solidFill>
                  <a:srgbClr val="53616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A8A906E4-00D8-48C8-8E35-D6063598DFB6}"/>
              </a:ext>
            </a:extLst>
          </p:cNvPr>
          <p:cNvSpPr>
            <a:spLocks xmlns:a="http://schemas.openxmlformats.org/drawingml/2006/main" noGrp="1"/>
          </p:cNvSpPr>
          <p:nvPr/>
        </p:nvSpPr>
        <p:spPr>
          <a:xfrm xmlns:a="http://schemas.openxmlformats.org/drawingml/2006/main">
            <a:off x="609600" y="1828800"/>
            <a:ext cx="109061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75" b="1">
                <a:solidFill>
                  <a:srgbClr val="162C3D"/>
                </a:solidFill>
                <a:latin typeface="Helvetica Neue"/>
                <a:ea typeface="Helvetica Neue"/>
                <a:cs typeface="Helvetica Neue"/>
              </a:defRPr>
            </a:pPr>
            <a:r>
              <a:rPr sz="3375" b="1">
                <a:solidFill>
                  <a:srgbClr val="162C3D"/>
                </a:solidFill>
                <a:latin typeface="Helvetica Neue"/>
                <a:ea typeface="Helvetica Neue"/>
                <a:cs typeface="Helvetica Neue"/>
              </a:rPr>
              <a:t>How should I distinguish learning transfer</a:t>
            </a:r>
          </a:p>
          <a:p xmlns:a="http://schemas.openxmlformats.org/drawingml/2006/main">
            <a:pPr>
              <a:defRPr sz="3375" b="1">
                <a:solidFill>
                  <a:srgbClr val="162C3D"/>
                </a:solidFill>
                <a:latin typeface="Helvetica Neue"/>
                <a:ea typeface="Helvetica Neue"/>
                <a:cs typeface="Helvetica Neue"/>
              </a:defRPr>
            </a:pPr>
            <a:r>
              <a:rPr sz="3375" b="1">
                <a:solidFill>
                  <a:srgbClr val="162C3D"/>
                </a:solidFill>
                <a:latin typeface="Helvetica Neue"/>
                <a:ea typeface="Helvetica Neue"/>
                <a:cs typeface="Helvetica Neue"/>
              </a:rPr>
              <a:t>from memorizing familiar phishing cues?</a:t>
            </a:r>
          </a:p>
        </p:txBody>
      </p:sp>
      <p:sp>
        <p:nvSpPr>
          <p:cNvPr id="4" name="">
            <a:extLst xmlns:a="http://schemas.openxmlformats.org/drawingml/2006/main">
              <a:ext uri="{FF2B5EF4-FFF2-40B4-BE49-F238E27FC236}">
                <a16:creationId xmlns:a16="http://schemas.microsoft.com/office/drawing/2014/main" id="{B04A2A9B-2F23-43B9-9B94-6831E7747C14}"/>
              </a:ext>
            </a:extLst>
          </p:cNvPr>
          <p:cNvSpPr>
            <a:spLocks xmlns:a="http://schemas.openxmlformats.org/drawingml/2006/main" noGrp="1"/>
          </p:cNvSpPr>
          <p:nvPr/>
        </p:nvSpPr>
        <p:spPr>
          <a:xfrm xmlns:a="http://schemas.openxmlformats.org/drawingml/2006/main">
            <a:off x="609600" y="3552825"/>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162C3D"/>
                </a:solidFill>
                <a:latin typeface="Helvetica Neue"/>
                <a:ea typeface="Helvetica Neue"/>
                <a:cs typeface="Helvetica Neue"/>
              </a:defRPr>
            </a:pPr>
            <a:r>
              <a:rPr sz="2700" b="0">
                <a:solidFill>
                  <a:srgbClr val="162C3D"/>
                </a:solidFill>
                <a:latin typeface="Helvetica Neue"/>
                <a:ea typeface="Helvetica Neue"/>
                <a:cs typeface="Helvetica Neue"/>
              </a:rPr>
              <a:t>Which assessment design would make a small pilot credible?</a:t>
            </a:r>
          </a:p>
        </p:txBody>
      </p:sp>
      <p:sp>
        <p:nvSpPr>
          <p:cNvPr id="5" name="">
            <a:extLst xmlns:a="http://schemas.openxmlformats.org/drawingml/2006/main">
              <a:ext uri="{FF2B5EF4-FFF2-40B4-BE49-F238E27FC236}">
                <a16:creationId xmlns:a16="http://schemas.microsoft.com/office/drawing/2014/main" id="{84CECCCC-505B-4BCB-8E02-52209FD4A64F}"/>
              </a:ext>
            </a:extLst>
          </p:cNvPr>
          <p:cNvSpPr>
            <a:spLocks xmlns:a="http://schemas.openxmlformats.org/drawingml/2006/main" noGrp="1"/>
          </p:cNvSpPr>
          <p:nvPr/>
        </p:nvSpPr>
        <p:spPr>
          <a:xfrm xmlns:a="http://schemas.openxmlformats.org/drawingml/2006/main">
            <a:off x="609600" y="4762500"/>
            <a:ext cx="10906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700" b="0">
                <a:solidFill>
                  <a:srgbClr val="162C3D"/>
                </a:solidFill>
                <a:latin typeface="Helvetica Neue"/>
                <a:ea typeface="Helvetica Neue"/>
                <a:cs typeface="Helvetica Neue"/>
              </a:defRPr>
            </a:pPr>
            <a:r>
              <a:rPr sz="2700" b="0">
                <a:solidFill>
                  <a:srgbClr val="162C3D"/>
                </a:solidFill>
                <a:latin typeface="Helvetica Neue"/>
                <a:ea typeface="Helvetica Neue"/>
                <a:cs typeface="Helvetica Neue"/>
              </a:rPr>
              <a:t>Would error analysis or a learning study be the more useful next step?</a:t>
            </a:r>
          </a:p>
        </p:txBody>
      </p:sp>
      <p:sp>
        <p:nvSpPr>
          <p:cNvPr id="6" name="">
            <a:extLst xmlns:a="http://schemas.openxmlformats.org/drawingml/2006/main">
              <a:ext uri="{FF2B5EF4-FFF2-40B4-BE49-F238E27FC236}">
                <a16:creationId xmlns:a16="http://schemas.microsoft.com/office/drawing/2014/main" id="{4F6BEA44-F22B-4CDB-B683-AA4FC07BE874}"/>
              </a:ext>
            </a:extLst>
          </p:cNvPr>
          <p:cNvSpPr>
            <a:spLocks xmlns:a="http://schemas.openxmlformats.org/drawingml/2006/main" noGrp="1"/>
          </p:cNvSpPr>
          <p:nvPr/>
        </p:nvSpPr>
        <p:spPr>
          <a:xfrm xmlns:a="http://schemas.openxmlformats.org/drawingml/2006/main">
            <a:off x="609600" y="60674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650" b="0">
                <a:solidFill>
                  <a:srgbClr val="247A64"/>
                </a:solidFill>
                <a:latin typeface="Helvetica Neue"/>
                <a:ea typeface="Helvetica Neue"/>
                <a:cs typeface="Helvetica Neue"/>
              </a:defRPr>
            </a:pPr>
            <a:r>
              <a:rPr sz="1650" b="0">
                <a:solidFill>
                  <a:srgbClr val="247A64"/>
                </a:solidFill>
                <a:latin typeface="Helvetica Neue"/>
                <a:ea typeface="Helvetica Neue"/>
                <a:cs typeface="Helvetica Neue"/>
              </a:rPr>
              <a:t>Artem  /  High-school student  /  Safe-Net</a:t>
            </a:r>
          </a:p>
        </p:txBody>
      </p:sp>
    </p:spTree>
    <p:extLst>
      <p:ext uri="{BB962C8B-B14F-4D97-AF65-F5344CB8AC3E}">
        <p14:creationId xmlns:p14="http://schemas.microsoft.com/office/powerpoint/2010/main" val="11085383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2026-09-30T15:06:17.4630000Z</dcterms:created>
  <dcterms:modified xsi:type="dcterms:W3CDTF">2026-09-30T15:06:17.4640000Z</dcterms:modified>
</coreProperties>
</file>